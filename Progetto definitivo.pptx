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8" r:id="rId3"/>
    <p:sldId id="269" r:id="rId4"/>
    <p:sldId id="270" r:id="rId5"/>
    <p:sldId id="260" r:id="rId6"/>
    <p:sldId id="266" r:id="rId7"/>
    <p:sldId id="272" r:id="rId8"/>
    <p:sldId id="267" r:id="rId9"/>
    <p:sldId id="259" r:id="rId10"/>
    <p:sldId id="283" r:id="rId11"/>
    <p:sldId id="285" r:id="rId12"/>
    <p:sldId id="286" r:id="rId13"/>
    <p:sldId id="287" r:id="rId14"/>
    <p:sldId id="288" r:id="rId15"/>
    <p:sldId id="289" r:id="rId16"/>
    <p:sldId id="290" r:id="rId17"/>
    <p:sldId id="291" r:id="rId18"/>
    <p:sldId id="292" r:id="rId19"/>
    <p:sldId id="294" r:id="rId20"/>
    <p:sldId id="295" r:id="rId21"/>
    <p:sldId id="265" r:id="rId22"/>
    <p:sldId id="296" r:id="rId23"/>
  </p:sldIdLst>
  <p:sldSz cx="14630400" cy="8229600"/>
  <p:notesSz cx="8229600" cy="14630400"/>
  <p:embeddedFontLst>
    <p:embeddedFont>
      <p:font typeface="Arimo" panose="020B0604020202020204" charset="0"/>
      <p:regular r:id="rId25"/>
    </p:embeddedFont>
    <p:embeddedFont>
      <p:font typeface="Cambria Math" panose="02040503050406030204" pitchFamily="18" charset="0"/>
      <p:regular r:id="rId26"/>
    </p:embeddedFont>
    <p:embeddedFont>
      <p:font typeface="Consolas" panose="020B0609020204030204" pitchFamily="49" charset="0"/>
      <p:regular r:id="rId27"/>
      <p:bold r:id="rId28"/>
      <p:italic r:id="rId29"/>
      <p:boldItalic r:id="rId30"/>
    </p:embeddedFont>
    <p:embeddedFont>
      <p:font typeface="Outfit Extra Bold" panose="020B0604020202020204" charset="0"/>
      <p:regular r:id="rId31"/>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E8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755" autoAdjust="0"/>
  </p:normalViewPr>
  <p:slideViewPr>
    <p:cSldViewPr snapToGrid="0" snapToObjects="1">
      <p:cViewPr varScale="1">
        <p:scale>
          <a:sx n="61" d="100"/>
          <a:sy n="61" d="100"/>
        </p:scale>
        <p:origin x="1051" y="82"/>
      </p:cViewPr>
      <p:guideLst/>
    </p:cSldViewPr>
  </p:slideViewPr>
  <p:outlineViewPr>
    <p:cViewPr>
      <p:scale>
        <a:sx n="33" d="100"/>
        <a:sy n="33" d="100"/>
      </p:scale>
      <p:origin x="0" y="-63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8222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a:t>Caso in </a:t>
            </a:r>
            <a:r>
              <a:rPr lang="en-US" b="1" dirty="0" err="1"/>
              <a:t>esame</a:t>
            </a:r>
            <a:r>
              <a:rPr lang="en-US" dirty="0"/>
              <a:t>: </a:t>
            </a:r>
            <a:r>
              <a:rPr lang="en-US" dirty="0" err="1"/>
              <a:t>Prendiamo</a:t>
            </a:r>
            <a:r>
              <a:rPr lang="en-US" dirty="0"/>
              <a:t> in </a:t>
            </a:r>
            <a:r>
              <a:rPr lang="en-US" dirty="0" err="1"/>
              <a:t>considerazione</a:t>
            </a:r>
            <a:r>
              <a:rPr lang="en-US" dirty="0"/>
              <a:t> il </a:t>
            </a:r>
            <a:r>
              <a:rPr lang="en-US" dirty="0" err="1"/>
              <a:t>caso</a:t>
            </a:r>
            <a:r>
              <a:rPr lang="en-US" dirty="0"/>
              <a:t> </a:t>
            </a:r>
            <a:r>
              <a:rPr lang="en-US" dirty="0" err="1"/>
              <a:t>introdotto</a:t>
            </a:r>
            <a:r>
              <a:rPr lang="en-US" dirty="0"/>
              <a:t> dal </a:t>
            </a:r>
            <a:r>
              <a:rPr lang="en-US" dirty="0" err="1"/>
              <a:t>marchio</a:t>
            </a:r>
            <a:r>
              <a:rPr lang="en-US" dirty="0"/>
              <a:t> </a:t>
            </a:r>
            <a:r>
              <a:rPr lang="en-US" dirty="0" err="1"/>
              <a:t>cinese</a:t>
            </a:r>
            <a:r>
              <a:rPr lang="en-US" dirty="0"/>
              <a:t> NIO, </a:t>
            </a:r>
            <a:r>
              <a:rPr lang="en-US" dirty="0" err="1"/>
              <a:t>ovvero</a:t>
            </a:r>
            <a:r>
              <a:rPr lang="en-US" dirty="0"/>
              <a:t> il </a:t>
            </a:r>
            <a:r>
              <a:rPr lang="en-US" dirty="0" err="1"/>
              <a:t>meccanismo</a:t>
            </a:r>
            <a:r>
              <a:rPr lang="en-US" dirty="0"/>
              <a:t> di </a:t>
            </a:r>
            <a:r>
              <a:rPr lang="en-US" dirty="0" err="1"/>
              <a:t>ricarica</a:t>
            </a:r>
            <a:r>
              <a:rPr lang="en-US" dirty="0"/>
              <a:t> </a:t>
            </a:r>
            <a:r>
              <a:rPr lang="en-US" dirty="0" err="1"/>
              <a:t>attraverso</a:t>
            </a:r>
            <a:r>
              <a:rPr lang="en-US" dirty="0"/>
              <a:t> la quale </a:t>
            </a:r>
            <a:r>
              <a:rPr lang="en-US" dirty="0" err="1"/>
              <a:t>quando</a:t>
            </a:r>
            <a:r>
              <a:rPr lang="en-US" dirty="0"/>
              <a:t> ci </a:t>
            </a:r>
            <a:r>
              <a:rPr lang="en-US" dirty="0" err="1"/>
              <a:t>avviciniamo</a:t>
            </a:r>
            <a:r>
              <a:rPr lang="en-US" dirty="0"/>
              <a:t> verso le </a:t>
            </a:r>
            <a:r>
              <a:rPr lang="en-US" dirty="0" err="1"/>
              <a:t>stazioni</a:t>
            </a:r>
            <a:r>
              <a:rPr lang="en-US" dirty="0"/>
              <a:t> di </a:t>
            </a:r>
            <a:r>
              <a:rPr lang="en-US" dirty="0" err="1"/>
              <a:t>ricarica</a:t>
            </a:r>
            <a:r>
              <a:rPr lang="en-US" dirty="0"/>
              <a:t>, </a:t>
            </a:r>
            <a:r>
              <a:rPr lang="en-US" dirty="0" err="1"/>
              <a:t>invece</a:t>
            </a:r>
            <a:r>
              <a:rPr lang="en-US" dirty="0"/>
              <a:t> di </a:t>
            </a:r>
            <a:r>
              <a:rPr lang="en-US" dirty="0" err="1"/>
              <a:t>ricaricare</a:t>
            </a:r>
            <a:r>
              <a:rPr lang="en-US" dirty="0"/>
              <a:t> la </a:t>
            </a:r>
            <a:r>
              <a:rPr lang="en-US" dirty="0" err="1"/>
              <a:t>batteria</a:t>
            </a:r>
            <a:r>
              <a:rPr lang="en-US" dirty="0"/>
              <a:t> interna, </a:t>
            </a:r>
            <a:r>
              <a:rPr lang="en-US" dirty="0" err="1"/>
              <a:t>andremo</a:t>
            </a:r>
            <a:r>
              <a:rPr lang="en-US" dirty="0"/>
              <a:t> ad </a:t>
            </a:r>
            <a:r>
              <a:rPr lang="en-US" dirty="0" err="1"/>
              <a:t>effettuare</a:t>
            </a:r>
            <a:r>
              <a:rPr lang="en-US" dirty="0"/>
              <a:t> un “Battery Swap”, </a:t>
            </a:r>
            <a:r>
              <a:rPr lang="en-US" dirty="0" err="1"/>
              <a:t>ovvero</a:t>
            </a:r>
            <a:r>
              <a:rPr lang="en-US" dirty="0"/>
              <a:t> </a:t>
            </a:r>
            <a:r>
              <a:rPr lang="en-US" dirty="0" err="1"/>
              <a:t>una</a:t>
            </a:r>
            <a:r>
              <a:rPr lang="en-US" dirty="0"/>
              <a:t> </a:t>
            </a:r>
            <a:r>
              <a:rPr lang="en-US" dirty="0" err="1"/>
              <a:t>sostituzione</a:t>
            </a:r>
            <a:r>
              <a:rPr lang="en-US" dirty="0"/>
              <a:t> </a:t>
            </a:r>
            <a:r>
              <a:rPr lang="en-US" dirty="0" err="1"/>
              <a:t>dell’intero</a:t>
            </a:r>
            <a:r>
              <a:rPr lang="en-US" dirty="0"/>
              <a:t> </a:t>
            </a:r>
            <a:r>
              <a:rPr lang="en-US" dirty="0" err="1"/>
              <a:t>pacco</a:t>
            </a:r>
            <a:r>
              <a:rPr lang="en-US" dirty="0"/>
              <a:t> batterie.</a:t>
            </a:r>
            <a:br>
              <a:rPr lang="en-US" dirty="0"/>
            </a:br>
            <a:endParaRPr lang="en-US" dirty="0"/>
          </a:p>
          <a:p>
            <a:r>
              <a:rPr lang="en-US" dirty="0"/>
              <a:t>Dal </a:t>
            </a:r>
            <a:r>
              <a:rPr lang="en-US" dirty="0" err="1"/>
              <a:t>momento</a:t>
            </a:r>
            <a:r>
              <a:rPr lang="en-US" dirty="0"/>
              <a:t> in cui vi è </a:t>
            </a:r>
            <a:r>
              <a:rPr lang="en-US" dirty="0" err="1"/>
              <a:t>una</a:t>
            </a:r>
            <a:r>
              <a:rPr lang="en-US" dirty="0"/>
              <a:t> </a:t>
            </a:r>
            <a:r>
              <a:rPr lang="en-US" dirty="0" err="1"/>
              <a:t>sostituzione</a:t>
            </a:r>
            <a:r>
              <a:rPr lang="en-US" dirty="0"/>
              <a:t> </a:t>
            </a:r>
            <a:r>
              <a:rPr lang="en-US" dirty="0" err="1"/>
              <a:t>dell’intero</a:t>
            </a:r>
            <a:r>
              <a:rPr lang="en-US" dirty="0"/>
              <a:t> </a:t>
            </a:r>
            <a:r>
              <a:rPr lang="en-US" dirty="0" err="1"/>
              <a:t>pacco</a:t>
            </a:r>
            <a:r>
              <a:rPr lang="en-US" dirty="0"/>
              <a:t> batterie, </a:t>
            </a:r>
            <a:r>
              <a:rPr lang="en-US" dirty="0" err="1"/>
              <a:t>abbiamo</a:t>
            </a:r>
            <a:r>
              <a:rPr lang="en-US" dirty="0"/>
              <a:t> </a:t>
            </a:r>
            <a:r>
              <a:rPr lang="en-US" dirty="0" err="1"/>
              <a:t>messo</a:t>
            </a:r>
            <a:r>
              <a:rPr lang="en-US" dirty="0"/>
              <a:t> in </a:t>
            </a:r>
            <a:r>
              <a:rPr lang="en-US" dirty="0" err="1"/>
              <a:t>conto</a:t>
            </a:r>
            <a:r>
              <a:rPr lang="en-US" dirty="0"/>
              <a:t> </a:t>
            </a:r>
            <a:r>
              <a:rPr lang="en-US" dirty="0" err="1"/>
              <a:t>sia</a:t>
            </a:r>
            <a:r>
              <a:rPr lang="en-US" dirty="0"/>
              <a:t> il tempo di </a:t>
            </a:r>
            <a:r>
              <a:rPr lang="en-US" dirty="0" err="1"/>
              <a:t>sostituzione</a:t>
            </a:r>
            <a:r>
              <a:rPr lang="en-US" dirty="0"/>
              <a:t> </a:t>
            </a:r>
            <a:r>
              <a:rPr lang="en-US" dirty="0" err="1"/>
              <a:t>dello</a:t>
            </a:r>
            <a:r>
              <a:rPr lang="en-US" dirty="0"/>
              <a:t> </a:t>
            </a:r>
            <a:r>
              <a:rPr lang="en-US" dirty="0" err="1"/>
              <a:t>stesso</a:t>
            </a:r>
            <a:r>
              <a:rPr lang="en-US" dirty="0"/>
              <a:t> (</a:t>
            </a:r>
            <a:r>
              <a:rPr lang="en-US" dirty="0" err="1"/>
              <a:t>che</a:t>
            </a:r>
            <a:r>
              <a:rPr lang="en-US" dirty="0"/>
              <a:t> il </a:t>
            </a:r>
            <a:r>
              <a:rPr lang="en-US" dirty="0" err="1"/>
              <a:t>marchio</a:t>
            </a:r>
            <a:r>
              <a:rPr lang="en-US" dirty="0"/>
              <a:t> NIO </a:t>
            </a:r>
            <a:r>
              <a:rPr lang="en-US" dirty="0" err="1"/>
              <a:t>garantisce</a:t>
            </a:r>
            <a:r>
              <a:rPr lang="en-US" dirty="0"/>
              <a:t> </a:t>
            </a:r>
            <a:r>
              <a:rPr lang="en-US" dirty="0" err="1"/>
              <a:t>che</a:t>
            </a:r>
            <a:r>
              <a:rPr lang="en-US" dirty="0"/>
              <a:t> </a:t>
            </a:r>
            <a:r>
              <a:rPr lang="en-US" dirty="0" err="1"/>
              <a:t>venga</a:t>
            </a:r>
            <a:r>
              <a:rPr lang="en-US" dirty="0"/>
              <a:t> </a:t>
            </a:r>
            <a:r>
              <a:rPr lang="en-US" dirty="0" err="1"/>
              <a:t>fatto</a:t>
            </a:r>
            <a:r>
              <a:rPr lang="en-US" dirty="0"/>
              <a:t> in 5 </a:t>
            </a:r>
            <a:r>
              <a:rPr lang="en-US" dirty="0" err="1"/>
              <a:t>minuti</a:t>
            </a:r>
            <a:r>
              <a:rPr lang="en-US" dirty="0"/>
              <a:t>), </a:t>
            </a:r>
            <a:r>
              <a:rPr lang="en-US" dirty="0" err="1"/>
              <a:t>che</a:t>
            </a:r>
            <a:r>
              <a:rPr lang="en-US" dirty="0"/>
              <a:t> il tempo di </a:t>
            </a:r>
            <a:r>
              <a:rPr lang="en-US" dirty="0" err="1"/>
              <a:t>attesa</a:t>
            </a:r>
            <a:r>
              <a:rPr lang="en-US" dirty="0"/>
              <a:t> per la </a:t>
            </a:r>
            <a:r>
              <a:rPr lang="en-US" dirty="0" err="1"/>
              <a:t>sostituzione</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b="1" dirty="0" err="1"/>
              <a:t>Obiettivo</a:t>
            </a:r>
            <a:r>
              <a:rPr lang="en-US" b="1" dirty="0"/>
              <a:t> del </a:t>
            </a:r>
            <a:r>
              <a:rPr lang="en-US" b="1" dirty="0" err="1"/>
              <a:t>problema</a:t>
            </a:r>
            <a:r>
              <a:rPr lang="en-US" dirty="0"/>
              <a:t>: </a:t>
            </a:r>
            <a:r>
              <a:rPr lang="it-IT" dirty="0"/>
              <a:t>Il problema consiste nel determinare il percorso ottimale per un veicolo elettrico che deve viaggiare lungo un tragitto rappresentato da un grafo. Il tragitto ottimo deve tener conto, quindi, anche delle ricariche necessarie.</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 </a:t>
            </a:r>
            <a:r>
              <a:rPr lang="it-IT" b="1" dirty="0"/>
              <a:t>Algoritmo utilizzato</a:t>
            </a:r>
            <a:r>
              <a:rPr lang="it-IT" dirty="0"/>
              <a:t>: Abbiamo utilizzato un algoritmo stocastico di tipo evolutivo, confrontandolo anche con un algoritmo di tipo </a:t>
            </a:r>
            <a:r>
              <a:rPr lang="it-IT" dirty="0" err="1"/>
              <a:t>esustivo</a:t>
            </a:r>
            <a:r>
              <a:rPr lang="it-IT" dirty="0"/>
              <a:t>, come il brute force.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Cominciamo</a:t>
            </a:r>
            <a:r>
              <a:rPr lang="en-US" dirty="0"/>
              <a:t> a fare </a:t>
            </a:r>
            <a:r>
              <a:rPr lang="en-US" dirty="0" err="1"/>
              <a:t>una</a:t>
            </a:r>
            <a:r>
              <a:rPr lang="en-US" dirty="0"/>
              <a:t> prima </a:t>
            </a:r>
            <a:r>
              <a:rPr lang="en-US" dirty="0" err="1"/>
              <a:t>formalizzazione</a:t>
            </a:r>
            <a:r>
              <a:rPr lang="en-US" dirty="0"/>
              <a:t> </a:t>
            </a:r>
            <a:r>
              <a:rPr lang="en-US" dirty="0" err="1"/>
              <a:t>teorica</a:t>
            </a:r>
            <a:r>
              <a:rPr lang="en-US" dirty="0"/>
              <a:t> del </a:t>
            </a:r>
            <a:r>
              <a:rPr lang="en-US" dirty="0" err="1"/>
              <a:t>problema</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Quindi</a:t>
            </a:r>
            <a:r>
              <a:rPr lang="en-US" dirty="0"/>
              <a:t> il nostro </a:t>
            </a:r>
            <a:r>
              <a:rPr lang="en-US" dirty="0" err="1"/>
              <a:t>obiettivo</a:t>
            </a:r>
            <a:r>
              <a:rPr lang="en-US" dirty="0"/>
              <a:t> è </a:t>
            </a:r>
            <a:r>
              <a:rPr lang="en-US" dirty="0" err="1"/>
              <a:t>quello</a:t>
            </a:r>
            <a:r>
              <a:rPr lang="en-US" dirty="0"/>
              <a:t> di </a:t>
            </a:r>
            <a:r>
              <a:rPr lang="en-US" dirty="0" err="1"/>
              <a:t>minimizzare</a:t>
            </a:r>
            <a:r>
              <a:rPr lang="en-US" dirty="0"/>
              <a:t> il tempo di </a:t>
            </a:r>
            <a:r>
              <a:rPr lang="en-US" dirty="0" err="1"/>
              <a:t>percorrenza</a:t>
            </a:r>
            <a:r>
              <a:rPr lang="en-US" dirty="0"/>
              <a:t>, </a:t>
            </a:r>
            <a:r>
              <a:rPr lang="en-US" dirty="0" err="1"/>
              <a:t>tenendo</a:t>
            </a:r>
            <a:r>
              <a:rPr lang="en-US" dirty="0"/>
              <a:t> </a:t>
            </a:r>
            <a:r>
              <a:rPr lang="en-US" dirty="0" err="1"/>
              <a:t>conto</a:t>
            </a:r>
            <a:r>
              <a:rPr lang="en-US" dirty="0"/>
              <a:t> </a:t>
            </a:r>
            <a:r>
              <a:rPr lang="en-US" dirty="0" err="1"/>
              <a:t>anche</a:t>
            </a:r>
            <a:r>
              <a:rPr lang="en-US" dirty="0"/>
              <a:t> del tempo </a:t>
            </a:r>
            <a:r>
              <a:rPr lang="en-US" dirty="0" err="1"/>
              <a:t>necessario</a:t>
            </a:r>
            <a:r>
              <a:rPr lang="en-US" dirty="0"/>
              <a:t> per la </a:t>
            </a:r>
            <a:r>
              <a:rPr lang="en-US" dirty="0" err="1"/>
              <a:t>sostituzione</a:t>
            </a:r>
            <a:r>
              <a:rPr lang="en-US" dirty="0"/>
              <a:t> del </a:t>
            </a:r>
            <a:r>
              <a:rPr lang="en-US" dirty="0" err="1"/>
              <a:t>pacco</a:t>
            </a:r>
            <a:r>
              <a:rPr lang="en-US" dirty="0"/>
              <a:t> batterie.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Ora, dal </a:t>
            </a:r>
            <a:r>
              <a:rPr lang="en-US" dirty="0" err="1"/>
              <a:t>momento</a:t>
            </a:r>
            <a:r>
              <a:rPr lang="en-US" dirty="0"/>
              <a:t> in cui </a:t>
            </a:r>
            <a:r>
              <a:rPr lang="en-US" dirty="0" err="1"/>
              <a:t>stiamo</a:t>
            </a:r>
            <a:r>
              <a:rPr lang="en-US" dirty="0"/>
              <a:t> </a:t>
            </a:r>
            <a:r>
              <a:rPr lang="en-US" dirty="0" err="1"/>
              <a:t>ottimizzando</a:t>
            </a:r>
            <a:r>
              <a:rPr lang="en-US" dirty="0"/>
              <a:t> un </a:t>
            </a:r>
            <a:r>
              <a:rPr lang="en-US" dirty="0" err="1"/>
              <a:t>percorso</a:t>
            </a:r>
            <a:r>
              <a:rPr lang="en-US" dirty="0"/>
              <a:t>, </a:t>
            </a:r>
            <a:r>
              <a:rPr lang="en-US" dirty="0" err="1"/>
              <a:t>dobbiamo</a:t>
            </a:r>
            <a:r>
              <a:rPr lang="en-US" dirty="0"/>
              <a:t> </a:t>
            </a:r>
            <a:r>
              <a:rPr lang="en-US" dirty="0" err="1"/>
              <a:t>tener</a:t>
            </a:r>
            <a:r>
              <a:rPr lang="en-US" dirty="0"/>
              <a:t> </a:t>
            </a:r>
            <a:r>
              <a:rPr lang="en-US" dirty="0" err="1"/>
              <a:t>conto</a:t>
            </a:r>
            <a:r>
              <a:rPr lang="en-US" dirty="0"/>
              <a:t> </a:t>
            </a:r>
            <a:r>
              <a:rPr lang="en-US" dirty="0" err="1"/>
              <a:t>anche</a:t>
            </a:r>
            <a:r>
              <a:rPr lang="en-US" dirty="0"/>
              <a:t> </a:t>
            </a:r>
            <a:r>
              <a:rPr lang="en-US" dirty="0" err="1"/>
              <a:t>dell’autonomia</a:t>
            </a:r>
            <a:r>
              <a:rPr lang="en-US" dirty="0"/>
              <a:t> del </a:t>
            </a:r>
            <a:r>
              <a:rPr lang="en-US" dirty="0" err="1"/>
              <a:t>veicolo</a:t>
            </a:r>
            <a:r>
              <a:rPr lang="en-US" dirty="0"/>
              <a:t>. Vi è </a:t>
            </a:r>
            <a:r>
              <a:rPr lang="en-US" dirty="0" err="1"/>
              <a:t>anche</a:t>
            </a:r>
            <a:r>
              <a:rPr lang="en-US" dirty="0"/>
              <a:t> un </a:t>
            </a:r>
            <a:r>
              <a:rPr lang="en-US" dirty="0" err="1"/>
              <a:t>vincolo</a:t>
            </a:r>
            <a:r>
              <a:rPr lang="en-US" dirty="0"/>
              <a:t> relative al budget per un </a:t>
            </a:r>
            <a:r>
              <a:rPr lang="en-US" dirty="0" err="1"/>
              <a:t>viaggio</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Abbiamo</a:t>
            </a:r>
            <a:r>
              <a:rPr lang="en-US" dirty="0"/>
              <a:t> </a:t>
            </a:r>
            <a:r>
              <a:rPr lang="en-US" dirty="0" err="1"/>
              <a:t>sfruttato</a:t>
            </a:r>
            <a:r>
              <a:rPr lang="en-US" dirty="0"/>
              <a:t> diverse </a:t>
            </a:r>
            <a:r>
              <a:rPr lang="en-US" dirty="0" err="1"/>
              <a:t>variabili</a:t>
            </a:r>
            <a:r>
              <a:rPr lang="en-US" dirty="0"/>
              <a:t>, come il </a:t>
            </a:r>
            <a:r>
              <a:rPr lang="en-US" dirty="0" err="1"/>
              <a:t>percorso</a:t>
            </a:r>
            <a:r>
              <a:rPr lang="en-US" dirty="0"/>
              <a:t> </a:t>
            </a:r>
            <a:r>
              <a:rPr lang="en-US" dirty="0" err="1"/>
              <a:t>i-esimo</a:t>
            </a:r>
            <a:r>
              <a:rPr lang="en-US" dirty="0"/>
              <a:t> e </a:t>
            </a:r>
            <a:r>
              <a:rPr lang="en-US" dirty="0" err="1"/>
              <a:t>numero</a:t>
            </a:r>
            <a:r>
              <a:rPr lang="en-US" dirty="0"/>
              <a:t> di </a:t>
            </a:r>
            <a:r>
              <a:rPr lang="en-US" dirty="0" err="1"/>
              <a:t>ricariche</a:t>
            </a:r>
            <a:r>
              <a:rPr lang="en-US" dirty="0"/>
              <a:t>, </a:t>
            </a:r>
            <a:r>
              <a:rPr lang="en-US" dirty="0" err="1"/>
              <a:t>autonomia</a:t>
            </a:r>
            <a:r>
              <a:rPr lang="en-US" dirty="0"/>
              <a:t> e </a:t>
            </a:r>
            <a:r>
              <a:rPr lang="en-US" dirty="0" err="1"/>
              <a:t>consumo</a:t>
            </a:r>
            <a:r>
              <a:rPr lang="en-US" dirty="0"/>
              <a:t> </a:t>
            </a:r>
            <a:r>
              <a:rPr lang="en-US" dirty="0" err="1"/>
              <a:t>energetico</a:t>
            </a:r>
            <a:r>
              <a:rPr lang="en-US" dirty="0"/>
              <a:t>.</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mc:AlternateContent xmlns:mc="http://schemas.openxmlformats.org/markup-compatibility/2006" xmlns:a14="http://schemas.microsoft.com/office/drawing/2010/main">
        <mc:Choice Requires="a14">
          <p:sp>
            <p:nvSpPr>
              <p:cNvPr id="3" name="Segnaposto note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Passiamo alla formalizzazione matematica.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it-IT"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it-IT" dirty="0"/>
                  <a:t>La nostra funzione obiettivo mira a </a:t>
                </a:r>
                <a:r>
                  <a:rPr lang="it-IT" b="1" dirty="0"/>
                  <a:t>minimizzare il tempo totale di viaggio</a:t>
                </a:r>
                <a:r>
                  <a:rPr lang="it-IT" dirty="0"/>
                  <a:t> all'interno di una rete stradale, tenendo conto di due contributi principali: il primo termine tiene conto del tempo totale di percorrenza degli archi e il secondo termine tiene conto del tempo necessario per la sostituzione della batteria.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it-IT"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it-IT" dirty="0"/>
                  <a: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𝑖𝑗</m:t>
                        </m:r>
                      </m:sub>
                    </m:sSub>
                  </m:oMath>
                </a14:m>
                <a:r>
                  <a:rPr lang="it-IT" dirty="0"/>
                  <a:t>​ rappresenta il </a:t>
                </a:r>
                <a:r>
                  <a:rPr lang="it-IT" b="1" dirty="0"/>
                  <a:t>tempo di percorrenza </a:t>
                </a:r>
                <a:r>
                  <a:rPr lang="it-IT" dirty="0"/>
                  <a:t>del singolo arco calcolato come il rapporto tra la lunghezza del singolo arco diviso la sua velocita di percorrenza: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it-IT" dirty="0"/>
                  <a: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𝑛</m:t>
                        </m:r>
                      </m:e>
                      <m:sub>
                        <m:r>
                          <a:rPr lang="it-IT" b="0" i="1" smtClean="0">
                            <a:latin typeface="Cambria Math" panose="02040503050406030204" pitchFamily="18" charset="0"/>
                          </a:rPr>
                          <m:t>𝑠𝑢𝑏𝑠</m:t>
                        </m:r>
                      </m:sub>
                    </m:sSub>
                  </m:oMath>
                </a14:m>
                <a:r>
                  <a:rPr lang="it-IT" dirty="0"/>
                  <a:t> è il </a:t>
                </a:r>
                <a:r>
                  <a:rPr lang="it-IT" b="1" dirty="0"/>
                  <a:t>numero di sostituzioni</a:t>
                </a:r>
                <a:r>
                  <a:rPr lang="it-IT" dirty="0"/>
                  <a:t> che il veicolo ha effettuato nell’intero percorso;</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it-IT" dirty="0"/>
                  <a: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𝑠𝑢𝑏𝑠</m:t>
                        </m:r>
                      </m:sub>
                    </m:sSub>
                    <m:r>
                      <a:rPr lang="it-IT" b="0" i="1" smtClean="0">
                        <a:latin typeface="Cambria Math" panose="02040503050406030204" pitchFamily="18" charset="0"/>
                      </a:rPr>
                      <m:t> </m:t>
                    </m:r>
                  </m:oMath>
                </a14:m>
                <a:r>
                  <a:rPr lang="it-IT" dirty="0"/>
                  <a:t>​ è il </a:t>
                </a:r>
                <a:r>
                  <a:rPr lang="it-IT" b="1" dirty="0"/>
                  <a:t>tempo di sostituzione,</a:t>
                </a:r>
                <a:r>
                  <a:rPr lang="it-IT" dirty="0"/>
                  <a:t> assunto fisso, associato alla ricarica della batteria, che si somma ogni volta che il veicolo effettua una sosta per rifornirsi di energia. Nelle autostrade questo tempo è fissato a 30min, nelle altre strade a 20min.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it-IT" dirty="0"/>
              </a:p>
            </p:txBody>
          </p:sp>
        </mc:Choice>
        <mc:Fallback xmlns="">
          <p:sp>
            <p:nvSpPr>
              <p:cNvPr id="3" name="Segnaposto note 2"/>
              <p:cNvSpPr>
                <a:spLocks noGrp="1"/>
              </p:cNvSpPr>
              <p:nvPr>
                <p:ph type="body" idx="1"/>
              </p:nvPr>
            </p:nvSpPr>
            <p:spPr>
              <a:xfrm>
                <a:off x="822325" y="7040563"/>
                <a:ext cx="6584950" cy="5761037"/>
              </a:xfrm>
              <a:prstGeom prst="rect">
                <a:avLst/>
              </a:prstGeom>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it-IT" dirty="0"/>
                  <a:t>Funzione Obiettivo: La funzione obiettivo mira a </a:t>
                </a:r>
                <a:r>
                  <a:rPr lang="it-IT" b="1" dirty="0"/>
                  <a:t>minimizzare il tempo totale di viaggio</a:t>
                </a:r>
                <a:r>
                  <a:rPr lang="it-IT" dirty="0"/>
                  <a:t> all'interno di una rete stradale, tenendo conto di due contributi principali: il primo termine tiene conto del tempo totale di percorrenza degli archi e il secondo termine tiene conto del tempo necessario per la sostituzione della batteria.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it-IT"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it-IT" dirty="0"/>
                  <a:t> </a:t>
                </a:r>
                <a:r>
                  <a:rPr lang="it-IT" b="0" i="0">
                    <a:latin typeface="Cambria Math" panose="02040503050406030204" pitchFamily="18" charset="0"/>
                  </a:rPr>
                  <a:t>𝑡_𝑖𝑗</a:t>
                </a:r>
                <a:r>
                  <a:rPr lang="it-IT" dirty="0"/>
                  <a:t>​ rappresenta il </a:t>
                </a:r>
                <a:r>
                  <a:rPr lang="it-IT" b="1" dirty="0"/>
                  <a:t>tempo di percorrenza </a:t>
                </a:r>
                <a:r>
                  <a:rPr lang="it-IT" dirty="0"/>
                  <a:t>del singolo arco calcolato come il rapporto tra la lunghezza del singolo arco diviso la sua velocita di percorrenza: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it-IT" dirty="0"/>
                  <a:t> </a:t>
                </a:r>
                <a:r>
                  <a:rPr lang="it-IT" b="0" i="0">
                    <a:latin typeface="Cambria Math" panose="02040503050406030204" pitchFamily="18" charset="0"/>
                  </a:rPr>
                  <a:t>𝑛_𝑠𝑢𝑏𝑠</a:t>
                </a:r>
                <a:r>
                  <a:rPr lang="it-IT" dirty="0"/>
                  <a:t> è il </a:t>
                </a:r>
                <a:r>
                  <a:rPr lang="it-IT" b="1" dirty="0"/>
                  <a:t>numero di sostituzioni</a:t>
                </a:r>
                <a:r>
                  <a:rPr lang="it-IT" dirty="0"/>
                  <a:t> che il veicolo ha effettuato nell’intero percorso;</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it-IT" dirty="0"/>
                  <a:t> </a:t>
                </a:r>
                <a:r>
                  <a:rPr lang="it-IT" b="0" i="0">
                    <a:latin typeface="Cambria Math" panose="02040503050406030204" pitchFamily="18" charset="0"/>
                  </a:rPr>
                  <a:t>𝑡_𝑠𝑢𝑏𝑠  </a:t>
                </a:r>
                <a:r>
                  <a:rPr lang="it-IT" dirty="0"/>
                  <a:t>​ è il </a:t>
                </a:r>
                <a:r>
                  <a:rPr lang="it-IT" b="1" dirty="0"/>
                  <a:t>tempo di sostituzione,</a:t>
                </a:r>
                <a:r>
                  <a:rPr lang="it-IT" dirty="0"/>
                  <a:t> assunto fisso, associato alla ricarica della batteria, che si somma ogni volta che il veicolo effettua una sosta per rifornirsi di energia. Nelle autostrade questo tempo è fissato a 30min, nelle altre strade a 20min.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it-IT" dirty="0"/>
              </a:p>
            </p:txBody>
          </p:sp>
        </mc:Fallback>
      </mc:AlternateContent>
    </p:spTree>
    <p:extLst>
      <p:ext uri="{BB962C8B-B14F-4D97-AF65-F5344CB8AC3E}">
        <p14:creationId xmlns:p14="http://schemas.microsoft.com/office/powerpoint/2010/main" val="2922912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mc:AlternateContent xmlns:mc="http://schemas.openxmlformats.org/markup-compatibility/2006" xmlns:a14="http://schemas.microsoft.com/office/drawing/2010/main">
        <mc:Choice Requires="a14">
          <p:sp>
            <p:nvSpPr>
              <p:cNvPr id="3" name="Segnaposto note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Il percorso, per essere validato, dovrà rispettare questi vincoli: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1" dirty="0"/>
                  <a:t>Vincolo sulla capacità residua della batteria</a:t>
                </a:r>
                <a:r>
                  <a:rPr lang="it-IT" dirty="0"/>
                  <a:t>: la capacità residua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𝑏</m:t>
                        </m:r>
                      </m:e>
                      <m:sub>
                        <m:r>
                          <a:rPr lang="it-IT" b="0" i="1" smtClean="0">
                            <a:latin typeface="Cambria Math" panose="02040503050406030204" pitchFamily="18" charset="0"/>
                          </a:rPr>
                          <m:t>𝑘</m:t>
                        </m:r>
                      </m:sub>
                    </m:sSub>
                  </m:oMath>
                </a14:m>
                <a:r>
                  <a:rPr lang="it-IT" dirty="0"/>
                  <a:t>​ non deve mai raggiungere lo zero durante il percorso.</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dirty="0"/>
                  <a:t>Ad ogni passo, la batteria residua viene aggiornata con questa relazione: La batteria residua al passo successivo è data dalla differenza della batteria residua al passo k-esimo meno il consumo relativo a quell’arco.</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sz="1200" dirty="0"/>
                  <a:t>E nel caso in cui scendesse sotto una certa soglia, l’algoritmo andrebbe alla ricerca di una stazione di sostituzione, così da ripristinare l’autonomia del veicolo.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dirty="0"/>
                  <a:t> </a:t>
                </a:r>
                <a:r>
                  <a:rPr lang="it-IT" sz="1200" b="1" dirty="0"/>
                  <a:t>Vincolo sul costo totale del viaggio</a:t>
                </a:r>
                <a:r>
                  <a:rPr lang="it-IT" sz="1200" dirty="0"/>
                  <a:t>: il costo complessivo del percorso, non deve superare il limite massimo prestabilito. Questo vincolo garantisce che il viaggio rimanga economicamente sostenibile.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sz="1200" dirty="0"/>
                  <a:t>Il costo totale è dato dalla somma del costo per percorrere il singolo arco + il costo del pedaggio per quell’arco corrispondente (chiaramente se l’arco </a:t>
                </a:r>
                <a:r>
                  <a:rPr lang="it-IT" sz="1200" dirty="0" err="1"/>
                  <a:t>ij</a:t>
                </a:r>
                <a:r>
                  <a:rPr lang="it-IT" sz="1200" dirty="0"/>
                  <a:t> non è un’autostrada, non vi è il pedaggio). Il pedaggio è stato calcolato come la distanza che percorriamo sull’autostrada moltiplicato per Euro/metro.</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sz="1200" dirty="0"/>
                  <a:t>Il termine C di </a:t>
                </a:r>
                <a:r>
                  <a:rPr lang="it-IT" sz="1200" dirty="0" err="1"/>
                  <a:t>ij</a:t>
                </a:r>
                <a:r>
                  <a:rPr lang="it-IT" sz="1200" dirty="0"/>
                  <a:t> è stato calcolato come l’energia consumata per quell’arco moltiplicato per il costo che impieghiamo per percorrere quell’arco (Euro/kWh).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it-IT" dirty="0"/>
              </a:p>
            </p:txBody>
          </p:sp>
        </mc:Choice>
        <mc:Fallback xmlns="">
          <p:sp>
            <p:nvSpPr>
              <p:cNvPr id="3" name="Segnaposto note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 vincoli del problema definiscono le condizioni operative che il percorso deve soddisfare per essere considerato valido. Essi possono essere: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1" dirty="0"/>
                  <a:t>Vincolo sulla capacità residua della batteria</a:t>
                </a:r>
                <a:r>
                  <a:rPr lang="it-IT" dirty="0"/>
                  <a:t>: la capacità residua </a:t>
                </a:r>
                <a:r>
                  <a:rPr lang="it-IT" b="0" i="0">
                    <a:latin typeface="Cambria Math" panose="02040503050406030204" pitchFamily="18" charset="0"/>
                  </a:rPr>
                  <a:t>𝑏_𝑘</a:t>
                </a:r>
                <a:r>
                  <a:rPr lang="it-IT" dirty="0"/>
                  <a:t>​ non deve mai raggiungere lo zero durante il percorso.</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dirty="0"/>
                  <a:t>Ad ogni passo, la batteria residua viene aggiornata con questa relazione: La batteria residua al passo successivo è data dalla differenza della batteria residua al passo k-esimo meno il consumo relativo a quell’arco.</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sz="1200" dirty="0"/>
                  <a:t>E nel caso in cui scendesse sotto una certa soglia, l’algoritmo andrebbe alla ricerca di una stazione di sostituzione, così da ripristinare l’autonomia del veicolo.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dirty="0"/>
                  <a:t> </a:t>
                </a:r>
                <a:r>
                  <a:rPr lang="it-IT" sz="1200" b="1" dirty="0"/>
                  <a:t>Vincolo sul costo totale del viaggio</a:t>
                </a:r>
                <a:r>
                  <a:rPr lang="it-IT" sz="1200" dirty="0"/>
                  <a:t>: il costo complessivo del percorso, non deve superare il limite massimo prestabilito. Questo vincolo garantisce che il viaggio rimanga economicamente sostenibile.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sz="1200" dirty="0"/>
                  <a:t>Il costo totale è dato dalla somma del costo per percorrere il singolo arco + il costo del pedaggio per quell’arco corrispondente (chiaramente se l’arco </a:t>
                </a:r>
                <a:r>
                  <a:rPr lang="it-IT" sz="1200" dirty="0" err="1"/>
                  <a:t>ij</a:t>
                </a:r>
                <a:r>
                  <a:rPr lang="it-IT" sz="1200" dirty="0"/>
                  <a:t> non è un’autostrada, non vi è il pedaggio). Il pedaggio è stato calcolato come la distanza che percorriamo sull’autostrada moltiplicato per Euro/metro.</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sz="1200" dirty="0"/>
                  <a:t>Il termine C di </a:t>
                </a:r>
                <a:r>
                  <a:rPr lang="it-IT" sz="1200" dirty="0" err="1"/>
                  <a:t>ij</a:t>
                </a:r>
                <a:r>
                  <a:rPr lang="it-IT" sz="1200" dirty="0"/>
                  <a:t> è stato calcolato come l’energia consumata per quell’arco moltiplicato per il costo che impieghiamo per percorrere quell’arco (Euro/kWh).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it-IT" dirty="0"/>
              </a:p>
            </p:txBody>
          </p:sp>
        </mc:Fallback>
      </mc:AlternateContent>
    </p:spTree>
    <p:extLst>
      <p:ext uri="{BB962C8B-B14F-4D97-AF65-F5344CB8AC3E}">
        <p14:creationId xmlns:p14="http://schemas.microsoft.com/office/powerpoint/2010/main" val="3324114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a:t>
            </a:r>
            <a:r>
              <a:rPr lang="en-US" dirty="0" err="1"/>
              <a:t>grafo</a:t>
            </a:r>
            <a:r>
              <a:rPr lang="en-US" dirty="0"/>
              <a:t> </a:t>
            </a:r>
            <a:r>
              <a:rPr lang="en-US" dirty="0" err="1"/>
              <a:t>utilizzato</a:t>
            </a:r>
            <a:r>
              <a:rPr lang="en-US" dirty="0"/>
              <a:t> per </a:t>
            </a:r>
            <a:r>
              <a:rPr lang="en-US" dirty="0" err="1"/>
              <a:t>rappresentare</a:t>
            </a:r>
            <a:r>
              <a:rPr lang="en-US" dirty="0"/>
              <a:t> la rete </a:t>
            </a:r>
            <a:r>
              <a:rPr lang="en-US" dirty="0" err="1"/>
              <a:t>stradale</a:t>
            </a:r>
            <a:r>
              <a:rPr lang="en-US" dirty="0"/>
              <a:t>, </a:t>
            </a:r>
            <a:r>
              <a:rPr lang="en-US" dirty="0" err="1"/>
              <a:t>incluse</a:t>
            </a:r>
            <a:r>
              <a:rPr lang="en-US" dirty="0"/>
              <a:t> le </a:t>
            </a:r>
            <a:r>
              <a:rPr lang="en-US" dirty="0" err="1"/>
              <a:t>colonnine</a:t>
            </a:r>
            <a:r>
              <a:rPr lang="en-US" dirty="0"/>
              <a:t>, è </a:t>
            </a:r>
            <a:r>
              <a:rPr lang="en-US" dirty="0" err="1"/>
              <a:t>stato</a:t>
            </a:r>
            <a:r>
              <a:rPr lang="en-US" dirty="0"/>
              <a:t> </a:t>
            </a:r>
            <a:r>
              <a:rPr lang="en-US" dirty="0" err="1"/>
              <a:t>ottenuto</a:t>
            </a:r>
            <a:r>
              <a:rPr lang="en-US" dirty="0"/>
              <a:t> </a:t>
            </a:r>
            <a:r>
              <a:rPr lang="en-US" dirty="0" err="1"/>
              <a:t>mediante</a:t>
            </a:r>
            <a:r>
              <a:rPr lang="en-US" dirty="0"/>
              <a:t> la </a:t>
            </a:r>
            <a:r>
              <a:rPr lang="it-IT" sz="1200" dirty="0">
                <a:latin typeface="Calibri (Corpo)"/>
                <a:ea typeface="Arimo" panose="020B0604020202020204" charset="0"/>
                <a:cs typeface="Arimo" panose="020B0604020202020204" charset="0"/>
              </a:rPr>
              <a:t>libreria </a:t>
            </a:r>
            <a:r>
              <a:rPr lang="it-IT" sz="1200" b="1" dirty="0" err="1">
                <a:latin typeface="Calibri (Corpo)"/>
                <a:ea typeface="Arimo" panose="020B0604020202020204" charset="0"/>
                <a:cs typeface="Arimo" panose="020B0604020202020204" charset="0"/>
              </a:rPr>
              <a:t>OSMnx</a:t>
            </a:r>
            <a:r>
              <a:rPr lang="it-IT" sz="1200" dirty="0">
                <a:latin typeface="Calibri (Corpo)"/>
                <a:ea typeface="Arimo" panose="020B0604020202020204" charset="0"/>
                <a:cs typeface="Arimo" panose="020B0604020202020204" charset="0"/>
              </a:rPr>
              <a:t> di </a:t>
            </a:r>
            <a:r>
              <a:rPr lang="it-IT" sz="1200" dirty="0" err="1">
                <a:latin typeface="Calibri (Corpo)"/>
                <a:ea typeface="Arimo" panose="020B0604020202020204" charset="0"/>
                <a:cs typeface="Arimo" panose="020B0604020202020204" charset="0"/>
              </a:rPr>
              <a:t>OpenStreetMap</a:t>
            </a:r>
            <a:r>
              <a:rPr lang="it-IT" sz="1200" dirty="0">
                <a:latin typeface="Calibri (Corpo)"/>
                <a:ea typeface="Arimo" panose="020B0604020202020204" charset="0"/>
                <a:cs typeface="Arimo" panose="020B0604020202020204" charset="0"/>
              </a:rPr>
              <a:t>, richiamata tramite </a:t>
            </a:r>
            <a:r>
              <a:rPr lang="it-IT" sz="1200" b="1" dirty="0">
                <a:latin typeface="Calibri (Corpo)"/>
                <a:ea typeface="Arimo" panose="020B0604020202020204" charset="0"/>
                <a:cs typeface="Arimo" panose="020B0604020202020204" charset="0"/>
              </a:rPr>
              <a:t>Python.</a:t>
            </a:r>
          </a:p>
          <a:p>
            <a:pPr>
              <a:buFont typeface="Arial" panose="020B0604020202020204" pitchFamily="34" charset="0"/>
              <a:buChar char="•"/>
            </a:pPr>
            <a:r>
              <a:rPr lang="it-IT" sz="2000" b="1" dirty="0">
                <a:latin typeface="Calibri (Corpo)"/>
                <a:ea typeface="Arimo" panose="020B0604020202020204" charset="0"/>
                <a:cs typeface="Arimo" panose="020B0604020202020204" charset="0"/>
              </a:rPr>
              <a:t>Nodi</a:t>
            </a:r>
            <a:r>
              <a:rPr lang="it-IT" sz="2000" dirty="0">
                <a:latin typeface="Calibri (Corpo)"/>
                <a:ea typeface="Arimo" panose="020B0604020202020204" charset="0"/>
                <a:cs typeface="Arimo" panose="020B0604020202020204" charset="0"/>
              </a:rPr>
              <a:t>, </a:t>
            </a:r>
            <a:r>
              <a:rPr lang="it-IT" sz="2000" u="sng" dirty="0">
                <a:latin typeface="Calibri (Corpo)"/>
                <a:ea typeface="Arimo" panose="020B0604020202020204" charset="0"/>
                <a:cs typeface="Arimo" panose="020B0604020202020204" charset="0"/>
              </a:rPr>
              <a:t>ciascuno</a:t>
            </a:r>
            <a:r>
              <a:rPr lang="it-IT" sz="2000" dirty="0">
                <a:latin typeface="Calibri (Corpo)"/>
                <a:ea typeface="Arimo" panose="020B0604020202020204" charset="0"/>
                <a:cs typeface="Arimo" panose="020B0604020202020204" charset="0"/>
              </a:rPr>
              <a:t> dei quali contiene le seguenti informazioni:</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La tipologia del nodo (presenza o assenza di una colonnina di ricarica);</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Le coordinate geografiche, espresse in latitudine e longitudine;</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Un identificativo univoco (</a:t>
            </a:r>
            <a:r>
              <a:rPr lang="it-IT" sz="2000" b="1" dirty="0">
                <a:latin typeface="Calibri (Corpo)"/>
                <a:ea typeface="Arimo" panose="020B0604020202020204" charset="0"/>
                <a:cs typeface="Arimo" panose="020B0604020202020204" charset="0"/>
              </a:rPr>
              <a:t>ID</a:t>
            </a:r>
            <a:r>
              <a:rPr lang="it-IT" sz="2000" dirty="0">
                <a:latin typeface="Calibri (Corpo)"/>
                <a:ea typeface="Arimo" panose="020B0604020202020204" charset="0"/>
                <a:cs typeface="Arimo" panose="020B0604020202020204" charset="0"/>
              </a:rPr>
              <a:t>).</a:t>
            </a:r>
          </a:p>
          <a:p>
            <a:pPr>
              <a:buFont typeface="Arial" panose="020B0604020202020204" pitchFamily="34" charset="0"/>
              <a:buChar char="•"/>
            </a:pPr>
            <a:r>
              <a:rPr lang="it-IT" sz="2000" b="1" dirty="0">
                <a:latin typeface="Calibri (Corpo)"/>
                <a:ea typeface="Arimo" panose="020B0604020202020204" charset="0"/>
                <a:cs typeface="Arimo" panose="020B0604020202020204" charset="0"/>
              </a:rPr>
              <a:t>Archi</a:t>
            </a:r>
            <a:r>
              <a:rPr lang="it-IT" sz="2000" dirty="0">
                <a:latin typeface="Calibri (Corpo)"/>
                <a:ea typeface="Arimo" panose="020B0604020202020204" charset="0"/>
                <a:cs typeface="Arimo" panose="020B0604020202020204" charset="0"/>
              </a:rPr>
              <a:t>, che includono:</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Il nodo di partenza e il nodo di arrivo del singolo arco;</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La lunghezza dell'arco;</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La tipologia della strada rappresentata (autostrada, strada provinciale, </a:t>
            </a:r>
            <a:r>
              <a:rPr lang="it-IT" sz="2000" dirty="0" err="1">
                <a:latin typeface="Calibri (Corpo)"/>
                <a:ea typeface="Arimo" panose="020B0604020202020204" charset="0"/>
                <a:cs typeface="Arimo" panose="020B0604020202020204" charset="0"/>
              </a:rPr>
              <a:t>ecc</a:t>
            </a:r>
            <a:r>
              <a:rPr lang="it-IT" sz="2000" dirty="0">
                <a:latin typeface="Calibri (Corpo)"/>
                <a:ea typeface="Arimo" panose="020B0604020202020204" charset="0"/>
                <a:cs typeface="Arimo" panose="020B0604020202020204" charset="0"/>
              </a:rPr>
              <a:t>).</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Velocità massima nel singolo arco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1.La prima fase consiste nel definire la geometria della regione di interesse. </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Questo codice permette di convertire una regione, identificata ad esempio con il nome di una città o un'area geografica, in un oggetto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GeoDataFrame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La geometria della regione (ad esempio un poligono che ne delimita i confini) viene quindi estratta e utilizzata come base per i successivi passaggi.</a:t>
            </a:r>
          </a:p>
          <a:p>
            <a:pPr>
              <a:lnSpc>
                <a:spcPct val="115000"/>
              </a:lnSpc>
              <a:spcAft>
                <a:spcPts val="800"/>
              </a:spcAft>
            </a:pP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2.Dopo aver definito i confini geografici:</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Questo metodo consente di scaricare un grafo stradale rappresentante le strade percorribili in automobile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network_type</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="drive"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limitando l'area di interesse al poligono combinato che abbiamo calcolato nella fase precedente.</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Il grafo ottenuto rappresenta le strade come archi e i punti di connessione (ad esempio incroci o biforcazioni) come nodi.</a:t>
            </a:r>
          </a:p>
          <a:p>
            <a:pPr>
              <a:lnSpc>
                <a:spcPct val="115000"/>
              </a:lnSpc>
              <a:spcAft>
                <a:spcPts val="800"/>
              </a:spcAft>
            </a:pP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3.Una volta ottenuto il grafo stradale, il passo successivo è identificare le colonnine di ricarica elettrica all'interno della regione. </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Questo codice esegue una ricerca specifica dei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POI (Points of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Interest</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associati al tag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amenity</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charging_station</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che rappresenta le stazioni di ricarica per veicoli elettrici presenti nell'area definita. I risultati sono salvati in un formato compatibile per l'elaborazione successiva.</a:t>
            </a:r>
          </a:p>
          <a:p>
            <a:pPr>
              <a:lnSpc>
                <a:spcPct val="115000"/>
              </a:lnSpc>
              <a:spcAft>
                <a:spcPts val="800"/>
              </a:spcAft>
            </a:pP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4.Infine, i dati elaborati vengono salvati localmente </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Questo metodo permette di esportare il grafo stradale in formato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GraphML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un formato standard che facilita la visualizzazione e l'analisi del grafo con strumenti dedicati.</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I POI delle stazioni di ricarica, invece, vengono esportati in formato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GeoJSON</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un formato aperto per rappresentare dati geospaziali. Questo formato è ampiamente utilizzato per integrare dati geografici in applicazioni come GIS e visualizzatori cartografici.</a:t>
            </a:r>
          </a:p>
        </p:txBody>
      </p:sp>
    </p:spTree>
    <p:extLst>
      <p:ext uri="{BB962C8B-B14F-4D97-AF65-F5344CB8AC3E}">
        <p14:creationId xmlns:p14="http://schemas.microsoft.com/office/powerpoint/2010/main" val="4012843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pPr>
              <a:lnSpc>
                <a:spcPct val="115000"/>
              </a:lnSpc>
              <a:spcAft>
                <a:spcPts val="800"/>
              </a:spcAft>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1.</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Il grafo stradale viene caricato da un file in formato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GraphML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utilizzando la funzione:</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Questo permette di leggere il grafo stradale precedentemente salvato e di ottenere una rappresentazione della rete viaria come struttura di nodi e archi.</a:t>
            </a:r>
          </a:p>
          <a:p>
            <a:pPr>
              <a:lnSpc>
                <a:spcPct val="115000"/>
              </a:lnSpc>
              <a:spcAft>
                <a:spcPts val="800"/>
              </a:spcAft>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2. 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e stazioni di ricarica elettrica vengono lette da un file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GeoJSON</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tramite la libreria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Geopandas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Questo file contiene le informazioni geografiche (coordinate) delle stazioni di ricarica, che verranno successivamente utilizzate per posizionare i nodi nel grafo.</a:t>
            </a:r>
          </a:p>
          <a:p>
            <a:pPr>
              <a:lnSpc>
                <a:spcPct val="115000"/>
              </a:lnSpc>
              <a:spcAft>
                <a:spcPts val="800"/>
              </a:spcAft>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3.</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Per ogni stazione di ricarica, le coordinate geografiche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x,y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vengono utilizzate per identificare l’arco più vicino nel grafo stradale. </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Questa funzione restituisce l'arco (identificato dai nodi u e v) che si trova a distanza minima dalla posizione della stazione di ricarica.</a:t>
            </a:r>
          </a:p>
          <a:p>
            <a:pPr>
              <a:lnSpc>
                <a:spcPct val="115000"/>
              </a:lnSpc>
              <a:spcAft>
                <a:spcPts val="800"/>
              </a:spcAft>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4.</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Una volta individuato l’arco più vicino, viene creato un nuovo nodo corrispondente alla stazione di ricarica. Il nuovo nodo è aggiunto al grafo con un identificativo unico (ID) e le coordinate geografiche della stazione.</a:t>
            </a:r>
          </a:p>
          <a:p>
            <a:pPr>
              <a:lnSpc>
                <a:spcPct val="115000"/>
              </a:lnSpc>
              <a:spcAft>
                <a:spcPts val="800"/>
              </a:spcAft>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5. </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Dopo aver aggiunto il nuovo nodo, vengono calcolate le distanze geodetiche dalla stazione di ricarica ai due nodi u e v dell’arco più vicino. Successivamente, l’arco originale viene rimosso dal grafo e sostituito con due nuovi archi che collegano la stazione di ricarica ai nodi u e v. Questo permette di integrare la stazione come parte integrante del grafo stradale, rendendola accessibile dal resto della rete.</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6. </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Al termine delle modifiche, il grafo risultante viene salvato in formato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GraphML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Questo file rappresenta il grafo stradale unificato, comprensivo delle stazioni di ricarica come nodi e delle connessioni appropriate tra questi nodi e la rete viaria.</a:t>
            </a:r>
          </a:p>
        </p:txBody>
      </p:sp>
    </p:spTree>
    <p:extLst>
      <p:ext uri="{BB962C8B-B14F-4D97-AF65-F5344CB8AC3E}">
        <p14:creationId xmlns:p14="http://schemas.microsoft.com/office/powerpoint/2010/main" val="1999416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sz="2000" dirty="0"/>
              <a:t>Una prima soluzione al problema può essere trovata con un algoritmo </a:t>
            </a:r>
            <a:r>
              <a:rPr lang="it-IT" sz="2000" b="1" dirty="0"/>
              <a:t>Esaustivo </a:t>
            </a:r>
            <a:r>
              <a:rPr lang="it-IT" sz="2000" dirty="0"/>
              <a:t>che esplora tutte le possibili combinazioni di percorsi per determinare la soluzione ottimale. Tale approccio garantisce sì una ricerca esaustiva, ma presenta un'elevata complessità computazionale. In particolare per una rete con n nodi, il numero totale di combinazioni da esaminare cresce in modo </a:t>
            </a:r>
            <a:r>
              <a:rPr lang="it-IT" sz="2000" b="1" dirty="0"/>
              <a:t>esponenziale</a:t>
            </a:r>
            <a:r>
              <a:rPr lang="it-IT" sz="2000" dirty="0"/>
              <a:t> (n! per un problema TSP).</a:t>
            </a:r>
          </a:p>
          <a:p>
            <a:r>
              <a:rPr lang="it-IT" sz="2000" dirty="0"/>
              <a:t>Questo rende il metodo impraticabile per reti di grandi dimensioni, poiché i tempi di calcolo diventano proibitivi.</a:t>
            </a:r>
          </a:p>
          <a:p>
            <a:r>
              <a:rPr lang="it-IT" sz="2000" dirty="0"/>
              <a:t>Ad esempio:</a:t>
            </a:r>
          </a:p>
          <a:p>
            <a:pPr marL="742950" lvl="1" indent="-285750">
              <a:buFont typeface="Arial" panose="020B0604020202020204" pitchFamily="34" charset="0"/>
              <a:buChar char="•"/>
            </a:pPr>
            <a:r>
              <a:rPr lang="it-IT" sz="2000" dirty="0"/>
              <a:t>Per n=10, il numero di permutazioni è 10!=3,6×10^6 </a:t>
            </a:r>
          </a:p>
          <a:p>
            <a:pPr marL="742950" lvl="1" indent="-285750">
              <a:buFont typeface="Arial" panose="020B0604020202020204" pitchFamily="34" charset="0"/>
              <a:buChar char="•"/>
            </a:pPr>
            <a:r>
              <a:rPr lang="it-IT" sz="2000" dirty="0"/>
              <a:t>Per n=</a:t>
            </a:r>
            <a:r>
              <a:rPr lang="it-IT" sz="2000" dirty="0">
                <a:solidFill>
                  <a:srgbClr val="FF0000"/>
                </a:solidFill>
              </a:rPr>
              <a:t>110709</a:t>
            </a:r>
            <a:r>
              <a:rPr lang="it-IT" sz="2000" dirty="0"/>
              <a:t>, il numero cresce a </a:t>
            </a:r>
            <a:r>
              <a:rPr lang="it-IT" sz="2000" dirty="0">
                <a:solidFill>
                  <a:srgbClr val="FF0000"/>
                </a:solidFill>
              </a:rPr>
              <a:t>110709</a:t>
            </a:r>
            <a:r>
              <a:rPr lang="it-IT" sz="2000" dirty="0"/>
              <a:t>!</a:t>
            </a:r>
          </a:p>
          <a:p>
            <a:pPr lvl="1"/>
            <a:r>
              <a:rPr lang="it-IT" sz="2000" dirty="0"/>
              <a:t>Questo impone un costo computazionale insostenibile anche per macchine con elevate capacità di calcolo.</a:t>
            </a:r>
          </a:p>
          <a:p>
            <a:r>
              <a:rPr lang="it-IT" sz="2000" dirty="0"/>
              <a:t>La complessità del problema motiva l'adozione di algoritmi più </a:t>
            </a:r>
            <a:r>
              <a:rPr lang="it-IT" sz="2000" b="1" dirty="0"/>
              <a:t>efficaci</a:t>
            </a:r>
            <a:r>
              <a:rPr lang="it-IT" sz="2000" dirty="0"/>
              <a:t> e </a:t>
            </a:r>
            <a:r>
              <a:rPr lang="it-IT" sz="2000" b="1" dirty="0"/>
              <a:t>scalabili</a:t>
            </a:r>
            <a:r>
              <a:rPr lang="it-IT" sz="2000" dirty="0"/>
              <a:t>. La soluzione da noi adottata è quella di un </a:t>
            </a:r>
            <a:r>
              <a:rPr lang="it-IT" sz="2000" b="1" dirty="0"/>
              <a:t>algoritmo genetico</a:t>
            </a:r>
            <a:r>
              <a:rPr lang="it-IT" sz="2000" dirty="0"/>
              <a:t>, il quale cerca soluzioni approssimate in tempi computazionali ridotti rispetto a quello di tipo esaustivo.</a:t>
            </a:r>
          </a:p>
          <a:p>
            <a:endParaRPr lang="it-IT" dirty="0"/>
          </a:p>
        </p:txBody>
      </p:sp>
    </p:spTree>
    <p:extLst>
      <p:ext uri="{BB962C8B-B14F-4D97-AF65-F5344CB8AC3E}">
        <p14:creationId xmlns:p14="http://schemas.microsoft.com/office/powerpoint/2010/main" val="4020143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strategie evolutive e gli algoritmi genetici si basano sull’evoluzione naturale per affrontare problemi di ottimizzazione, minimizzando una funzione costo (fitness) per identificare soluzioni ottimali. Operano su una </a:t>
            </a:r>
            <a:r>
              <a:rPr lang="it-IT" b="1" dirty="0"/>
              <a:t>popolazione di soluzioni</a:t>
            </a:r>
            <a:r>
              <a:rPr lang="it-IT" dirty="0"/>
              <a:t>, rappresentate da cromosomi (sequenze che codificano percorsi o configurazioni), e seguono sei fasi principali:</a:t>
            </a:r>
          </a:p>
          <a:p>
            <a:pPr>
              <a:buFont typeface="+mj-lt"/>
              <a:buAutoNum type="arabicPeriod"/>
            </a:pPr>
            <a:r>
              <a:rPr lang="it-IT" b="1" dirty="0"/>
              <a:t>Inizializzazione</a:t>
            </a:r>
            <a:r>
              <a:rPr lang="it-IT" dirty="0"/>
              <a:t>: Si genera una popolazione iniziale di soluzioni casuali. Ogni cromosoma rappresenta una possibile soluzione (ad esempio, percorsi e punti di ricarica). Questo approccio consente di esplorare diverse regioni dello spazio delle soluzioni contemporaneamente.</a:t>
            </a:r>
          </a:p>
          <a:p>
            <a:pPr>
              <a:buFont typeface="+mj-lt"/>
              <a:buAutoNum type="arabicPeriod"/>
            </a:pPr>
            <a:r>
              <a:rPr lang="it-IT" b="1" dirty="0"/>
              <a:t>Selezione</a:t>
            </a:r>
            <a:r>
              <a:rPr lang="it-IT" dirty="0"/>
              <a:t>: Si calcola la fitness di ogni cromosoma, che misura l’idoneità rispetto all’obiettivo (es. minimizzare il tempo di percorrenza). I cromosomi con una fitness migliore vengono scelti per la riproduzione, utilizzando metodi come la roulette </a:t>
            </a:r>
            <a:r>
              <a:rPr lang="it-IT" dirty="0" err="1"/>
              <a:t>wheel</a:t>
            </a:r>
            <a:r>
              <a:rPr lang="it-IT" dirty="0"/>
              <a:t>, che favorisce soluzioni più promettenti.</a:t>
            </a:r>
          </a:p>
          <a:p>
            <a:pPr>
              <a:buFont typeface="+mj-lt"/>
              <a:buAutoNum type="arabicPeriod"/>
            </a:pPr>
            <a:r>
              <a:rPr lang="it-IT" b="1" dirty="0"/>
              <a:t>Crossover</a:t>
            </a:r>
            <a:r>
              <a:rPr lang="it-IT" dirty="0"/>
              <a:t>: Si combinano coppie di cromosomi selezionati per creare nuovi cromosomi (soluzioni). Questo processo preserva informazioni essenziali dai genitori e introduce variazioni, permettendo di esplorare nuovi percorsi e migliorare le soluzioni.</a:t>
            </a:r>
          </a:p>
          <a:p>
            <a:pPr>
              <a:buFont typeface="+mj-lt"/>
              <a:buAutoNum type="arabicPeriod"/>
            </a:pPr>
            <a:r>
              <a:rPr lang="it-IT" b="1" dirty="0"/>
              <a:t>Mutazione</a:t>
            </a:r>
            <a:r>
              <a:rPr lang="it-IT" dirty="0"/>
              <a:t>: Alcuni geni dei cromosomi vengono modificati casualmente, introducendo ulteriore diversità. Questo meccanismo è essenziale per evitare di rimanere bloccati in minimi locali, migliorando le probabilità di trovare soluzioni globalmente ottimali.</a:t>
            </a:r>
          </a:p>
          <a:p>
            <a:pPr>
              <a:buFont typeface="+mj-lt"/>
              <a:buAutoNum type="arabicPeriod"/>
            </a:pPr>
            <a:r>
              <a:rPr lang="it-IT" b="1" dirty="0"/>
              <a:t>Valutazione</a:t>
            </a:r>
            <a:r>
              <a:rPr lang="it-IT" dirty="0"/>
              <a:t>: I cromosomi generati dopo il crossover e la mutazione vengono valutati calcolando la loro fitness. Le soluzioni migliori vengono mantenute per la generazione successiva.</a:t>
            </a:r>
          </a:p>
          <a:p>
            <a:pPr>
              <a:buFont typeface="+mj-lt"/>
              <a:buAutoNum type="arabicPeriod"/>
            </a:pPr>
            <a:r>
              <a:rPr lang="it-IT" b="1" dirty="0"/>
              <a:t>Iterazione</a:t>
            </a:r>
            <a:r>
              <a:rPr lang="it-IT" dirty="0"/>
              <a:t>: I processi di selezione, crossover e mutazione vengono ripetuti per un numero definito di iterazioni o fino a quando non si raggiunge una soluzione soddisfacente. Ogni iterazione mira a migliorare progressivamente la qualità della popolazione.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Abbiamo prima di tutto realizzato questo Flow Chart. In seguito abbiamo realizzato ogni modulo in Python singolarmente.</a:t>
            </a:r>
          </a:p>
          <a:p>
            <a:endParaRPr lang="it-IT" dirty="0"/>
          </a:p>
          <a:p>
            <a:r>
              <a:rPr lang="it-IT" dirty="0"/>
              <a:t>In particolare, dopo aver eseguito i passi mostrati nella slide successiva, abbiamo fatto in modo di  aggiungere un numero massimo di iterazioni. Queste iterazioni non vengono eseguite tutte, se la funzione obiettivo non sia migliorata per diverse iterazioni.</a:t>
            </a:r>
          </a:p>
        </p:txBody>
      </p:sp>
    </p:spTree>
    <p:extLst>
      <p:ext uri="{BB962C8B-B14F-4D97-AF65-F5344CB8AC3E}">
        <p14:creationId xmlns:p14="http://schemas.microsoft.com/office/powerpoint/2010/main" val="215864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Come primo passaggio vi è la generazione della popolazione iniziale. La popolazione iniziale sarà composta da un insieme di percorsi che andranno a rispettare il vincolo dell’autonomia. La funzione in esame avrà come ingressi il grafo che rappresenta la rete stradale, il nodo di partenza, il nodo di destinazione, l’autonomia del veicolo, il </a:t>
            </a:r>
            <a:r>
              <a:rPr lang="it-IT" dirty="0" err="1"/>
              <a:t>battery</a:t>
            </a:r>
            <a:r>
              <a:rPr lang="it-IT" dirty="0"/>
              <a:t> </a:t>
            </a:r>
            <a:r>
              <a:rPr lang="it-IT" dirty="0" err="1"/>
              <a:t>threeshold</a:t>
            </a:r>
            <a:r>
              <a:rPr lang="it-IT" dirty="0"/>
              <a:t>, il quale è una soglia oltre la quale andrò alla ricerca di una stazione di ricarica e il </a:t>
            </a:r>
            <a:r>
              <a:rPr lang="it-IT" dirty="0" err="1"/>
              <a:t>population_size</a:t>
            </a:r>
            <a:r>
              <a:rPr lang="it-IT" dirty="0"/>
              <a:t> che è la dimensione desiderata della lista, ovvero di quanti percorsi vorrei fosse composta la popolazione iniziale. Questa funzione per andare a calcolare i singoli percorsi utilizza un approccio </a:t>
            </a:r>
            <a:r>
              <a:rPr lang="it-IT" dirty="0" err="1"/>
              <a:t>greedy</a:t>
            </a:r>
            <a:r>
              <a:rPr lang="it-IT" dirty="0"/>
              <a:t>, ovvero costruiamo il percorso passo dopo passo, quando mi trovo nel nodo i-esimo andrò a vedere quali sono i vicini di quel nodo, li andrò a inserire in una lista e li ordino in base alla metrica del percorso più breve secondo </a:t>
            </a:r>
            <a:r>
              <a:rPr lang="it-IT" dirty="0" err="1"/>
              <a:t>Dijkstra</a:t>
            </a:r>
            <a:r>
              <a:rPr lang="it-IT" dirty="0"/>
              <a:t> scegliendo come peso il tempo di viaggio, andrò a scegliere il vicino attraverso un numero randomico. Quando vado sotto la soglia del </a:t>
            </a:r>
            <a:r>
              <a:rPr lang="it-IT" dirty="0" err="1"/>
              <a:t>battery</a:t>
            </a:r>
            <a:r>
              <a:rPr lang="it-IT" dirty="0"/>
              <a:t> </a:t>
            </a:r>
            <a:r>
              <a:rPr lang="it-IT" dirty="0" err="1"/>
              <a:t>threeshold</a:t>
            </a:r>
            <a:r>
              <a:rPr lang="it-IT" dirty="0"/>
              <a:t> mi discosterò da questo approccio e cercherò la stazione di ricarica più vicina, una volta trovata creo un sotto percorso dal nodo i-esimo a questa stazione con </a:t>
            </a:r>
            <a:r>
              <a:rPr lang="it-IT" dirty="0" err="1"/>
              <a:t>Dijkstra</a:t>
            </a:r>
            <a:r>
              <a:rPr lang="it-IT" dirty="0"/>
              <a:t> e riprenderò la ricerca </a:t>
            </a:r>
            <a:r>
              <a:rPr lang="it-IT" dirty="0" err="1"/>
              <a:t>greedy</a:t>
            </a:r>
            <a:r>
              <a:rPr lang="it-IT" dirty="0"/>
              <a:t> dal nodo stazione di ricarica, in output avrò una lista di percorsi che andrà a rappresentare la popolazione iniziale e la lunghezza di questa lista in quanto potrebbe essere inferiore al </a:t>
            </a:r>
            <a:r>
              <a:rPr lang="it-IT" dirty="0" err="1"/>
              <a:t>pop_size</a:t>
            </a:r>
            <a:r>
              <a:rPr lang="it-IT" dirty="0"/>
              <a:t> in quanto potrei avere con la ricerca </a:t>
            </a:r>
            <a:r>
              <a:rPr lang="it-IT" dirty="0" err="1"/>
              <a:t>greedy</a:t>
            </a:r>
            <a:r>
              <a:rPr lang="it-IT" dirty="0"/>
              <a:t> dei percorsi non validi in quanto potrebbe accadere che mentre raggiungo la stazione di ricarica più vicina la batteria non è sufficiente</a:t>
            </a:r>
          </a:p>
        </p:txBody>
      </p:sp>
    </p:spTree>
    <p:extLst>
      <p:ext uri="{BB962C8B-B14F-4D97-AF65-F5344CB8AC3E}">
        <p14:creationId xmlns:p14="http://schemas.microsoft.com/office/powerpoint/2010/main" val="4076134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Dopo la generazione della popolazione iniziale il passo successivo da fare è quello della selezione, l’obiettivo è scegliere gli individui che dovranno accoppiarsi per riprodursi in modo da andare a generare figli. Per la selezione è stato utilizzato il metodo della roulette </a:t>
            </a:r>
            <a:r>
              <a:rPr lang="it-IT" dirty="0" err="1"/>
              <a:t>wheel</a:t>
            </a:r>
            <a:r>
              <a:rPr lang="it-IT" dirty="0"/>
              <a:t> in cui ogni individuo avrà una probabilità di essere scelto proporzionale al proprio valore di fitness, divido l’intervallo [ 0 1] in segmenti, ogni segmento sarà associato a un individuo, quindi ad un percorso nel caso in esame, e la grandezza del segmento sarà proporzionale al valore di fitness, dopo di che genererò un numero randomico che cadrà in un segmento e verrà scelto l’individuo a cui appartiene il segmento dove decade il numero randomico. Da un punto di vista implementativo qui avremo in input la popolazione iniziale, i valori di fitness della popolazione iniziale e il numero di individui da scegliere pari a circa la metà del numero degli individui scelti nella popolazione iniziale.</a:t>
            </a:r>
          </a:p>
        </p:txBody>
      </p:sp>
    </p:spTree>
    <p:extLst>
      <p:ext uri="{BB962C8B-B14F-4D97-AF65-F5344CB8AC3E}">
        <p14:creationId xmlns:p14="http://schemas.microsoft.com/office/powerpoint/2010/main" val="1387998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La fase di crossover serve per generare dei figli, è  stato scelto un crossover one-point di tipo additivo, di tipo additivo in modo da non andare a cancellare i genitori che potrebbero avere una buona fitness e quindi in questo modo li andiamo a considerare nella competizione. Avremo in input i 2 genitori, la rete stradale sotto forma di grafo l’autonomia e il </a:t>
            </a:r>
            <a:r>
              <a:rPr lang="it-IT" dirty="0" err="1"/>
              <a:t>battery</a:t>
            </a:r>
            <a:r>
              <a:rPr lang="it-IT" dirty="0"/>
              <a:t> </a:t>
            </a:r>
            <a:r>
              <a:rPr lang="it-IT" dirty="0" err="1"/>
              <a:t>threeshold</a:t>
            </a:r>
            <a:r>
              <a:rPr lang="it-IT" dirty="0"/>
              <a:t>, qui sono presenti autonomia e </a:t>
            </a:r>
            <a:r>
              <a:rPr lang="it-IT" dirty="0" err="1"/>
              <a:t>battery</a:t>
            </a:r>
            <a:r>
              <a:rPr lang="it-IT" dirty="0"/>
              <a:t> </a:t>
            </a:r>
            <a:r>
              <a:rPr lang="it-IT" dirty="0" err="1"/>
              <a:t>threeshold</a:t>
            </a:r>
            <a:r>
              <a:rPr lang="it-IT" dirty="0"/>
              <a:t> per andare a verificare che i figli generati siano dei percorsi validi in ottica autonomia, è stata scritta una funzione </a:t>
            </a:r>
            <a:r>
              <a:rPr lang="it-IT" dirty="0" err="1"/>
              <a:t>is</a:t>
            </a:r>
            <a:r>
              <a:rPr lang="it-IT" dirty="0"/>
              <a:t> </a:t>
            </a:r>
            <a:r>
              <a:rPr lang="it-IT" dirty="0" err="1"/>
              <a:t>valid</a:t>
            </a:r>
            <a:r>
              <a:rPr lang="it-IT" dirty="0"/>
              <a:t> </a:t>
            </a:r>
            <a:r>
              <a:rPr lang="it-IT" dirty="0" err="1"/>
              <a:t>path</a:t>
            </a:r>
            <a:r>
              <a:rPr lang="it-IT" dirty="0"/>
              <a:t> che va a verificare la validità del vincolo dell’autonomia. Questo crossover funziona nel seguente modo: viene scelto un nodo in comune tra primo e secondo genitore, andrò a generare due figli, il primo figlio prende il patrimonio genetico fino all’indice del nodo scelto randomicamente del primo genitore, e dall’indice successivo al nodo finale dal secondo genitore, il secondo figlio farà l’inverso, prende il patrimonio genetico fino all’indice del nodo scelto randomicamente del secondo genitore e dal successivo fino alla fine del primo genitore, una volta generati i figli andremo, con la funzione </a:t>
            </a:r>
            <a:r>
              <a:rPr lang="it-IT" dirty="0" err="1"/>
              <a:t>is</a:t>
            </a:r>
            <a:r>
              <a:rPr lang="it-IT" dirty="0"/>
              <a:t> </a:t>
            </a:r>
            <a:r>
              <a:rPr lang="it-IT" dirty="0" err="1"/>
              <a:t>valid</a:t>
            </a:r>
            <a:r>
              <a:rPr lang="it-IT" dirty="0"/>
              <a:t> </a:t>
            </a:r>
            <a:r>
              <a:rPr lang="it-IT" dirty="0" err="1"/>
              <a:t>path</a:t>
            </a:r>
            <a:r>
              <a:rPr lang="it-IT" dirty="0"/>
              <a:t> a verificare il rispetto del vincolo dell’autonomia e in output avremo, se rispettato il vincolo i 2 figli</a:t>
            </a:r>
          </a:p>
        </p:txBody>
      </p:sp>
    </p:spTree>
    <p:extLst>
      <p:ext uri="{BB962C8B-B14F-4D97-AF65-F5344CB8AC3E}">
        <p14:creationId xmlns:p14="http://schemas.microsoft.com/office/powerpoint/2010/main" val="2207930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La fase di mutazione porta nei percorsi dei cambiamenti randomici, avremo in input il grafo, il percorso in esame l’autonomia e il </a:t>
            </a:r>
            <a:r>
              <a:rPr lang="it-IT" dirty="0" err="1"/>
              <a:t>battery</a:t>
            </a:r>
            <a:r>
              <a:rPr lang="it-IT" dirty="0"/>
              <a:t> </a:t>
            </a:r>
            <a:r>
              <a:rPr lang="it-IT" dirty="0" err="1"/>
              <a:t>threeshold</a:t>
            </a:r>
            <a:r>
              <a:rPr lang="it-IT" dirty="0"/>
              <a:t>. Andremo a scegliere randomicamente un nodo nel percorso e andremo a modificare il percorso andando a cercare il percorso più breve da quel nodo al nodo di destinazione secondo </a:t>
            </a:r>
            <a:r>
              <a:rPr lang="it-IT" dirty="0" err="1"/>
              <a:t>Dijkstra</a:t>
            </a:r>
            <a:r>
              <a:rPr lang="it-IT" dirty="0"/>
              <a:t>. Una volta trovato questo percorso con </a:t>
            </a:r>
            <a:r>
              <a:rPr lang="it-IT" dirty="0" err="1"/>
              <a:t>Dijkstra</a:t>
            </a:r>
            <a:r>
              <a:rPr lang="it-IT" dirty="0"/>
              <a:t> andrò ad unire questo percorso al percorso iniziale fino al nodo 1. Qui sono presenti l’autonomia e il </a:t>
            </a:r>
            <a:r>
              <a:rPr lang="it-IT" dirty="0" err="1"/>
              <a:t>battery</a:t>
            </a:r>
            <a:r>
              <a:rPr lang="it-IT" dirty="0"/>
              <a:t> </a:t>
            </a:r>
            <a:r>
              <a:rPr lang="it-IT" dirty="0" err="1"/>
              <a:t>threeshold</a:t>
            </a:r>
            <a:r>
              <a:rPr lang="it-IT" dirty="0"/>
              <a:t> perché andrò a verificare l’autonomia e se scendo sotto la soglia di </a:t>
            </a:r>
            <a:r>
              <a:rPr lang="it-IT" dirty="0" err="1"/>
              <a:t>battery</a:t>
            </a:r>
            <a:r>
              <a:rPr lang="it-IT" dirty="0"/>
              <a:t> </a:t>
            </a:r>
            <a:r>
              <a:rPr lang="it-IT" dirty="0" err="1"/>
              <a:t>threeshold</a:t>
            </a:r>
            <a:r>
              <a:rPr lang="it-IT" dirty="0"/>
              <a:t> andrò, come nella generazione di popolazione, a cercare la colonnina più vicina andando sempre con </a:t>
            </a:r>
            <a:r>
              <a:rPr lang="it-IT" dirty="0" err="1"/>
              <a:t>Dijsktrsa</a:t>
            </a:r>
            <a:r>
              <a:rPr lang="it-IT" dirty="0"/>
              <a:t> dal nodo i-esimo alla stazione e poi dalla stazione al nodo i+1esimo.</a:t>
            </a:r>
          </a:p>
        </p:txBody>
      </p:sp>
    </p:spTree>
    <p:extLst>
      <p:ext uri="{BB962C8B-B14F-4D97-AF65-F5344CB8AC3E}">
        <p14:creationId xmlns:p14="http://schemas.microsoft.com/office/powerpoint/2010/main" val="891144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Tutti questi percorsi con le loro fitness saranno aggiunte a un dizionario, questo dizionario avrà come chiave il percorso e come valore il valore di fitness che andrà a rispecchiare il tempo di percorrenza, andrò ad ordinare questo dizionario con la funzione </a:t>
            </a:r>
            <a:r>
              <a:rPr lang="it-IT" dirty="0" err="1"/>
              <a:t>sorted</a:t>
            </a:r>
            <a:r>
              <a:rPr lang="it-IT" dirty="0"/>
              <a:t> di </a:t>
            </a:r>
            <a:r>
              <a:rPr lang="it-IT" dirty="0" err="1"/>
              <a:t>python</a:t>
            </a:r>
            <a:r>
              <a:rPr lang="it-IT" dirty="0"/>
              <a:t> in base ai valori di fitness in maniera che alla generazione i-esima il primo elemento sarà quello con la fitness più bassa e quindi sarà il percorso migliore fino a quel momento.</a:t>
            </a:r>
            <a:endParaRPr lang="it-IT" b="0" dirty="0"/>
          </a:p>
          <a:p>
            <a:endParaRPr lang="it-IT" b="0" dirty="0"/>
          </a:p>
          <a:p>
            <a:endParaRPr lang="it-IT" b="1" dirty="0"/>
          </a:p>
        </p:txBody>
      </p:sp>
    </p:spTree>
    <p:extLst>
      <p:ext uri="{BB962C8B-B14F-4D97-AF65-F5344CB8AC3E}">
        <p14:creationId xmlns:p14="http://schemas.microsoft.com/office/powerpoint/2010/main" val="3942939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L’algoritmo avrà un numero fissato di iterazioni ma se non ci sono dei miglioramenti significativi abbiamo bisogno di un criterio di arresto che stoppi l’algoritmo in modo da non fare iterazioni dispendiose </a:t>
            </a:r>
            <a:r>
              <a:rPr lang="it-IT" dirty="0" err="1"/>
              <a:t>computazionalmente</a:t>
            </a:r>
            <a:r>
              <a:rPr lang="it-IT" dirty="0"/>
              <a:t> che potrebbero non essere necessarie, il criterio di arresto implementato in questo algoritmo si basa su un valore di </a:t>
            </a:r>
            <a:r>
              <a:rPr lang="it-IT" dirty="0" err="1"/>
              <a:t>threeshold</a:t>
            </a:r>
            <a:r>
              <a:rPr lang="it-IT" dirty="0"/>
              <a:t> espresso in secondi, ovvero se per un certo numero di generazioni, ad esempio 5, la nostra funzione di fitness ha un miglioramento molto piccolo, al più di questo valore di </a:t>
            </a:r>
            <a:r>
              <a:rPr lang="it-IT" dirty="0" err="1"/>
              <a:t>threeshold</a:t>
            </a:r>
            <a:r>
              <a:rPr lang="it-IT" dirty="0"/>
              <a:t> interrompo le iterazioni e stopperò l’algoritmo</a:t>
            </a:r>
          </a:p>
        </p:txBody>
      </p:sp>
    </p:spTree>
    <p:extLst>
      <p:ext uri="{BB962C8B-B14F-4D97-AF65-F5344CB8AC3E}">
        <p14:creationId xmlns:p14="http://schemas.microsoft.com/office/powerpoint/2010/main" val="3499732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È stato implementato anche un vincolo sul costo, è stato definito un budget massimo in euro che non può essere superato. La funzione che determina il costo del tragitto avrà in input il grafo, il dizionario con gli individui e un costo del pedaggio al metro se ci troviamo in un arco di tipo «</a:t>
            </a:r>
            <a:r>
              <a:rPr lang="it-IT" dirty="0" err="1"/>
              <a:t>motorway</a:t>
            </a:r>
            <a:r>
              <a:rPr lang="it-IT" dirty="0"/>
              <a:t>», ovvero un’autostrada. Il costo del viaggio sarà calcolato come la somma di questo eventuale pedaggio più il costo dei </a:t>
            </a:r>
            <a:r>
              <a:rPr lang="it-IT" dirty="0" err="1"/>
              <a:t>kwh</a:t>
            </a:r>
            <a:r>
              <a:rPr lang="it-IT" dirty="0"/>
              <a:t> consumati calcolati come i </a:t>
            </a:r>
            <a:r>
              <a:rPr lang="it-IT" dirty="0" err="1"/>
              <a:t>kwh</a:t>
            </a:r>
            <a:r>
              <a:rPr lang="it-IT" dirty="0"/>
              <a:t> consumati per il costo al </a:t>
            </a:r>
            <a:r>
              <a:rPr lang="it-IT" dirty="0" err="1"/>
              <a:t>kwh</a:t>
            </a:r>
            <a:r>
              <a:rPr lang="it-IT" dirty="0"/>
              <a:t>.</a:t>
            </a:r>
          </a:p>
        </p:txBody>
      </p:sp>
    </p:spTree>
    <p:extLst>
      <p:ext uri="{BB962C8B-B14F-4D97-AF65-F5344CB8AC3E}">
        <p14:creationId xmlns:p14="http://schemas.microsoft.com/office/powerpoint/2010/main" val="23713749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Abbiamo utilizzato questi parametri per la simulazione dell’algoritmo:</a:t>
            </a:r>
          </a:p>
          <a:p>
            <a:r>
              <a:rPr lang="it-IT" dirty="0"/>
              <a:t>Abbiamo scelto due città avente la stessa distanza sia per la Lombardia che con la Calabria. Autonomia di 10kWh con un </a:t>
            </a:r>
            <a:r>
              <a:rPr lang="it-IT" dirty="0" err="1"/>
              <a:t>battery</a:t>
            </a:r>
            <a:r>
              <a:rPr lang="it-IT" dirty="0"/>
              <a:t> </a:t>
            </a:r>
            <a:r>
              <a:rPr lang="it-IT" dirty="0" err="1"/>
              <a:t>Threshold</a:t>
            </a:r>
            <a:r>
              <a:rPr lang="it-IT" dirty="0"/>
              <a:t> (cioè a quale percentuale bisogna cercare una colonnina) del 30%. Abbiamo scelto questo valore in quanto, durante i test, abbiamo notato che l’algoritmo non riusciva ad ottenere il percorso ottimo, in quanto la batteria arriva allo 0; questo perché nel 2019 le colonnine non erano distribuite perfettamente nella regione calabra. Quindi se rispecchiamo la realtà di fare 10km circa per ogni kWh, abbiamo aumentato la percentuale attraverso la quale bisogna cercare una stazione di sostituzione delle batterie; altrimenti aumentando l’autonomia, poteva significare non fermarsi mai nelle stazioni di ricarica.</a:t>
            </a:r>
          </a:p>
          <a:p>
            <a:endParaRPr lang="it-IT" dirty="0"/>
          </a:p>
          <a:p>
            <a:r>
              <a:rPr lang="it-IT" dirty="0"/>
              <a:t>Poi abbiamo la </a:t>
            </a:r>
            <a:r>
              <a:rPr lang="it-IT" b="1" dirty="0" err="1"/>
              <a:t>population</a:t>
            </a:r>
            <a:r>
              <a:rPr lang="it-IT" b="1" dirty="0"/>
              <a:t> size</a:t>
            </a:r>
            <a:r>
              <a:rPr lang="it-IT" dirty="0"/>
              <a:t>, che determina la dimensione delle generazioni iniziali, quindi la generazione dei percorso pseudocasuali.</a:t>
            </a:r>
          </a:p>
          <a:p>
            <a:endParaRPr lang="it-IT" dirty="0"/>
          </a:p>
          <a:p>
            <a:r>
              <a:rPr lang="it-IT" dirty="0"/>
              <a:t>Come </a:t>
            </a:r>
            <a:r>
              <a:rPr lang="it-IT" b="1" dirty="0"/>
              <a:t>Numero di generazioni </a:t>
            </a:r>
            <a:r>
              <a:rPr lang="it-IT" dirty="0"/>
              <a:t>intendiamo il numero di volte in cui dobbiamo fare le operazioni di riproduzione, mutuazione e cross-over.</a:t>
            </a:r>
          </a:p>
          <a:p>
            <a:endParaRPr lang="it-IT" dirty="0"/>
          </a:p>
          <a:p>
            <a:r>
              <a:rPr lang="it-IT" dirty="0"/>
              <a:t>Con Criterio di Arresto e Fitness </a:t>
            </a:r>
            <a:r>
              <a:rPr lang="it-IT" dirty="0" err="1"/>
              <a:t>Threshoold</a:t>
            </a:r>
            <a:r>
              <a:rPr lang="it-IT" dirty="0"/>
              <a:t> intendiamo che se delta calcolato come la differenza in valore assoluto tra la fitness migliore di un passo, e la fitness migliore del passo precedente, il delta è minore del fitness </a:t>
            </a:r>
            <a:r>
              <a:rPr lang="it-IT" dirty="0" err="1"/>
              <a:t>thresold</a:t>
            </a:r>
            <a:r>
              <a:rPr lang="it-IT" dirty="0"/>
              <a:t> per 5 volte consecutive, allora l’algoritmo terminerebbe la sua esecuzione.</a:t>
            </a:r>
          </a:p>
          <a:p>
            <a:endParaRPr lang="it-IT" dirty="0"/>
          </a:p>
          <a:p>
            <a:r>
              <a:rPr lang="it-IT" dirty="0"/>
              <a:t>Le simulazioni dell'algoritmo sono state condotte considerando un percorso di pari lunghezza in due regioni caratterizzate da proprietà diametralmente opposte. La prima regione, la Lombardia, è caratterizzata da un'alta densità di colonnine di ricarica e da un grafo particolarmente denso. La seconda regione, la Calabria, presenta invece un numero significativamente inferiore di colonnine, distribuite in modo più sparso, con un grafo meno denso.</a:t>
            </a:r>
          </a:p>
        </p:txBody>
      </p:sp>
    </p:spTree>
    <p:extLst>
      <p:ext uri="{BB962C8B-B14F-4D97-AF65-F5344CB8AC3E}">
        <p14:creationId xmlns:p14="http://schemas.microsoft.com/office/powerpoint/2010/main" val="2185501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Il tempo di esecuzione è inclusa dalla generazione della popolazione iniziale. Ha effettuato correttamente 1 carica per arrivare a destinazione. Il tempo in esecuzione è di circa 30 minuti.</a:t>
            </a:r>
          </a:p>
          <a:p>
            <a:endParaRPr lang="it-IT" dirty="0"/>
          </a:p>
        </p:txBody>
      </p:sp>
    </p:spTree>
    <p:extLst>
      <p:ext uri="{BB962C8B-B14F-4D97-AF65-F5344CB8AC3E}">
        <p14:creationId xmlns:p14="http://schemas.microsoft.com/office/powerpoint/2010/main" val="40232933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r>
              <a:rPr lang="it-IT" dirty="0"/>
              <a:t>Il tempo di esecuzione è di circa 5 ore, ciò probabilmente è dovuto dalla densità di strade percorribili.</a:t>
            </a:r>
          </a:p>
          <a:p>
            <a:r>
              <a:rPr lang="it-IT" dirty="0"/>
              <a:t>Il numero di ricariche sono state 2, poiché mettendo un </a:t>
            </a:r>
            <a:r>
              <a:rPr lang="it-IT" dirty="0" err="1"/>
              <a:t>threshold</a:t>
            </a:r>
            <a:r>
              <a:rPr lang="it-IT" dirty="0"/>
              <a:t> del 30%, il veicolo ha sostituito le batterie appena arrivato al 30% di autonomia, avendo a disposizione la colonnina vicino. La stessa cosa dopo 70km percorsi.</a:t>
            </a:r>
          </a:p>
        </p:txBody>
      </p:sp>
    </p:spTree>
    <p:extLst>
      <p:ext uri="{BB962C8B-B14F-4D97-AF65-F5344CB8AC3E}">
        <p14:creationId xmlns:p14="http://schemas.microsoft.com/office/powerpoint/2010/main" val="3498172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confronto tra i tempi di esecuzione dell’algoritmo applicato alla Lombardia e alla Calabria evidenzia che, a parità di distanza, l'algoritmo impiega più tempo nella regione lombarda. Questo risultato è probabilmente attribuibile alla maggiore densità di strade presenti in Lombardia rispetto alla Calabria.</a:t>
            </a:r>
          </a:p>
          <a:p>
            <a:r>
              <a:rPr lang="it-IT" dirty="0"/>
              <a:t>Inoltre, è stato testato un algoritmo esaustivo che, tuttavia, non è mai riuscito a raggiungere la convergenza durante le prove effettuate.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endParaRPr lang="it-IT" dirty="0"/>
          </a:p>
        </p:txBody>
      </p:sp>
    </p:spTree>
    <p:extLst>
      <p:ext uri="{BB962C8B-B14F-4D97-AF65-F5344CB8AC3E}">
        <p14:creationId xmlns:p14="http://schemas.microsoft.com/office/powerpoint/2010/main" val="689480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hemeOverride" Target="../theme/themeOverride1.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95376"/>
            <a:ext cx="7556421" cy="2177415"/>
          </a:xfrm>
          <a:prstGeom prst="rect">
            <a:avLst/>
          </a:prstGeom>
          <a:noFill/>
          <a:ln/>
        </p:spPr>
        <p:txBody>
          <a:bodyPr wrap="square" lIns="0" tIns="0" rIns="0" bIns="0" rtlCol="0" anchor="t"/>
          <a:lstStyle/>
          <a:p>
            <a:pPr marL="0" indent="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Introduzione al </a:t>
            </a:r>
            <a:r>
              <a:rPr lang="it-IT" sz="4450" b="1" dirty="0">
                <a:solidFill>
                  <a:srgbClr val="231971"/>
                </a:solidFill>
                <a:latin typeface="Outfit Extra Bold" pitchFamily="34" charset="0"/>
                <a:ea typeface="Outfit Extra Bold" pitchFamily="34" charset="-122"/>
                <a:cs typeface="Outfit Extra Bold" pitchFamily="34" charset="-120"/>
              </a:rPr>
              <a:t>problema</a:t>
            </a:r>
            <a:r>
              <a:rPr lang="en-US" sz="4450" b="1" dirty="0">
                <a:solidFill>
                  <a:srgbClr val="231971"/>
                </a:solidFill>
                <a:latin typeface="Outfit Extra Bold" pitchFamily="34" charset="0"/>
                <a:ea typeface="Outfit Extra Bold" pitchFamily="34" charset="-122"/>
                <a:cs typeface="Outfit Extra Bold" pitchFamily="34" charset="-120"/>
              </a:rPr>
              <a:t> d</a:t>
            </a:r>
            <a:r>
              <a:rPr lang="it-IT" sz="4450" b="1" dirty="0">
                <a:solidFill>
                  <a:srgbClr val="231971"/>
                </a:solidFill>
                <a:latin typeface="Outfit Extra Bold" pitchFamily="34" charset="0"/>
                <a:ea typeface="Outfit Extra Bold" pitchFamily="34" charset="-122"/>
                <a:cs typeface="Outfit Extra Bold" pitchFamily="34" charset="-120"/>
              </a:rPr>
              <a:t>di </a:t>
            </a:r>
            <a:r>
              <a:rPr lang="it-IT" sz="4450" b="1" dirty="0" err="1">
                <a:solidFill>
                  <a:srgbClr val="231971"/>
                </a:solidFill>
                <a:latin typeface="Outfit Extra Bold" pitchFamily="34" charset="0"/>
                <a:ea typeface="Outfit Extra Bold" pitchFamily="34" charset="-122"/>
                <a:cs typeface="Outfit Extra Bold" pitchFamily="34" charset="-120"/>
              </a:rPr>
              <a:t>routing</a:t>
            </a:r>
            <a:r>
              <a:rPr lang="it-IT" sz="4450" b="1" dirty="0">
                <a:solidFill>
                  <a:srgbClr val="231971"/>
                </a:solidFill>
                <a:latin typeface="Outfit Extra Bold" pitchFamily="34" charset="0"/>
                <a:ea typeface="Outfit Extra Bold" pitchFamily="34" charset="-122"/>
                <a:cs typeface="Outfit Extra Bold" pitchFamily="34" charset="-120"/>
              </a:rPr>
              <a:t> </a:t>
            </a:r>
            <a:r>
              <a:rPr lang="en-US" sz="4450" b="1" dirty="0">
                <a:solidFill>
                  <a:srgbClr val="231971"/>
                </a:solidFill>
                <a:latin typeface="Outfit Extra Bold" pitchFamily="34" charset="0"/>
                <a:ea typeface="Outfit Extra Bold" pitchFamily="34" charset="-122"/>
                <a:cs typeface="Outfit Extra Bold" pitchFamily="34" charset="-120"/>
              </a:rPr>
              <a:t>per </a:t>
            </a:r>
            <a:r>
              <a:rPr lang="en-US" sz="4450" b="1" dirty="0" err="1">
                <a:solidFill>
                  <a:srgbClr val="231971"/>
                </a:solidFill>
                <a:latin typeface="Outfit Extra Bold" pitchFamily="34" charset="0"/>
                <a:ea typeface="Outfit Extra Bold" pitchFamily="34" charset="-122"/>
                <a:cs typeface="Outfit Extra Bold" pitchFamily="34" charset="-120"/>
              </a:rPr>
              <a:t>veicoli</a:t>
            </a:r>
            <a:r>
              <a:rPr lang="en-US" sz="4450" b="1" dirty="0">
                <a:solidFill>
                  <a:srgbClr val="231971"/>
                </a:solidFill>
                <a:latin typeface="Outfit Extra Bold" pitchFamily="34" charset="0"/>
                <a:ea typeface="Outfit Extra Bold" pitchFamily="34" charset="-122"/>
                <a:cs typeface="Outfit Extra Bold" pitchFamily="34" charset="-120"/>
              </a:rPr>
              <a:t> </a:t>
            </a:r>
            <a:r>
              <a:rPr lang="en-US" sz="4450" b="1" dirty="0" err="1">
                <a:solidFill>
                  <a:srgbClr val="231971"/>
                </a:solidFill>
                <a:latin typeface="Outfit Extra Bold" pitchFamily="34" charset="0"/>
                <a:ea typeface="Outfit Extra Bold" pitchFamily="34" charset="-122"/>
                <a:cs typeface="Outfit Extra Bold" pitchFamily="34" charset="-120"/>
              </a:rPr>
              <a:t>elettrici</a:t>
            </a:r>
            <a:endParaRPr lang="en-US" sz="4450" dirty="0"/>
          </a:p>
        </p:txBody>
      </p:sp>
      <p:sp>
        <p:nvSpPr>
          <p:cNvPr id="4" name="Text 1"/>
          <p:cNvSpPr/>
          <p:nvPr/>
        </p:nvSpPr>
        <p:spPr>
          <a:xfrm>
            <a:off x="793790" y="1982190"/>
            <a:ext cx="7556421" cy="2177415"/>
          </a:xfrm>
          <a:prstGeom prst="rect">
            <a:avLst/>
          </a:prstGeom>
          <a:noFill/>
          <a:ln/>
        </p:spPr>
        <p:txBody>
          <a:bodyPr wrap="square" lIns="0" tIns="0" rIns="0" bIns="0" rtlCol="0" anchor="t"/>
          <a:lstStyle/>
          <a:p>
            <a:pPr marL="0" indent="0">
              <a:lnSpc>
                <a:spcPts val="2850"/>
              </a:lnSpc>
              <a:buNone/>
            </a:pPr>
            <a:endParaRPr lang="en-US" sz="1750" dirty="0"/>
          </a:p>
        </p:txBody>
      </p:sp>
      <p:sp>
        <p:nvSpPr>
          <p:cNvPr id="5" name="Shape 2"/>
          <p:cNvSpPr/>
          <p:nvPr/>
        </p:nvSpPr>
        <p:spPr>
          <a:xfrm>
            <a:off x="793790" y="6750800"/>
            <a:ext cx="362903" cy="362903"/>
          </a:xfrm>
          <a:prstGeom prst="roundRect">
            <a:avLst>
              <a:gd name="adj" fmla="val 25194296"/>
            </a:avLst>
          </a:prstGeom>
          <a:noFill/>
          <a:ln w="7620">
            <a:solidFill>
              <a:srgbClr val="FFFFFF"/>
            </a:solidFill>
            <a:prstDash val="solid"/>
          </a:ln>
        </p:spPr>
        <p:txBody>
          <a:bodyPr/>
          <a:lstStyle/>
          <a:p>
            <a:endParaRPr lang="it-IT"/>
          </a:p>
        </p:txBody>
      </p:sp>
      <p:sp>
        <p:nvSpPr>
          <p:cNvPr id="9" name="CasellaDiTesto 8">
            <a:extLst>
              <a:ext uri="{FF2B5EF4-FFF2-40B4-BE49-F238E27FC236}">
                <a16:creationId xmlns:a16="http://schemas.microsoft.com/office/drawing/2014/main" id="{3F348DAC-1959-EB38-8F15-397F95DF064F}"/>
              </a:ext>
            </a:extLst>
          </p:cNvPr>
          <p:cNvSpPr txBox="1"/>
          <p:nvPr/>
        </p:nvSpPr>
        <p:spPr>
          <a:xfrm>
            <a:off x="793790" y="3376136"/>
            <a:ext cx="7315200" cy="3477875"/>
          </a:xfrm>
          <a:prstGeom prst="rect">
            <a:avLst/>
          </a:prstGeom>
          <a:noFill/>
        </p:spPr>
        <p:txBody>
          <a:bodyPr wrap="square">
            <a:spAutoFit/>
          </a:bodyPr>
          <a:lstStyle/>
          <a:p>
            <a:pPr marL="742950" indent="-742950" algn="just">
              <a:buFont typeface="+mj-lt"/>
              <a:buAutoNum type="arabicPeriod"/>
            </a:pPr>
            <a:r>
              <a:rPr lang="it-IT" sz="4400" dirty="0"/>
              <a:t>Caso in esame</a:t>
            </a:r>
          </a:p>
          <a:p>
            <a:pPr marL="742950" indent="-742950" algn="just">
              <a:buFont typeface="+mj-lt"/>
              <a:buAutoNum type="arabicPeriod"/>
            </a:pPr>
            <a:endParaRPr lang="it-IT" sz="4400" dirty="0"/>
          </a:p>
          <a:p>
            <a:pPr marL="742950" indent="-742950" algn="just">
              <a:buFont typeface="+mj-lt"/>
              <a:buAutoNum type="arabicPeriod"/>
            </a:pPr>
            <a:r>
              <a:rPr lang="it-IT" sz="4400" dirty="0"/>
              <a:t>Obiettivo del problema</a:t>
            </a:r>
          </a:p>
          <a:p>
            <a:pPr marL="742950" indent="-742950" algn="just">
              <a:buFont typeface="+mj-lt"/>
              <a:buAutoNum type="arabicPeriod"/>
            </a:pPr>
            <a:endParaRPr lang="it-IT" sz="4400" dirty="0"/>
          </a:p>
          <a:p>
            <a:pPr marL="742950" indent="-742950" algn="just">
              <a:buFont typeface="+mj-lt"/>
              <a:buAutoNum type="arabicPeriod"/>
            </a:pPr>
            <a:r>
              <a:rPr lang="it-IT" sz="4400" dirty="0"/>
              <a:t>Algoritmo utilizzato</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 calcmode="lin" valueType="num">
                                      <p:cBhvr additive="base">
                                        <p:cTn id="19"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071" y="548760"/>
            <a:ext cx="11593592" cy="676870"/>
          </a:xfrm>
          <a:prstGeom prst="rect">
            <a:avLst/>
          </a:prstGeom>
          <a:noFill/>
          <a:ln/>
        </p:spPr>
        <p:txBody>
          <a:bodyPr wrap="none" lIns="0" tIns="0" rIns="0" bIns="0" rtlCol="0" anchor="t"/>
          <a:lstStyle/>
          <a:p>
            <a:pPr marL="0" indent="0">
              <a:lnSpc>
                <a:spcPts val="5300"/>
              </a:lnSpc>
              <a:buNone/>
            </a:pPr>
            <a:r>
              <a:rPr lang="en-US" sz="4250" b="1" dirty="0" err="1">
                <a:solidFill>
                  <a:srgbClr val="231971"/>
                </a:solidFill>
                <a:latin typeface="Outfit Extra Bold" pitchFamily="34" charset="0"/>
                <a:ea typeface="Outfit Extra Bold" pitchFamily="34" charset="-122"/>
                <a:cs typeface="Outfit Extra Bold" pitchFamily="34" charset="-120"/>
              </a:rPr>
              <a:t>Formalizzazione</a:t>
            </a:r>
            <a:r>
              <a:rPr lang="en-US" sz="4250" b="1" dirty="0">
                <a:solidFill>
                  <a:srgbClr val="231971"/>
                </a:solidFill>
                <a:latin typeface="Outfit Extra Bold" pitchFamily="34" charset="0"/>
                <a:ea typeface="Outfit Extra Bold" pitchFamily="34" charset="-122"/>
                <a:cs typeface="Outfit Extra Bold" pitchFamily="34" charset="-120"/>
              </a:rPr>
              <a:t> </a:t>
            </a:r>
            <a:r>
              <a:rPr lang="en-US" sz="4250" b="1" dirty="0" err="1">
                <a:solidFill>
                  <a:srgbClr val="231971"/>
                </a:solidFill>
                <a:latin typeface="Outfit Extra Bold" pitchFamily="34" charset="0"/>
                <a:ea typeface="Outfit Extra Bold" pitchFamily="34" charset="-122"/>
                <a:cs typeface="Outfit Extra Bold" pitchFamily="34" charset="-120"/>
              </a:rPr>
              <a:t>teorica</a:t>
            </a:r>
            <a:r>
              <a:rPr lang="en-US" sz="4250" b="1" dirty="0">
                <a:solidFill>
                  <a:srgbClr val="231971"/>
                </a:solidFill>
                <a:latin typeface="Outfit Extra Bold" pitchFamily="34" charset="0"/>
                <a:ea typeface="Outfit Extra Bold" pitchFamily="34" charset="-122"/>
                <a:cs typeface="Outfit Extra Bold" pitchFamily="34" charset="-120"/>
              </a:rPr>
              <a:t> del </a:t>
            </a:r>
            <a:r>
              <a:rPr lang="en-US" sz="4250" b="1" dirty="0" err="1">
                <a:solidFill>
                  <a:srgbClr val="231971"/>
                </a:solidFill>
                <a:latin typeface="Outfit Extra Bold" pitchFamily="34" charset="0"/>
                <a:ea typeface="Outfit Extra Bold" pitchFamily="34" charset="-122"/>
                <a:cs typeface="Outfit Extra Bold" pitchFamily="34" charset="-120"/>
              </a:rPr>
              <a:t>problema</a:t>
            </a:r>
            <a:endParaRPr lang="en-US" sz="4250" dirty="0"/>
          </a:p>
        </p:txBody>
      </p:sp>
      <p:pic>
        <p:nvPicPr>
          <p:cNvPr id="3" name="Image 0" descr="preencoded.png"/>
          <p:cNvPicPr>
            <a:picLocks noChangeAspect="1"/>
          </p:cNvPicPr>
          <p:nvPr/>
        </p:nvPicPr>
        <p:blipFill>
          <a:blip r:embed="rId3"/>
          <a:stretch>
            <a:fillRect/>
          </a:stretch>
        </p:blipFill>
        <p:spPr>
          <a:xfrm>
            <a:off x="2954655" y="2224207"/>
            <a:ext cx="2163842" cy="1594366"/>
          </a:xfrm>
          <a:prstGeom prst="rect">
            <a:avLst/>
          </a:prstGeom>
        </p:spPr>
      </p:pic>
      <p:sp>
        <p:nvSpPr>
          <p:cNvPr id="4" name="Text 1"/>
          <p:cNvSpPr/>
          <p:nvPr/>
        </p:nvSpPr>
        <p:spPr>
          <a:xfrm>
            <a:off x="3983712" y="3011329"/>
            <a:ext cx="105608" cy="433149"/>
          </a:xfrm>
          <a:prstGeom prst="rect">
            <a:avLst/>
          </a:prstGeom>
          <a:noFill/>
          <a:ln/>
        </p:spPr>
        <p:txBody>
          <a:bodyPr wrap="none" lIns="0" tIns="0" rIns="0" bIns="0" rtlCol="0" anchor="t"/>
          <a:lstStyle/>
          <a:p>
            <a:pPr marL="0" indent="0" algn="ctr">
              <a:lnSpc>
                <a:spcPts val="3400"/>
              </a:lnSpc>
              <a:buNone/>
            </a:pPr>
            <a:r>
              <a:rPr lang="en-US" sz="2100" b="1" dirty="0">
                <a:solidFill>
                  <a:srgbClr val="2A2742"/>
                </a:solidFill>
                <a:latin typeface="Outfit Extra Bold" pitchFamily="34" charset="0"/>
                <a:ea typeface="Outfit Extra Bold" pitchFamily="34" charset="-122"/>
                <a:cs typeface="Outfit Extra Bold" pitchFamily="34" charset="-120"/>
              </a:rPr>
              <a:t>1</a:t>
            </a:r>
            <a:endParaRPr lang="en-US" sz="2100" dirty="0"/>
          </a:p>
        </p:txBody>
      </p:sp>
      <p:sp>
        <p:nvSpPr>
          <p:cNvPr id="5" name="Text 2"/>
          <p:cNvSpPr/>
          <p:nvPr/>
        </p:nvSpPr>
        <p:spPr>
          <a:xfrm>
            <a:off x="5335072" y="2440781"/>
            <a:ext cx="2707481" cy="33837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Outfit Extra Bold" pitchFamily="34" charset="0"/>
                <a:ea typeface="Outfit Extra Bold" pitchFamily="34" charset="-122"/>
                <a:cs typeface="Outfit Extra Bold" pitchFamily="34" charset="-120"/>
              </a:rPr>
              <a:t>Obiettivo</a:t>
            </a:r>
            <a:endParaRPr lang="en-US" sz="2100" dirty="0"/>
          </a:p>
        </p:txBody>
      </p:sp>
      <p:sp>
        <p:nvSpPr>
          <p:cNvPr id="6" name="Text 3"/>
          <p:cNvSpPr/>
          <p:nvPr/>
        </p:nvSpPr>
        <p:spPr>
          <a:xfrm>
            <a:off x="5335072" y="2909054"/>
            <a:ext cx="8320683" cy="692944"/>
          </a:xfrm>
          <a:prstGeom prst="rect">
            <a:avLst/>
          </a:prstGeom>
          <a:noFill/>
          <a:ln/>
        </p:spPr>
        <p:txBody>
          <a:bodyPr wrap="square" lIns="0" tIns="0" rIns="0" bIns="0" rtlCol="0" anchor="t"/>
          <a:lstStyle/>
          <a:p>
            <a:pPr marL="0" indent="0" algn="l">
              <a:lnSpc>
                <a:spcPts val="2700"/>
              </a:lnSpc>
              <a:buNone/>
            </a:pPr>
            <a:r>
              <a:rPr lang="en-US" dirty="0" err="1"/>
              <a:t>Minimizzare</a:t>
            </a:r>
            <a:r>
              <a:rPr lang="en-US" dirty="0"/>
              <a:t> il tempo di </a:t>
            </a:r>
            <a:r>
              <a:rPr lang="en-US" dirty="0" err="1"/>
              <a:t>percorrenza</a:t>
            </a:r>
            <a:r>
              <a:rPr lang="en-US" dirty="0"/>
              <a:t>, </a:t>
            </a:r>
            <a:r>
              <a:rPr lang="en-US" dirty="0" err="1"/>
              <a:t>tenendo</a:t>
            </a:r>
            <a:r>
              <a:rPr lang="en-US" dirty="0"/>
              <a:t> </a:t>
            </a:r>
            <a:r>
              <a:rPr lang="en-US" dirty="0" err="1"/>
              <a:t>conto</a:t>
            </a:r>
            <a:r>
              <a:rPr lang="en-US" dirty="0"/>
              <a:t> </a:t>
            </a:r>
            <a:r>
              <a:rPr lang="en-US" dirty="0" err="1"/>
              <a:t>anche</a:t>
            </a:r>
            <a:r>
              <a:rPr lang="en-US" dirty="0"/>
              <a:t> del tempo </a:t>
            </a:r>
            <a:r>
              <a:rPr lang="en-US" dirty="0" err="1"/>
              <a:t>necessario</a:t>
            </a:r>
            <a:r>
              <a:rPr lang="en-US" dirty="0"/>
              <a:t> per la </a:t>
            </a:r>
            <a:r>
              <a:rPr lang="en-US" dirty="0" err="1"/>
              <a:t>sostituzione</a:t>
            </a:r>
            <a:r>
              <a:rPr lang="en-US" dirty="0"/>
              <a:t> del </a:t>
            </a:r>
            <a:r>
              <a:rPr lang="en-US" dirty="0" err="1"/>
              <a:t>pacco</a:t>
            </a:r>
            <a:r>
              <a:rPr lang="en-US" dirty="0"/>
              <a:t> batterie.</a:t>
            </a:r>
          </a:p>
        </p:txBody>
      </p:sp>
      <p:sp>
        <p:nvSpPr>
          <p:cNvPr id="7" name="Shape 4"/>
          <p:cNvSpPr/>
          <p:nvPr/>
        </p:nvSpPr>
        <p:spPr>
          <a:xfrm>
            <a:off x="5172551" y="3830360"/>
            <a:ext cx="8645723" cy="15240"/>
          </a:xfrm>
          <a:prstGeom prst="roundRect">
            <a:avLst>
              <a:gd name="adj" fmla="val 596928"/>
            </a:avLst>
          </a:prstGeom>
          <a:solidFill>
            <a:srgbClr val="BDB8DF"/>
          </a:solidFill>
          <a:ln/>
        </p:spPr>
        <p:txBody>
          <a:bodyPr/>
          <a:lstStyle/>
          <a:p>
            <a:endParaRPr lang="it-IT"/>
          </a:p>
        </p:txBody>
      </p:sp>
      <p:pic>
        <p:nvPicPr>
          <p:cNvPr id="8" name="Image 1" descr="preencoded.png"/>
          <p:cNvPicPr>
            <a:picLocks noChangeAspect="1"/>
          </p:cNvPicPr>
          <p:nvPr/>
        </p:nvPicPr>
        <p:blipFill>
          <a:blip r:embed="rId4"/>
          <a:stretch>
            <a:fillRect/>
          </a:stretch>
        </p:blipFill>
        <p:spPr>
          <a:xfrm>
            <a:off x="1872734" y="3872627"/>
            <a:ext cx="4327684" cy="1594366"/>
          </a:xfrm>
          <a:prstGeom prst="rect">
            <a:avLst/>
          </a:prstGeom>
        </p:spPr>
      </p:pic>
      <p:sp>
        <p:nvSpPr>
          <p:cNvPr id="9" name="Text 5"/>
          <p:cNvSpPr/>
          <p:nvPr/>
        </p:nvSpPr>
        <p:spPr>
          <a:xfrm>
            <a:off x="3958590" y="4453176"/>
            <a:ext cx="155972" cy="433149"/>
          </a:xfrm>
          <a:prstGeom prst="rect">
            <a:avLst/>
          </a:prstGeom>
          <a:noFill/>
          <a:ln/>
        </p:spPr>
        <p:txBody>
          <a:bodyPr wrap="none" lIns="0" tIns="0" rIns="0" bIns="0" rtlCol="0" anchor="t"/>
          <a:lstStyle/>
          <a:p>
            <a:pPr marL="0" indent="0" algn="ctr">
              <a:lnSpc>
                <a:spcPts val="3400"/>
              </a:lnSpc>
              <a:buNone/>
            </a:pPr>
            <a:r>
              <a:rPr lang="en-US" sz="2100" b="1" dirty="0">
                <a:solidFill>
                  <a:srgbClr val="2A2742"/>
                </a:solidFill>
                <a:latin typeface="Outfit Extra Bold" pitchFamily="34" charset="0"/>
                <a:ea typeface="Outfit Extra Bold" pitchFamily="34" charset="-122"/>
                <a:cs typeface="Outfit Extra Bold" pitchFamily="34" charset="-120"/>
              </a:rPr>
              <a:t>2</a:t>
            </a:r>
            <a:endParaRPr lang="en-US" sz="2100" dirty="0"/>
          </a:p>
        </p:txBody>
      </p:sp>
      <p:sp>
        <p:nvSpPr>
          <p:cNvPr id="10" name="Text 6"/>
          <p:cNvSpPr/>
          <p:nvPr/>
        </p:nvSpPr>
        <p:spPr>
          <a:xfrm>
            <a:off x="6416993" y="4089202"/>
            <a:ext cx="2707481" cy="33837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Outfit Extra Bold" pitchFamily="34" charset="0"/>
                <a:ea typeface="Outfit Extra Bold" pitchFamily="34" charset="-122"/>
                <a:cs typeface="Outfit Extra Bold" pitchFamily="34" charset="-120"/>
              </a:rPr>
              <a:t>Vincoli</a:t>
            </a:r>
            <a:endParaRPr lang="en-US" sz="2100" dirty="0"/>
          </a:p>
        </p:txBody>
      </p:sp>
      <p:sp>
        <p:nvSpPr>
          <p:cNvPr id="11" name="Text 7"/>
          <p:cNvSpPr/>
          <p:nvPr/>
        </p:nvSpPr>
        <p:spPr>
          <a:xfrm>
            <a:off x="6416993" y="4557474"/>
            <a:ext cx="7238762" cy="692944"/>
          </a:xfrm>
          <a:prstGeom prst="rect">
            <a:avLst/>
          </a:prstGeom>
          <a:noFill/>
          <a:ln/>
        </p:spPr>
        <p:txBody>
          <a:bodyPr wrap="square" lIns="0" tIns="0" rIns="0" bIns="0" rtlCol="0" anchor="t"/>
          <a:lstStyle/>
          <a:p>
            <a:pPr>
              <a:lnSpc>
                <a:spcPts val="2700"/>
              </a:lnSpc>
            </a:pPr>
            <a:r>
              <a:rPr lang="en-US" dirty="0"/>
              <a:t>Il </a:t>
            </a:r>
            <a:r>
              <a:rPr lang="en-US" dirty="0" err="1"/>
              <a:t>percorso</a:t>
            </a:r>
            <a:r>
              <a:rPr lang="en-US" dirty="0"/>
              <a:t> </a:t>
            </a:r>
            <a:r>
              <a:rPr lang="en-US" dirty="0" err="1"/>
              <a:t>dovrà</a:t>
            </a:r>
            <a:r>
              <a:rPr lang="en-US" dirty="0"/>
              <a:t> </a:t>
            </a:r>
            <a:r>
              <a:rPr lang="en-US" dirty="0" err="1"/>
              <a:t>rispettare</a:t>
            </a:r>
            <a:r>
              <a:rPr lang="en-US" dirty="0"/>
              <a:t> l’autonomia del veicolo e un budget </a:t>
            </a:r>
            <a:r>
              <a:rPr lang="en-US" dirty="0" err="1"/>
              <a:t>massimo</a:t>
            </a:r>
            <a:r>
              <a:rPr lang="en-US" dirty="0"/>
              <a:t> in euro.</a:t>
            </a:r>
          </a:p>
        </p:txBody>
      </p:sp>
      <p:sp>
        <p:nvSpPr>
          <p:cNvPr id="12" name="Shape 8"/>
          <p:cNvSpPr/>
          <p:nvPr/>
        </p:nvSpPr>
        <p:spPr>
          <a:xfrm>
            <a:off x="6254472" y="5478780"/>
            <a:ext cx="7563803" cy="15240"/>
          </a:xfrm>
          <a:prstGeom prst="roundRect">
            <a:avLst>
              <a:gd name="adj" fmla="val 596928"/>
            </a:avLst>
          </a:prstGeom>
          <a:solidFill>
            <a:srgbClr val="BDB8DF"/>
          </a:solidFill>
          <a:ln/>
        </p:spPr>
        <p:txBody>
          <a:bodyPr/>
          <a:lstStyle/>
          <a:p>
            <a:endParaRPr lang="it-IT"/>
          </a:p>
        </p:txBody>
      </p:sp>
      <p:pic>
        <p:nvPicPr>
          <p:cNvPr id="13" name="Image 2" descr="preencoded.png"/>
          <p:cNvPicPr>
            <a:picLocks noChangeAspect="1"/>
          </p:cNvPicPr>
          <p:nvPr/>
        </p:nvPicPr>
        <p:blipFill>
          <a:blip r:embed="rId5"/>
          <a:stretch>
            <a:fillRect/>
          </a:stretch>
        </p:blipFill>
        <p:spPr>
          <a:xfrm>
            <a:off x="790813" y="5521047"/>
            <a:ext cx="6491526" cy="1594366"/>
          </a:xfrm>
          <a:prstGeom prst="rect">
            <a:avLst/>
          </a:prstGeom>
        </p:spPr>
      </p:pic>
      <p:sp>
        <p:nvSpPr>
          <p:cNvPr id="14" name="Text 9"/>
          <p:cNvSpPr/>
          <p:nvPr/>
        </p:nvSpPr>
        <p:spPr>
          <a:xfrm>
            <a:off x="3959543" y="6101596"/>
            <a:ext cx="154067" cy="433149"/>
          </a:xfrm>
          <a:prstGeom prst="rect">
            <a:avLst/>
          </a:prstGeom>
          <a:noFill/>
          <a:ln/>
        </p:spPr>
        <p:txBody>
          <a:bodyPr wrap="none" lIns="0" tIns="0" rIns="0" bIns="0" rtlCol="0" anchor="t"/>
          <a:lstStyle/>
          <a:p>
            <a:pPr marL="0" indent="0" algn="ctr">
              <a:lnSpc>
                <a:spcPts val="3400"/>
              </a:lnSpc>
              <a:buNone/>
            </a:pPr>
            <a:r>
              <a:rPr lang="en-US" sz="2100" b="1" dirty="0">
                <a:solidFill>
                  <a:srgbClr val="2A2742"/>
                </a:solidFill>
                <a:latin typeface="Outfit Extra Bold" pitchFamily="34" charset="0"/>
                <a:ea typeface="Outfit Extra Bold" pitchFamily="34" charset="-122"/>
                <a:cs typeface="Outfit Extra Bold" pitchFamily="34" charset="-120"/>
              </a:rPr>
              <a:t>3</a:t>
            </a:r>
            <a:endParaRPr lang="en-US" sz="2100" dirty="0"/>
          </a:p>
        </p:txBody>
      </p:sp>
      <p:sp>
        <p:nvSpPr>
          <p:cNvPr id="15" name="Text 10"/>
          <p:cNvSpPr/>
          <p:nvPr/>
        </p:nvSpPr>
        <p:spPr>
          <a:xfrm>
            <a:off x="7498913" y="5737622"/>
            <a:ext cx="2707481" cy="338376"/>
          </a:xfrm>
          <a:prstGeom prst="rect">
            <a:avLst/>
          </a:prstGeom>
          <a:noFill/>
          <a:ln/>
        </p:spPr>
        <p:txBody>
          <a:bodyPr wrap="none" lIns="0" tIns="0" rIns="0" bIns="0" rtlCol="0" anchor="t"/>
          <a:lstStyle/>
          <a:p>
            <a:pPr marL="0" indent="0" algn="l">
              <a:lnSpc>
                <a:spcPts val="2650"/>
              </a:lnSpc>
              <a:buNone/>
            </a:pPr>
            <a:r>
              <a:rPr lang="en-US" sz="2100" b="1" dirty="0" err="1">
                <a:solidFill>
                  <a:srgbClr val="2A2742"/>
                </a:solidFill>
                <a:latin typeface="Outfit Extra Bold" pitchFamily="34" charset="0"/>
                <a:ea typeface="Outfit Extra Bold" pitchFamily="34" charset="-122"/>
                <a:cs typeface="Outfit Extra Bold" pitchFamily="34" charset="-120"/>
              </a:rPr>
              <a:t>Variabili</a:t>
            </a:r>
            <a:endParaRPr lang="en-US" sz="2100" dirty="0"/>
          </a:p>
        </p:txBody>
      </p:sp>
      <p:sp>
        <p:nvSpPr>
          <p:cNvPr id="16" name="Text 11"/>
          <p:cNvSpPr/>
          <p:nvPr/>
        </p:nvSpPr>
        <p:spPr>
          <a:xfrm>
            <a:off x="7498913" y="6205895"/>
            <a:ext cx="6156841" cy="692944"/>
          </a:xfrm>
          <a:prstGeom prst="rect">
            <a:avLst/>
          </a:prstGeom>
          <a:noFill/>
          <a:ln/>
        </p:spPr>
        <p:txBody>
          <a:bodyPr wrap="square" lIns="0" tIns="0" rIns="0" bIns="0" rtlCol="0" anchor="t"/>
          <a:lstStyle/>
          <a:p>
            <a:pPr indent="0">
              <a:lnSpc>
                <a:spcPts val="2700"/>
              </a:lnSpc>
              <a:buNone/>
            </a:pPr>
            <a:r>
              <a:rPr lang="en-US" dirty="0" err="1"/>
              <a:t>Percorso</a:t>
            </a:r>
            <a:r>
              <a:rPr lang="en-US" dirty="0"/>
              <a:t> </a:t>
            </a:r>
            <a:r>
              <a:rPr lang="en-US" dirty="0" err="1"/>
              <a:t>i-esimo</a:t>
            </a:r>
            <a:r>
              <a:rPr lang="en-US" dirty="0"/>
              <a:t> e numero di </a:t>
            </a:r>
            <a:r>
              <a:rPr lang="en-US" dirty="0" err="1"/>
              <a:t>ricariche</a:t>
            </a:r>
            <a:r>
              <a:rPr lang="en-US" dirty="0"/>
              <a:t>, </a:t>
            </a:r>
            <a:r>
              <a:rPr lang="en-US" dirty="0" err="1"/>
              <a:t>Autonomia</a:t>
            </a:r>
            <a:r>
              <a:rPr lang="en-US" dirty="0"/>
              <a:t>, </a:t>
            </a:r>
            <a:r>
              <a:rPr lang="en-US" dirty="0" err="1"/>
              <a:t>consumo</a:t>
            </a:r>
            <a:r>
              <a:rPr lang="en-US" dirty="0"/>
              <a:t> </a:t>
            </a:r>
            <a:r>
              <a:rPr lang="en-US" dirty="0" err="1"/>
              <a:t>energetico</a:t>
            </a:r>
            <a:endParaRPr lang="en-US" dirty="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1+#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1+#ppt_w/2"/>
                                          </p:val>
                                        </p:tav>
                                        <p:tav tm="100000">
                                          <p:val>
                                            <p:strVal val="#ppt_x"/>
                                          </p:val>
                                        </p:tav>
                                      </p:tavLst>
                                    </p:anim>
                                    <p:anim calcmode="lin" valueType="num">
                                      <p:cBhvr additive="base">
                                        <p:cTn id="2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1+#ppt_w/2"/>
                                          </p:val>
                                        </p:tav>
                                        <p:tav tm="100000">
                                          <p:val>
                                            <p:strVal val="#ppt_x"/>
                                          </p:val>
                                        </p:tav>
                                      </p:tavLst>
                                    </p:anim>
                                    <p:anim calcmode="lin" valueType="num">
                                      <p:cBhvr additive="base">
                                        <p:cTn id="28" dur="50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1+#ppt_w/2"/>
                                          </p:val>
                                        </p:tav>
                                        <p:tav tm="100000">
                                          <p:val>
                                            <p:strVal val="#ppt_x"/>
                                          </p:val>
                                        </p:tav>
                                      </p:tavLst>
                                    </p:anim>
                                    <p:anim calcmode="lin" valueType="num">
                                      <p:cBhvr additive="base">
                                        <p:cTn id="32"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P spid="11"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C1692A6-2091-06AD-CF32-ED3DD71A8FFA}"/>
              </a:ext>
            </a:extLst>
          </p:cNvPr>
          <p:cNvSpPr/>
          <p:nvPr/>
        </p:nvSpPr>
        <p:spPr>
          <a:xfrm>
            <a:off x="646771" y="693563"/>
            <a:ext cx="11593592" cy="676870"/>
          </a:xfrm>
          <a:prstGeom prst="rect">
            <a:avLst/>
          </a:prstGeom>
          <a:noFill/>
          <a:ln/>
        </p:spPr>
        <p:txBody>
          <a:bodyPr wrap="none" lIns="0" tIns="0" rIns="0" bIns="0" rtlCol="0" anchor="t"/>
          <a:lstStyle/>
          <a:p>
            <a:pPr marL="0" indent="0">
              <a:lnSpc>
                <a:spcPts val="5300"/>
              </a:lnSpc>
              <a:buNone/>
            </a:pPr>
            <a:r>
              <a:rPr lang="en-US" sz="4250" b="1" dirty="0" err="1">
                <a:solidFill>
                  <a:srgbClr val="231971"/>
                </a:solidFill>
                <a:latin typeface="Outfit Extra Bold" pitchFamily="34" charset="0"/>
                <a:ea typeface="Outfit Extra Bold" pitchFamily="34" charset="-122"/>
                <a:cs typeface="Outfit Extra Bold" pitchFamily="34" charset="-120"/>
              </a:rPr>
              <a:t>Formalizzazione</a:t>
            </a:r>
            <a:r>
              <a:rPr lang="en-US" sz="4250" b="1" dirty="0">
                <a:solidFill>
                  <a:srgbClr val="231971"/>
                </a:solidFill>
                <a:latin typeface="Outfit Extra Bold" pitchFamily="34" charset="0"/>
                <a:ea typeface="Outfit Extra Bold" pitchFamily="34" charset="-122"/>
                <a:cs typeface="Outfit Extra Bold" pitchFamily="34" charset="-120"/>
              </a:rPr>
              <a:t> </a:t>
            </a:r>
            <a:r>
              <a:rPr lang="en-US" sz="4250" b="1" dirty="0" err="1">
                <a:solidFill>
                  <a:srgbClr val="231971"/>
                </a:solidFill>
                <a:latin typeface="Outfit Extra Bold" pitchFamily="34" charset="0"/>
                <a:ea typeface="Outfit Extra Bold" pitchFamily="34" charset="-122"/>
                <a:cs typeface="Outfit Extra Bold" pitchFamily="34" charset="-120"/>
              </a:rPr>
              <a:t>matematica</a:t>
            </a:r>
            <a:endParaRPr lang="en-US" sz="4250" dirty="0"/>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34F58EC9-18E6-DB46-AE0A-63A4DEE8311F}"/>
                  </a:ext>
                </a:extLst>
              </p:cNvPr>
              <p:cNvSpPr txBox="1"/>
              <p:nvPr/>
            </p:nvSpPr>
            <p:spPr>
              <a:xfrm>
                <a:off x="3863822" y="2850682"/>
                <a:ext cx="5159489" cy="81182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unc>
                        <m:funcPr>
                          <m:ctrlPr>
                            <a:rPr lang="it-IT" b="0" i="1" smtClean="0">
                              <a:latin typeface="Cambria Math" panose="02040503050406030204" pitchFamily="18" charset="0"/>
                            </a:rPr>
                          </m:ctrlPr>
                        </m:funcPr>
                        <m:fName>
                          <m:limLow>
                            <m:limLowPr>
                              <m:ctrlPr>
                                <a:rPr lang="it-IT" b="0" i="1" smtClean="0">
                                  <a:latin typeface="Cambria Math" panose="02040503050406030204" pitchFamily="18" charset="0"/>
                                </a:rPr>
                              </m:ctrlPr>
                            </m:limLowPr>
                            <m:e>
                              <m:r>
                                <m:rPr>
                                  <m:sty m:val="p"/>
                                </m:rPr>
                                <a:rPr lang="it-IT" b="0" i="0" smtClean="0">
                                  <a:latin typeface="Cambria Math" panose="02040503050406030204" pitchFamily="18" charset="0"/>
                                </a:rPr>
                                <m:t>min</m:t>
                              </m:r>
                            </m:e>
                            <m:lim>
                              <m:r>
                                <a:rPr lang="it-IT" b="0" i="1" smtClean="0">
                                  <a:latin typeface="Cambria Math" panose="02040503050406030204" pitchFamily="18" charset="0"/>
                                </a:rPr>
                                <m:t>𝑡</m:t>
                              </m:r>
                            </m:lim>
                          </m:limLow>
                        </m:fName>
                        <m:e>
                          <m:r>
                            <a:rPr lang="it-IT" b="0" i="1" smtClean="0">
                              <a:latin typeface="Cambria Math" panose="02040503050406030204" pitchFamily="18" charset="0"/>
                            </a:rPr>
                            <m:t>!</m:t>
                          </m:r>
                        </m:e>
                      </m:func>
                      <m:nary>
                        <m:naryPr>
                          <m:chr m:val="∑"/>
                          <m:supHide m:val="on"/>
                          <m:ctrlPr>
                            <a:rPr lang="it-IT" i="1">
                              <a:latin typeface="Cambria Math" panose="02040503050406030204" pitchFamily="18" charset="0"/>
                            </a:rPr>
                          </m:ctrlPr>
                        </m:naryPr>
                        <m:sub>
                          <m:r>
                            <m:rPr>
                              <m:brk m:alnAt="7"/>
                            </m:rPr>
                            <a:rPr lang="it-IT" i="1">
                              <a:latin typeface="Cambria Math" panose="02040503050406030204" pitchFamily="18" charset="0"/>
                            </a:rPr>
                            <m:t>(</m:t>
                          </m:r>
                          <m:r>
                            <a:rPr lang="it-IT" i="1">
                              <a:latin typeface="Cambria Math" panose="02040503050406030204" pitchFamily="18" charset="0"/>
                            </a:rPr>
                            <m:t>𝑖</m:t>
                          </m:r>
                          <m:r>
                            <a:rPr lang="it-IT" i="1">
                              <a:latin typeface="Cambria Math" panose="02040503050406030204" pitchFamily="18" charset="0"/>
                            </a:rPr>
                            <m:t>,</m:t>
                          </m:r>
                          <m:r>
                            <a:rPr lang="it-IT" i="1">
                              <a:latin typeface="Cambria Math" panose="02040503050406030204" pitchFamily="18" charset="0"/>
                            </a:rPr>
                            <m:t>𝑗</m:t>
                          </m:r>
                          <m:r>
                            <a:rPr lang="it-IT" i="1">
                              <a:latin typeface="Cambria Math" panose="02040503050406030204" pitchFamily="18" charset="0"/>
                            </a:rPr>
                            <m:t>)∈</m:t>
                          </m:r>
                          <m:r>
                            <a:rPr lang="it-IT" i="1">
                              <a:latin typeface="Cambria Math" panose="02040503050406030204" pitchFamily="18" charset="0"/>
                              <a:ea typeface="Cambria Math" panose="02040503050406030204" pitchFamily="18" charset="0"/>
                            </a:rPr>
                            <m:t>𝑃</m:t>
                          </m:r>
                        </m:sub>
                        <m:sup/>
                        <m:e>
                          <m:sSub>
                            <m:sSubPr>
                              <m:ctrlPr>
                                <a:rPr lang="it-IT" i="1">
                                  <a:latin typeface="Cambria Math" panose="02040503050406030204" pitchFamily="18" charset="0"/>
                                </a:rPr>
                              </m:ctrlPr>
                            </m:sSubPr>
                            <m:e>
                              <m:r>
                                <a:rPr lang="it-IT" i="1">
                                  <a:latin typeface="Cambria Math" panose="02040503050406030204" pitchFamily="18" charset="0"/>
                                </a:rPr>
                                <m:t>𝑡</m:t>
                              </m:r>
                            </m:e>
                            <m:sub>
                              <m:r>
                                <a:rPr lang="it-IT" i="1">
                                  <a:latin typeface="Cambria Math" panose="02040503050406030204" pitchFamily="18" charset="0"/>
                                </a:rPr>
                                <m:t>𝑖𝑗</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𝑠𝑢𝑏𝑠</m:t>
                              </m:r>
                            </m:sub>
                          </m:sSub>
                        </m:e>
                      </m:nary>
                      <m:r>
                        <a:rPr lang="it-IT" i="1">
                          <a:latin typeface="Cambria Math" panose="02040503050406030204" pitchFamily="18" charset="0"/>
                        </a:rPr>
                        <m:t> </m:t>
                      </m:r>
                      <m:r>
                        <a:rPr lang="it-IT" i="1" smtClean="0">
                          <a:latin typeface="Cambria Math" panose="02040503050406030204" pitchFamily="18" charset="0"/>
                          <a:ea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𝑠𝑢𝑏𝑠</m:t>
                          </m:r>
                        </m:sub>
                      </m:sSub>
                    </m:oMath>
                  </m:oMathPara>
                </a14:m>
                <a:endParaRPr dirty="0"/>
              </a:p>
            </p:txBody>
          </p:sp>
        </mc:Choice>
        <mc:Fallback xmlns="">
          <p:sp>
            <p:nvSpPr>
              <p:cNvPr id="4" name="CasellaDiTesto 3">
                <a:extLst>
                  <a:ext uri="{FF2B5EF4-FFF2-40B4-BE49-F238E27FC236}">
                    <a16:creationId xmlns:a16="http://schemas.microsoft.com/office/drawing/2014/main" id="{34F58EC9-18E6-DB46-AE0A-63A4DEE8311F}"/>
                  </a:ext>
                </a:extLst>
              </p:cNvPr>
              <p:cNvSpPr txBox="1">
                <a:spLocks noRot="1" noChangeAspect="1" noMove="1" noResize="1" noEditPoints="1" noAdjustHandles="1" noChangeArrowheads="1" noChangeShapeType="1" noTextEdit="1"/>
              </p:cNvSpPr>
              <p:nvPr/>
            </p:nvSpPr>
            <p:spPr>
              <a:xfrm>
                <a:off x="3863822" y="2850682"/>
                <a:ext cx="5159489" cy="811825"/>
              </a:xfrm>
              <a:prstGeom prst="rect">
                <a:avLst/>
              </a:prstGeom>
              <a:blipFill>
                <a:blip r:embed="rId3"/>
                <a:stretch>
                  <a:fillRect/>
                </a:stretch>
              </a:blipFill>
            </p:spPr>
            <p:txBody>
              <a:bodyPr/>
              <a:lstStyle/>
              <a:p>
                <a:r>
                  <a:rPr lang="it-IT">
                    <a:noFill/>
                  </a:rPr>
                  <a:t> </a:t>
                </a:r>
              </a:p>
            </p:txBody>
          </p:sp>
        </mc:Fallback>
      </mc:AlternateContent>
      <p:sp>
        <p:nvSpPr>
          <p:cNvPr id="11" name="CasellaDiTesto 10">
            <a:extLst>
              <a:ext uri="{FF2B5EF4-FFF2-40B4-BE49-F238E27FC236}">
                <a16:creationId xmlns:a16="http://schemas.microsoft.com/office/drawing/2014/main" id="{EBA9008F-DCB6-9E82-CD47-3BC2721C5555}"/>
              </a:ext>
            </a:extLst>
          </p:cNvPr>
          <p:cNvSpPr txBox="1"/>
          <p:nvPr/>
        </p:nvSpPr>
        <p:spPr>
          <a:xfrm>
            <a:off x="646771" y="2161965"/>
            <a:ext cx="12734904" cy="646331"/>
          </a:xfrm>
          <a:prstGeom prst="rect">
            <a:avLst/>
          </a:prstGeom>
          <a:noFill/>
        </p:spPr>
        <p:txBody>
          <a:bodyPr wrap="square" rtlCol="0">
            <a:spAutoFit/>
          </a:bodyPr>
          <a:lstStyle/>
          <a:p>
            <a:endParaRPr lang="it-IT" dirty="0"/>
          </a:p>
          <a:p>
            <a:r>
              <a:rPr lang="it-IT" dirty="0"/>
              <a:t>La funzione obiettivo mira a </a:t>
            </a:r>
            <a:r>
              <a:rPr lang="it-IT" b="1" dirty="0"/>
              <a:t>minimizzare il tempo totale di viaggio</a:t>
            </a:r>
            <a:endParaRPr lang="it-IT" dirty="0"/>
          </a:p>
        </p:txBody>
      </p:sp>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F4EF2EEB-6D59-96B2-0382-AE24DB9B966D}"/>
                  </a:ext>
                </a:extLst>
              </p:cNvPr>
              <p:cNvSpPr txBox="1"/>
              <p:nvPr/>
            </p:nvSpPr>
            <p:spPr>
              <a:xfrm>
                <a:off x="646771" y="4114800"/>
                <a:ext cx="12121375" cy="668645"/>
              </a:xfrm>
              <a:prstGeom prst="rect">
                <a:avLst/>
              </a:prstGeom>
              <a:noFill/>
            </p:spPr>
            <p:txBody>
              <a:bodyPr wrap="square" rtlCol="0">
                <a:spAutoFit/>
              </a:bodyPr>
              <a:lstStyle/>
              <a:p>
                <a:r>
                  <a:rPr lang="it-IT" dirty="0"/>
                  <a:t>Dove:</a:t>
                </a:r>
              </a:p>
              <a:p>
                <a:pPr marL="285750" indent="-285750">
                  <a:buFont typeface="Arial" panose="020B0604020202020204" pitchFamily="34" charset="0"/>
                  <a:buChar cha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𝑖𝑗</m:t>
                        </m:r>
                      </m:sub>
                    </m:sSub>
                  </m:oMath>
                </a14:m>
                <a:r>
                  <a:rPr lang="it-IT" dirty="0"/>
                  <a:t>​ rappresenta il </a:t>
                </a:r>
                <a:r>
                  <a:rPr lang="it-IT" b="1" dirty="0"/>
                  <a:t>tempo di percorrenza </a:t>
                </a:r>
                <a:r>
                  <a:rPr lang="it-IT" dirty="0"/>
                  <a:t>del singolo arco</a:t>
                </a:r>
              </a:p>
            </p:txBody>
          </p:sp>
        </mc:Choice>
        <mc:Fallback xmlns="">
          <p:sp>
            <p:nvSpPr>
              <p:cNvPr id="12" name="CasellaDiTesto 11">
                <a:extLst>
                  <a:ext uri="{FF2B5EF4-FFF2-40B4-BE49-F238E27FC236}">
                    <a16:creationId xmlns:a16="http://schemas.microsoft.com/office/drawing/2014/main" id="{F4EF2EEB-6D59-96B2-0382-AE24DB9B966D}"/>
                  </a:ext>
                </a:extLst>
              </p:cNvPr>
              <p:cNvSpPr txBox="1">
                <a:spLocks noRot="1" noChangeAspect="1" noMove="1" noResize="1" noEditPoints="1" noAdjustHandles="1" noChangeArrowheads="1" noChangeShapeType="1" noTextEdit="1"/>
              </p:cNvSpPr>
              <p:nvPr/>
            </p:nvSpPr>
            <p:spPr>
              <a:xfrm>
                <a:off x="646771" y="4114800"/>
                <a:ext cx="12121375" cy="668645"/>
              </a:xfrm>
              <a:prstGeom prst="rect">
                <a:avLst/>
              </a:prstGeom>
              <a:blipFill>
                <a:blip r:embed="rId4"/>
                <a:stretch>
                  <a:fillRect l="-402" t="-4545" b="-1090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4F2686D0-9A69-C2D1-100C-A14A7A417365}"/>
                  </a:ext>
                </a:extLst>
              </p:cNvPr>
              <p:cNvSpPr txBox="1"/>
              <p:nvPr/>
            </p:nvSpPr>
            <p:spPr>
              <a:xfrm>
                <a:off x="646771" y="6064094"/>
                <a:ext cx="12623180" cy="1754326"/>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𝑛</m:t>
                        </m:r>
                      </m:e>
                      <m:sub>
                        <m:r>
                          <a:rPr lang="it-IT" b="0" i="1" smtClean="0">
                            <a:latin typeface="Cambria Math" panose="02040503050406030204" pitchFamily="18" charset="0"/>
                          </a:rPr>
                          <m:t>𝑠𝑢𝑏𝑠</m:t>
                        </m:r>
                      </m:sub>
                    </m:sSub>
                  </m:oMath>
                </a14:m>
                <a:r>
                  <a:rPr lang="it-IT" dirty="0"/>
                  <a:t> è il </a:t>
                </a:r>
                <a:r>
                  <a:rPr lang="it-IT" b="1" dirty="0"/>
                  <a:t>numero di sostituzioni</a:t>
                </a:r>
                <a:r>
                  <a:rPr lang="it-IT" dirty="0"/>
                  <a:t> che il veicolo ha effettuato nell’intero percorso;</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𝑠𝑢𝑏𝑠</m:t>
                        </m:r>
                      </m:sub>
                    </m:sSub>
                    <m:r>
                      <a:rPr lang="it-IT" b="0" i="1" smtClean="0">
                        <a:latin typeface="Cambria Math" panose="02040503050406030204" pitchFamily="18" charset="0"/>
                      </a:rPr>
                      <m:t> </m:t>
                    </m:r>
                  </m:oMath>
                </a14:m>
                <a:r>
                  <a:rPr lang="it-IT" dirty="0"/>
                  <a:t>​ è il </a:t>
                </a:r>
                <a:r>
                  <a:rPr lang="it-IT" b="1" dirty="0"/>
                  <a:t>tempo di sostituzione,</a:t>
                </a:r>
                <a:r>
                  <a:rPr lang="it-IT" dirty="0"/>
                  <a:t> assunto fisso, associato alla sostituzione della batteria:</a:t>
                </a:r>
              </a:p>
              <a:p>
                <a:pPr marL="742950" lvl="1" indent="-285750">
                  <a:buFont typeface="Wingdings" panose="05000000000000000000" pitchFamily="2" charset="2"/>
                  <a:buChar char="§"/>
                </a:pPr>
                <a:r>
                  <a:rPr lang="it-IT" dirty="0"/>
                  <a:t>30 min per le autostrade;</a:t>
                </a:r>
              </a:p>
              <a:p>
                <a:pPr marL="742950" lvl="1" indent="-285750">
                  <a:buFont typeface="Wingdings" panose="05000000000000000000" pitchFamily="2" charset="2"/>
                  <a:buChar char="§"/>
                </a:pPr>
                <a:r>
                  <a:rPr lang="it-IT" dirty="0"/>
                  <a:t>20 min per tutte le altre.</a:t>
                </a:r>
              </a:p>
              <a:p>
                <a:endParaRPr lang="it-IT" b="0" i="1" dirty="0">
                  <a:latin typeface="Cambria Math" panose="02040503050406030204" pitchFamily="18" charset="0"/>
                </a:endParaRPr>
              </a:p>
            </p:txBody>
          </p:sp>
        </mc:Choice>
        <mc:Fallback xmlns="">
          <p:sp>
            <p:nvSpPr>
              <p:cNvPr id="13" name="CasellaDiTesto 12">
                <a:extLst>
                  <a:ext uri="{FF2B5EF4-FFF2-40B4-BE49-F238E27FC236}">
                    <a16:creationId xmlns:a16="http://schemas.microsoft.com/office/drawing/2014/main" id="{4F2686D0-9A69-C2D1-100C-A14A7A417365}"/>
                  </a:ext>
                </a:extLst>
              </p:cNvPr>
              <p:cNvSpPr txBox="1">
                <a:spLocks noRot="1" noChangeAspect="1" noMove="1" noResize="1" noEditPoints="1" noAdjustHandles="1" noChangeArrowheads="1" noChangeShapeType="1" noTextEdit="1"/>
              </p:cNvSpPr>
              <p:nvPr/>
            </p:nvSpPr>
            <p:spPr>
              <a:xfrm>
                <a:off x="646771" y="6064094"/>
                <a:ext cx="12623180" cy="1754326"/>
              </a:xfrm>
              <a:prstGeom prst="rect">
                <a:avLst/>
              </a:prstGeom>
              <a:blipFill>
                <a:blip r:embed="rId5"/>
                <a:stretch>
                  <a:fillRect l="-290" t="-208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5C79BD58-B25D-3E3A-DBCB-D1B1A8164ACF}"/>
                  </a:ext>
                </a:extLst>
              </p:cNvPr>
              <p:cNvSpPr txBox="1"/>
              <p:nvPr/>
            </p:nvSpPr>
            <p:spPr>
              <a:xfrm>
                <a:off x="3863821" y="4843152"/>
                <a:ext cx="5159489" cy="7043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𝑖𝑗</m:t>
                          </m:r>
                        </m:sub>
                      </m:sSub>
                      <m:r>
                        <a:rPr lang="it-IT" b="0" i="1" smtClean="0">
                          <a:latin typeface="Cambria Math" panose="02040503050406030204" pitchFamily="18" charset="0"/>
                        </a:rPr>
                        <m:t>=</m:t>
                      </m:r>
                      <m:f>
                        <m:fPr>
                          <m:ctrlPr>
                            <a:rPr lang="it-IT" b="0" i="1" smtClean="0">
                              <a:latin typeface="Cambria Math" panose="02040503050406030204" pitchFamily="18" charset="0"/>
                            </a:rPr>
                          </m:ctrlPr>
                        </m:fPr>
                        <m:num>
                          <m:r>
                            <a:rPr lang="it-IT" b="0" i="1" smtClean="0">
                              <a:latin typeface="Cambria Math" panose="02040503050406030204" pitchFamily="18" charset="0"/>
                            </a:rPr>
                            <m:t>𝑙𝑒𝑛𝑔h</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𝑖𝑗</m:t>
                              </m:r>
                            </m:sub>
                          </m:sSub>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𝑣</m:t>
                              </m:r>
                            </m:e>
                            <m:sub>
                              <m:r>
                                <a:rPr lang="it-IT" b="0" i="1" smtClean="0">
                                  <a:latin typeface="Cambria Math" panose="02040503050406030204" pitchFamily="18" charset="0"/>
                                </a:rPr>
                                <m:t>𝑖𝑗</m:t>
                              </m:r>
                            </m:sub>
                          </m:sSub>
                        </m:den>
                      </m:f>
                    </m:oMath>
                  </m:oMathPara>
                </a14:m>
                <a:endParaRPr dirty="0"/>
              </a:p>
            </p:txBody>
          </p:sp>
        </mc:Choice>
        <mc:Fallback xmlns="">
          <p:sp>
            <p:nvSpPr>
              <p:cNvPr id="14" name="CasellaDiTesto 13">
                <a:extLst>
                  <a:ext uri="{FF2B5EF4-FFF2-40B4-BE49-F238E27FC236}">
                    <a16:creationId xmlns:a16="http://schemas.microsoft.com/office/drawing/2014/main" id="{5C79BD58-B25D-3E3A-DBCB-D1B1A8164ACF}"/>
                  </a:ext>
                </a:extLst>
              </p:cNvPr>
              <p:cNvSpPr txBox="1">
                <a:spLocks noRot="1" noChangeAspect="1" noMove="1" noResize="1" noEditPoints="1" noAdjustHandles="1" noChangeArrowheads="1" noChangeShapeType="1" noTextEdit="1"/>
              </p:cNvSpPr>
              <p:nvPr/>
            </p:nvSpPr>
            <p:spPr>
              <a:xfrm>
                <a:off x="3863821" y="4843152"/>
                <a:ext cx="5159489" cy="704360"/>
              </a:xfrm>
              <a:prstGeom prst="rect">
                <a:avLst/>
              </a:prstGeom>
              <a:blipFill>
                <a:blip r:embed="rId6"/>
                <a:stretch>
                  <a:fillRect/>
                </a:stretch>
              </a:blipFill>
            </p:spPr>
            <p:txBody>
              <a:bodyPr/>
              <a:lstStyle/>
              <a:p>
                <a:r>
                  <a:rPr lang="it-IT">
                    <a:noFill/>
                  </a:rPr>
                  <a:t> </a:t>
                </a:r>
              </a:p>
            </p:txBody>
          </p:sp>
        </mc:Fallback>
      </mc:AlternateContent>
      <p:sp>
        <p:nvSpPr>
          <p:cNvPr id="16" name="Text 0">
            <a:extLst>
              <a:ext uri="{FF2B5EF4-FFF2-40B4-BE49-F238E27FC236}">
                <a16:creationId xmlns:a16="http://schemas.microsoft.com/office/drawing/2014/main" id="{391408A9-1298-0933-2F3C-7D08F82C26B4}"/>
              </a:ext>
            </a:extLst>
          </p:cNvPr>
          <p:cNvSpPr/>
          <p:nvPr/>
        </p:nvSpPr>
        <p:spPr>
          <a:xfrm>
            <a:off x="646771" y="1471258"/>
            <a:ext cx="11593592" cy="676870"/>
          </a:xfrm>
          <a:prstGeom prst="rect">
            <a:avLst/>
          </a:prstGeom>
          <a:noFill/>
          <a:ln/>
        </p:spPr>
        <p:txBody>
          <a:bodyPr wrap="none" lIns="0" tIns="0" rIns="0" bIns="0" rtlCol="0" anchor="t"/>
          <a:lstStyle/>
          <a:p>
            <a:pPr marL="0" indent="0">
              <a:lnSpc>
                <a:spcPts val="5300"/>
              </a:lnSpc>
              <a:buNone/>
            </a:pPr>
            <a:r>
              <a:rPr lang="en-US" sz="2400" dirty="0">
                <a:latin typeface="Outfit Extra Bold" pitchFamily="34" charset="0"/>
                <a:ea typeface="Outfit Extra Bold" pitchFamily="34" charset="-122"/>
                <a:cs typeface="Outfit Extra Bold" pitchFamily="34" charset="-120"/>
              </a:rPr>
              <a:t>1.FUNZIONE OBIETTIVO</a:t>
            </a:r>
            <a:endParaRPr lang="en-US" sz="2400" dirty="0"/>
          </a:p>
        </p:txBody>
      </p:sp>
    </p:spTree>
    <p:extLst>
      <p:ext uri="{BB962C8B-B14F-4D97-AF65-F5344CB8AC3E}">
        <p14:creationId xmlns:p14="http://schemas.microsoft.com/office/powerpoint/2010/main" val="85323530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0-#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0-#ppt_w/2"/>
                                          </p:val>
                                        </p:tav>
                                        <p:tav tm="100000">
                                          <p:val>
                                            <p:strVal val="#ppt_x"/>
                                          </p:val>
                                        </p:tav>
                                      </p:tavLst>
                                    </p:anim>
                                    <p:anim calcmode="lin" valueType="num">
                                      <p:cBhvr additive="base">
                                        <p:cTn id="22" dur="500" fill="hold"/>
                                        <p:tgtEl>
                                          <p:spTgt spid="12"/>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0-#ppt_w/2"/>
                                          </p:val>
                                        </p:tav>
                                        <p:tav tm="100000">
                                          <p:val>
                                            <p:strVal val="#ppt_x"/>
                                          </p:val>
                                        </p:tav>
                                      </p:tavLst>
                                    </p:anim>
                                    <p:anim calcmode="lin" valueType="num">
                                      <p:cBhvr additive="base">
                                        <p:cTn id="26" dur="500" fill="hold"/>
                                        <p:tgtEl>
                                          <p:spTgt spid="14"/>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0-#ppt_w/2"/>
                                          </p:val>
                                        </p:tav>
                                        <p:tav tm="100000">
                                          <p:val>
                                            <p:strVal val="#ppt_x"/>
                                          </p:val>
                                        </p:tav>
                                      </p:tavLst>
                                    </p:anim>
                                    <p:anim calcmode="lin" valueType="num">
                                      <p:cBhvr additive="base">
                                        <p:cTn id="3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3" grpId="0"/>
      <p:bldP spid="14" grpId="0"/>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E05E478E-390A-EFC6-BB61-133816904E72}"/>
                  </a:ext>
                </a:extLst>
              </p:cNvPr>
              <p:cNvSpPr txBox="1"/>
              <p:nvPr/>
            </p:nvSpPr>
            <p:spPr>
              <a:xfrm>
                <a:off x="4000404" y="1034277"/>
                <a:ext cx="515948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𝑏</m:t>
                          </m:r>
                        </m:e>
                        <m:sub>
                          <m:r>
                            <a:rPr lang="it-IT" b="0" i="1" smtClean="0">
                              <a:latin typeface="Cambria Math" panose="02040503050406030204" pitchFamily="18" charset="0"/>
                            </a:rPr>
                            <m:t>𝑘</m:t>
                          </m:r>
                        </m:sub>
                      </m:sSub>
                      <m:r>
                        <a:rPr lang="it-IT" b="0" i="1" smtClean="0">
                          <a:latin typeface="Cambria Math" panose="02040503050406030204" pitchFamily="18" charset="0"/>
                          <a:ea typeface="Cambria Math" panose="02040503050406030204" pitchFamily="18" charset="0"/>
                        </a:rPr>
                        <m:t>≥0 ∀</m:t>
                      </m:r>
                      <m:r>
                        <a:rPr lang="it-IT" b="0" i="1" smtClean="0">
                          <a:latin typeface="Cambria Math" panose="02040503050406030204" pitchFamily="18" charset="0"/>
                          <a:ea typeface="Cambria Math" panose="02040503050406030204" pitchFamily="18" charset="0"/>
                        </a:rPr>
                        <m:t>𝑘</m:t>
                      </m:r>
                    </m:oMath>
                  </m:oMathPara>
                </a14:m>
                <a:endParaRPr/>
              </a:p>
            </p:txBody>
          </p:sp>
        </mc:Choice>
        <mc:Fallback xmlns="">
          <p:sp>
            <p:nvSpPr>
              <p:cNvPr id="5" name="CasellaDiTesto 4">
                <a:extLst>
                  <a:ext uri="{FF2B5EF4-FFF2-40B4-BE49-F238E27FC236}">
                    <a16:creationId xmlns:a16="http://schemas.microsoft.com/office/drawing/2014/main" id="{E05E478E-390A-EFC6-BB61-133816904E72}"/>
                  </a:ext>
                </a:extLst>
              </p:cNvPr>
              <p:cNvSpPr txBox="1">
                <a:spLocks noRot="1" noChangeAspect="1" noMove="1" noResize="1" noEditPoints="1" noAdjustHandles="1" noChangeArrowheads="1" noChangeShapeType="1" noTextEdit="1"/>
              </p:cNvSpPr>
              <p:nvPr/>
            </p:nvSpPr>
            <p:spPr>
              <a:xfrm>
                <a:off x="4000404" y="1034277"/>
                <a:ext cx="5159489" cy="369332"/>
              </a:xfrm>
              <a:prstGeom prst="rect">
                <a:avLst/>
              </a:prstGeom>
              <a:blipFill>
                <a:blip r:embed="rId3"/>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B041687F-92C2-9052-BD98-94F9FC5B4F41}"/>
                  </a:ext>
                </a:extLst>
              </p:cNvPr>
              <p:cNvSpPr txBox="1"/>
              <p:nvPr/>
            </p:nvSpPr>
            <p:spPr>
              <a:xfrm>
                <a:off x="4000404" y="2439680"/>
                <a:ext cx="5159489" cy="3960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𝑏</m:t>
                          </m:r>
                        </m:e>
                        <m:sub>
                          <m:r>
                            <a:rPr lang="it-IT" b="0" i="1" smtClean="0">
                              <a:latin typeface="Cambria Math" panose="02040503050406030204" pitchFamily="18" charset="0"/>
                            </a:rPr>
                            <m:t>𝑘</m:t>
                          </m:r>
                          <m:r>
                            <a:rPr lang="it-IT" b="0" i="1" smtClean="0">
                              <a:latin typeface="Cambria Math" panose="02040503050406030204" pitchFamily="18" charset="0"/>
                            </a:rPr>
                            <m:t>+1</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𝑏</m:t>
                          </m:r>
                        </m:e>
                        <m:sub>
                          <m:r>
                            <a:rPr lang="it-IT" i="1">
                              <a:latin typeface="Cambria Math" panose="02040503050406030204" pitchFamily="18" charset="0"/>
                            </a:rPr>
                            <m:t>𝑘</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𝑐𝑜𝑛𝑠𝑢𝑚𝑜</m:t>
                          </m:r>
                        </m:e>
                        <m:sub>
                          <m:d>
                            <m:dPr>
                              <m:ctrlPr>
                                <a:rPr lang="it-IT" b="0" i="1" smtClean="0">
                                  <a:latin typeface="Cambria Math" panose="02040503050406030204" pitchFamily="18" charset="0"/>
                                </a:rPr>
                              </m:ctrlPr>
                            </m:dPr>
                            <m:e>
                              <m:r>
                                <a:rPr lang="it-IT" b="0" i="1" smtClean="0">
                                  <a:latin typeface="Cambria Math" panose="02040503050406030204" pitchFamily="18" charset="0"/>
                                </a:rPr>
                                <m:t>𝑖</m:t>
                              </m:r>
                              <m:r>
                                <a:rPr lang="it-IT" b="0" i="1" smtClean="0">
                                  <a:latin typeface="Cambria Math" panose="02040503050406030204" pitchFamily="18" charset="0"/>
                                </a:rPr>
                                <m:t>,</m:t>
                              </m:r>
                              <m:r>
                                <a:rPr lang="it-IT" b="0" i="1" smtClean="0">
                                  <a:latin typeface="Cambria Math" panose="02040503050406030204" pitchFamily="18" charset="0"/>
                                </a:rPr>
                                <m:t>𝑗</m:t>
                              </m:r>
                            </m:e>
                          </m:d>
                        </m:sub>
                      </m:sSub>
                      <m:r>
                        <a:rPr lang="it-IT" b="0" i="1" smtClean="0">
                          <a:latin typeface="Cambria Math" panose="02040503050406030204" pitchFamily="18" charset="0"/>
                        </a:rPr>
                        <m:t> </m:t>
                      </m:r>
                      <m:r>
                        <a:rPr lang="it-IT" b="0" i="1" smtClean="0">
                          <a:latin typeface="Cambria Math" panose="02040503050406030204" pitchFamily="18" charset="0"/>
                        </a:rPr>
                        <m:t>𝑠𝑒</m:t>
                      </m:r>
                      <m:r>
                        <a:rPr lang="it-IT" b="0" i="1" smtClean="0">
                          <a:latin typeface="Cambria Math" panose="02040503050406030204" pitchFamily="18" charset="0"/>
                        </a:rPr>
                        <m:t> </m:t>
                      </m:r>
                      <m:r>
                        <a:rPr lang="it-IT" b="0" i="1" smtClean="0">
                          <a:latin typeface="Cambria Math" panose="02040503050406030204" pitchFamily="18" charset="0"/>
                        </a:rPr>
                        <m:t>𝑖</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𝑗</m:t>
                      </m:r>
                    </m:oMath>
                  </m:oMathPara>
                </a14:m>
                <a:endParaRPr dirty="0"/>
              </a:p>
            </p:txBody>
          </p:sp>
        </mc:Choice>
        <mc:Fallback xmlns="">
          <p:sp>
            <p:nvSpPr>
              <p:cNvPr id="6" name="CasellaDiTesto 5">
                <a:extLst>
                  <a:ext uri="{FF2B5EF4-FFF2-40B4-BE49-F238E27FC236}">
                    <a16:creationId xmlns:a16="http://schemas.microsoft.com/office/drawing/2014/main" id="{B041687F-92C2-9052-BD98-94F9FC5B4F41}"/>
                  </a:ext>
                </a:extLst>
              </p:cNvPr>
              <p:cNvSpPr txBox="1">
                <a:spLocks noRot="1" noChangeAspect="1" noMove="1" noResize="1" noEditPoints="1" noAdjustHandles="1" noChangeArrowheads="1" noChangeShapeType="1" noTextEdit="1"/>
              </p:cNvSpPr>
              <p:nvPr/>
            </p:nvSpPr>
            <p:spPr>
              <a:xfrm>
                <a:off x="4000404" y="2439680"/>
                <a:ext cx="5159489" cy="396006"/>
              </a:xfrm>
              <a:prstGeom prst="rect">
                <a:avLst/>
              </a:prstGeom>
              <a:blipFill>
                <a:blip r:embed="rId4"/>
                <a:stretch>
                  <a:fillRect b="-769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4EA37DED-20EB-418A-1ADB-121030FDC235}"/>
                  </a:ext>
                </a:extLst>
              </p:cNvPr>
              <p:cNvSpPr txBox="1"/>
              <p:nvPr/>
            </p:nvSpPr>
            <p:spPr>
              <a:xfrm>
                <a:off x="4000401" y="4925649"/>
                <a:ext cx="515948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𝐶𝑜𝑠𝑡𝑜</m:t>
                          </m:r>
                        </m:e>
                        <m:sub>
                          <m:r>
                            <a:rPr lang="it-IT" b="0" i="1" smtClean="0">
                              <a:latin typeface="Cambria Math" panose="02040503050406030204" pitchFamily="18" charset="0"/>
                            </a:rPr>
                            <m:t>𝑡𝑜𝑡𝑎𝑙𝑒</m:t>
                          </m:r>
                        </m:sub>
                      </m:sSub>
                      <m:r>
                        <a:rPr lang="it-IT" i="1">
                          <a:latin typeface="Cambria Math" panose="02040503050406030204" pitchFamily="18" charset="0"/>
                          <a:ea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𝑚𝑎𝑥</m:t>
                          </m:r>
                        </m:sub>
                      </m:sSub>
                    </m:oMath>
                  </m:oMathPara>
                </a14:m>
                <a:endParaRPr dirty="0"/>
              </a:p>
            </p:txBody>
          </p:sp>
        </mc:Choice>
        <mc:Fallback xmlns="">
          <p:sp>
            <p:nvSpPr>
              <p:cNvPr id="7" name="CasellaDiTesto 6">
                <a:extLst>
                  <a:ext uri="{FF2B5EF4-FFF2-40B4-BE49-F238E27FC236}">
                    <a16:creationId xmlns:a16="http://schemas.microsoft.com/office/drawing/2014/main" id="{4EA37DED-20EB-418A-1ADB-121030FDC235}"/>
                  </a:ext>
                </a:extLst>
              </p:cNvPr>
              <p:cNvSpPr txBox="1">
                <a:spLocks noRot="1" noChangeAspect="1" noMove="1" noResize="1" noEditPoints="1" noAdjustHandles="1" noChangeArrowheads="1" noChangeShapeType="1" noTextEdit="1"/>
              </p:cNvSpPr>
              <p:nvPr/>
            </p:nvSpPr>
            <p:spPr>
              <a:xfrm>
                <a:off x="4000401" y="4925649"/>
                <a:ext cx="5159489" cy="369332"/>
              </a:xfrm>
              <a:prstGeom prst="rect">
                <a:avLst/>
              </a:prstGeom>
              <a:blipFill>
                <a:blip r:embed="rId5"/>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2145A296-C7CA-D976-B5E1-10DC9D90C9D5}"/>
                  </a:ext>
                </a:extLst>
              </p:cNvPr>
              <p:cNvSpPr txBox="1"/>
              <p:nvPr/>
            </p:nvSpPr>
            <p:spPr>
              <a:xfrm>
                <a:off x="4000404" y="6082288"/>
                <a:ext cx="5159489" cy="800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𝐶𝑜𝑠𝑡𝑜</m:t>
                          </m:r>
                        </m:e>
                        <m:sub>
                          <m:r>
                            <a:rPr lang="it-IT" b="0" i="1" smtClean="0">
                              <a:latin typeface="Cambria Math" panose="02040503050406030204" pitchFamily="18" charset="0"/>
                            </a:rPr>
                            <m:t>𝑡𝑜𝑡𝑎𝑙𝑒</m:t>
                          </m:r>
                        </m:sub>
                      </m:sSub>
                      <m:r>
                        <a:rPr lang="it-IT" b="0" i="1" smtClean="0">
                          <a:latin typeface="Cambria Math" panose="02040503050406030204" pitchFamily="18" charset="0"/>
                        </a:rPr>
                        <m:t>=</m:t>
                      </m:r>
                      <m:nary>
                        <m:naryPr>
                          <m:chr m:val="∑"/>
                          <m:supHide m:val="on"/>
                          <m:ctrlPr>
                            <a:rPr lang="it-IT" i="1">
                              <a:latin typeface="Cambria Math" panose="02040503050406030204" pitchFamily="18" charset="0"/>
                            </a:rPr>
                          </m:ctrlPr>
                        </m:naryPr>
                        <m:sub>
                          <m:r>
                            <m:rPr>
                              <m:brk m:alnAt="7"/>
                            </m:rPr>
                            <a:rPr lang="it-IT" i="1">
                              <a:latin typeface="Cambria Math" panose="02040503050406030204" pitchFamily="18" charset="0"/>
                            </a:rPr>
                            <m:t>(</m:t>
                          </m:r>
                          <m:r>
                            <a:rPr lang="it-IT" i="1">
                              <a:latin typeface="Cambria Math" panose="02040503050406030204" pitchFamily="18" charset="0"/>
                            </a:rPr>
                            <m:t>𝑖</m:t>
                          </m:r>
                          <m:r>
                            <a:rPr lang="it-IT" i="1">
                              <a:latin typeface="Cambria Math" panose="02040503050406030204" pitchFamily="18" charset="0"/>
                            </a:rPr>
                            <m:t>,</m:t>
                          </m:r>
                          <m:r>
                            <a:rPr lang="it-IT" i="1">
                              <a:latin typeface="Cambria Math" panose="02040503050406030204" pitchFamily="18" charset="0"/>
                            </a:rPr>
                            <m:t>𝑗</m:t>
                          </m:r>
                          <m:r>
                            <a:rPr lang="it-IT" i="1">
                              <a:latin typeface="Cambria Math" panose="02040503050406030204" pitchFamily="18" charset="0"/>
                            </a:rPr>
                            <m:t>)∈</m:t>
                          </m:r>
                          <m:r>
                            <a:rPr lang="it-IT" i="1">
                              <a:latin typeface="Cambria Math" panose="02040503050406030204" pitchFamily="18" charset="0"/>
                              <a:ea typeface="Cambria Math" panose="02040503050406030204" pitchFamily="18" charset="0"/>
                            </a:rPr>
                            <m:t>𝑃</m:t>
                          </m:r>
                        </m:sub>
                        <m:sup/>
                        <m:e>
                          <m:sSub>
                            <m:sSubPr>
                              <m:ctrlPr>
                                <a:rPr lang="it-IT"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𝑐</m:t>
                              </m:r>
                            </m:e>
                            <m:sub>
                              <m:r>
                                <a:rPr lang="it-IT" b="0" i="1" smtClean="0">
                                  <a:latin typeface="Cambria Math" panose="02040503050406030204" pitchFamily="18" charset="0"/>
                                  <a:ea typeface="Cambria Math" panose="02040503050406030204" pitchFamily="18" charset="0"/>
                                </a:rPr>
                                <m:t>𝑖𝑗</m:t>
                              </m:r>
                            </m:sub>
                          </m:sSub>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𝑝𝑒𝑑𝑎𝑔𝑔𝑖</m:t>
                          </m:r>
                          <m:sSub>
                            <m:sSubPr>
                              <m:ctrlPr>
                                <a:rPr lang="it-IT" b="0"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𝑜</m:t>
                              </m:r>
                            </m:e>
                            <m:sub>
                              <m:r>
                                <a:rPr lang="it-IT" b="0" i="1" smtClean="0">
                                  <a:latin typeface="Cambria Math" panose="02040503050406030204" pitchFamily="18" charset="0"/>
                                  <a:ea typeface="Cambria Math" panose="02040503050406030204" pitchFamily="18" charset="0"/>
                                </a:rPr>
                                <m:t>𝑖𝑗</m:t>
                              </m:r>
                            </m:sub>
                          </m:sSub>
                        </m:e>
                      </m:nary>
                    </m:oMath>
                  </m:oMathPara>
                </a14:m>
                <a:endParaRPr dirty="0"/>
              </a:p>
            </p:txBody>
          </p:sp>
        </mc:Choice>
        <mc:Fallback xmlns="">
          <p:sp>
            <p:nvSpPr>
              <p:cNvPr id="8" name="CasellaDiTesto 7">
                <a:extLst>
                  <a:ext uri="{FF2B5EF4-FFF2-40B4-BE49-F238E27FC236}">
                    <a16:creationId xmlns:a16="http://schemas.microsoft.com/office/drawing/2014/main" id="{2145A296-C7CA-D976-B5E1-10DC9D90C9D5}"/>
                  </a:ext>
                </a:extLst>
              </p:cNvPr>
              <p:cNvSpPr txBox="1">
                <a:spLocks noRot="1" noChangeAspect="1" noMove="1" noResize="1" noEditPoints="1" noAdjustHandles="1" noChangeArrowheads="1" noChangeShapeType="1" noTextEdit="1"/>
              </p:cNvSpPr>
              <p:nvPr/>
            </p:nvSpPr>
            <p:spPr>
              <a:xfrm>
                <a:off x="4000404" y="6082288"/>
                <a:ext cx="5159489" cy="800219"/>
              </a:xfrm>
              <a:prstGeom prst="rect">
                <a:avLst/>
              </a:prstGeom>
              <a:blipFill>
                <a:blip r:embed="rId6"/>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E6587FAD-03C7-BBBF-6776-C282E05E4C40}"/>
                  </a:ext>
                </a:extLst>
              </p:cNvPr>
              <p:cNvSpPr txBox="1"/>
              <p:nvPr/>
            </p:nvSpPr>
            <p:spPr>
              <a:xfrm>
                <a:off x="1840814" y="7377302"/>
                <a:ext cx="5159489" cy="3916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𝑐</m:t>
                          </m:r>
                        </m:e>
                        <m:sub>
                          <m:r>
                            <a:rPr lang="it-IT" b="0" i="1" smtClean="0">
                              <a:latin typeface="Cambria Math" panose="02040503050406030204" pitchFamily="18" charset="0"/>
                            </a:rPr>
                            <m:t>𝑖𝑗</m:t>
                          </m:r>
                        </m:sub>
                      </m:sSub>
                      <m:r>
                        <a:rPr lang="it-IT" b="0" i="1" smtClean="0">
                          <a:latin typeface="Cambria Math" panose="02040503050406030204" pitchFamily="18" charset="0"/>
                        </a:rPr>
                        <m:t>=</m:t>
                      </m:r>
                      <m:r>
                        <a:rPr lang="it-IT" b="0" i="1" smtClean="0">
                          <a:latin typeface="Cambria Math" panose="02040503050406030204" pitchFamily="18" charset="0"/>
                        </a:rPr>
                        <m:t>𝑘𝑊</m:t>
                      </m:r>
                      <m:sSub>
                        <m:sSubPr>
                          <m:ctrlPr>
                            <a:rPr lang="it-IT" b="0" i="1" smtClean="0">
                              <a:latin typeface="Cambria Math" panose="02040503050406030204" pitchFamily="18" charset="0"/>
                            </a:rPr>
                          </m:ctrlPr>
                        </m:sSubPr>
                        <m:e>
                          <m:r>
                            <a:rPr lang="it-IT" b="0" i="1" smtClean="0">
                              <a:latin typeface="Cambria Math" panose="02040503050406030204" pitchFamily="18" charset="0"/>
                            </a:rPr>
                            <m:t>h</m:t>
                          </m:r>
                        </m:e>
                        <m:sub>
                          <m:r>
                            <a:rPr lang="it-IT" b="0" i="1" smtClean="0">
                              <a:latin typeface="Cambria Math" panose="02040503050406030204" pitchFamily="18" charset="0"/>
                            </a:rPr>
                            <m:t>𝑐𝑜𝑛𝑠𝑢𝑚𝑎𝑡𝑖</m:t>
                          </m:r>
                        </m:sub>
                      </m:sSub>
                      <m:r>
                        <a:rPr lang="it-IT" b="0" i="1" smtClean="0">
                          <a:latin typeface="Cambria Math" panose="02040503050406030204" pitchFamily="18" charset="0"/>
                          <a:ea typeface="Cambria Math" panose="02040503050406030204" pitchFamily="18" charset="0"/>
                        </a:rPr>
                        <m:t>∙</m:t>
                      </m:r>
                      <m:sSub>
                        <m:sSubPr>
                          <m:ctrlPr>
                            <a:rPr lang="it-IT" b="0" i="1" smtClean="0">
                              <a:latin typeface="Cambria Math" panose="02040503050406030204" pitchFamily="18" charset="0"/>
                              <a:ea typeface="Cambria Math" panose="02040503050406030204" pitchFamily="18" charset="0"/>
                            </a:rPr>
                          </m:ctrlPr>
                        </m:sSubPr>
                        <m:e>
                          <m:r>
                            <m:rPr>
                              <m:sty m:val="p"/>
                            </m:rPr>
                            <a:rPr lang="it-IT" b="0" i="0" smtClean="0">
                              <a:latin typeface="Cambria Math" panose="02040503050406030204" pitchFamily="18" charset="0"/>
                              <a:ea typeface="Cambria Math" panose="02040503050406030204" pitchFamily="18" charset="0"/>
                            </a:rPr>
                            <m:t>costo</m:t>
                          </m:r>
                        </m:e>
                        <m:sub>
                          <m:r>
                            <m:rPr>
                              <m:sty m:val="p"/>
                            </m:rPr>
                            <a:rPr lang="it-IT" b="0" i="0" smtClean="0">
                              <a:latin typeface="Cambria Math" panose="02040503050406030204" pitchFamily="18" charset="0"/>
                              <a:ea typeface="Cambria Math" panose="02040503050406030204" pitchFamily="18" charset="0"/>
                            </a:rPr>
                            <m:t>kwh</m:t>
                          </m:r>
                        </m:sub>
                      </m:sSub>
                    </m:oMath>
                  </m:oMathPara>
                </a14:m>
                <a:endParaRPr dirty="0"/>
              </a:p>
            </p:txBody>
          </p:sp>
        </mc:Choice>
        <mc:Fallback xmlns="">
          <p:sp>
            <p:nvSpPr>
              <p:cNvPr id="9" name="CasellaDiTesto 8">
                <a:extLst>
                  <a:ext uri="{FF2B5EF4-FFF2-40B4-BE49-F238E27FC236}">
                    <a16:creationId xmlns:a16="http://schemas.microsoft.com/office/drawing/2014/main" id="{E6587FAD-03C7-BBBF-6776-C282E05E4C40}"/>
                  </a:ext>
                </a:extLst>
              </p:cNvPr>
              <p:cNvSpPr txBox="1">
                <a:spLocks noRot="1" noChangeAspect="1" noMove="1" noResize="1" noEditPoints="1" noAdjustHandles="1" noChangeArrowheads="1" noChangeShapeType="1" noTextEdit="1"/>
              </p:cNvSpPr>
              <p:nvPr/>
            </p:nvSpPr>
            <p:spPr>
              <a:xfrm>
                <a:off x="1840814" y="7377302"/>
                <a:ext cx="5159489" cy="391646"/>
              </a:xfrm>
              <a:prstGeom prst="rect">
                <a:avLst/>
              </a:prstGeom>
              <a:blipFill>
                <a:blip r:embed="rId7"/>
                <a:stretch>
                  <a:fillRect b="-937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57B1A9E9-E530-EFDC-B1B3-1B0749870414}"/>
                  </a:ext>
                </a:extLst>
              </p:cNvPr>
              <p:cNvSpPr txBox="1"/>
              <p:nvPr/>
            </p:nvSpPr>
            <p:spPr>
              <a:xfrm>
                <a:off x="4000402" y="3680427"/>
                <a:ext cx="515948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𝑏</m:t>
                          </m:r>
                        </m:e>
                        <m:sub>
                          <m:r>
                            <a:rPr lang="it-IT" b="0" i="1" smtClean="0">
                              <a:latin typeface="Cambria Math" panose="02040503050406030204" pitchFamily="18" charset="0"/>
                            </a:rPr>
                            <m:t>𝑘</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𝑏</m:t>
                          </m:r>
                        </m:e>
                        <m:sub>
                          <m:r>
                            <a:rPr lang="it-IT" b="0" i="1" smtClean="0">
                              <a:latin typeface="Cambria Math" panose="02040503050406030204" pitchFamily="18" charset="0"/>
                            </a:rPr>
                            <m:t>𝑀𝐴𝑋</m:t>
                          </m:r>
                        </m:sub>
                      </m:sSub>
                      <m:r>
                        <a:rPr lang="it-IT" b="0" i="1" smtClean="0">
                          <a:latin typeface="Cambria Math" panose="02040503050406030204" pitchFamily="18" charset="0"/>
                        </a:rPr>
                        <m:t> </m:t>
                      </m:r>
                      <m:r>
                        <a:rPr lang="it-IT" b="0" i="1" smtClean="0">
                          <a:latin typeface="Cambria Math" panose="02040503050406030204" pitchFamily="18" charset="0"/>
                        </a:rPr>
                        <m:t>𝑠𝑒</m:t>
                      </m:r>
                      <m:r>
                        <a:rPr lang="it-IT" b="0" i="1" smtClean="0">
                          <a:latin typeface="Cambria Math" panose="02040503050406030204" pitchFamily="18" charset="0"/>
                        </a:rPr>
                        <m:t> </m:t>
                      </m:r>
                      <m:r>
                        <a:rPr lang="it-IT" b="0" i="1" smtClean="0">
                          <a:latin typeface="Cambria Math" panose="02040503050406030204" pitchFamily="18" charset="0"/>
                        </a:rPr>
                        <m:t>𝑠𝑜𝑛𝑜</m:t>
                      </m:r>
                      <m:r>
                        <a:rPr lang="it-IT" b="0" i="1" smtClean="0">
                          <a:latin typeface="Cambria Math" panose="02040503050406030204" pitchFamily="18" charset="0"/>
                        </a:rPr>
                        <m:t> </m:t>
                      </m:r>
                      <m:r>
                        <a:rPr lang="it-IT" b="0" i="1" smtClean="0">
                          <a:latin typeface="Cambria Math" panose="02040503050406030204" pitchFamily="18" charset="0"/>
                        </a:rPr>
                        <m:t>𝑖𝑛</m:t>
                      </m:r>
                      <m:r>
                        <a:rPr lang="it-IT" b="0" i="1" smtClean="0">
                          <a:latin typeface="Cambria Math" panose="02040503050406030204" pitchFamily="18" charset="0"/>
                        </a:rPr>
                        <m:t> </m:t>
                      </m:r>
                      <m:r>
                        <a:rPr lang="it-IT" b="0" i="1" smtClean="0">
                          <a:latin typeface="Cambria Math" panose="02040503050406030204" pitchFamily="18" charset="0"/>
                        </a:rPr>
                        <m:t>𝑢𝑛</m:t>
                      </m:r>
                      <m:r>
                        <a:rPr lang="it-IT" b="0" i="1" smtClean="0">
                          <a:latin typeface="Cambria Math" panose="02040503050406030204" pitchFamily="18" charset="0"/>
                        </a:rPr>
                        <m:t> </m:t>
                      </m:r>
                      <m:r>
                        <a:rPr lang="it-IT" b="0" i="1" smtClean="0">
                          <a:latin typeface="Cambria Math" panose="02040503050406030204" pitchFamily="18" charset="0"/>
                        </a:rPr>
                        <m:t>𝑛𝑜𝑑𝑜</m:t>
                      </m:r>
                      <m:r>
                        <a:rPr lang="it-IT" b="0" i="1" smtClean="0">
                          <a:latin typeface="Cambria Math" panose="02040503050406030204" pitchFamily="18" charset="0"/>
                        </a:rPr>
                        <m:t> </m:t>
                      </m:r>
                      <m:r>
                        <a:rPr lang="it-IT" b="0" i="1" smtClean="0">
                          <a:latin typeface="Cambria Math" panose="02040503050406030204" pitchFamily="18" charset="0"/>
                        </a:rPr>
                        <m:t>𝑑𝑖</m:t>
                      </m:r>
                      <m:r>
                        <a:rPr lang="it-IT" b="0" i="1" smtClean="0">
                          <a:latin typeface="Cambria Math" panose="02040503050406030204" pitchFamily="18" charset="0"/>
                        </a:rPr>
                        <m:t> </m:t>
                      </m:r>
                      <m:r>
                        <a:rPr lang="it-IT" b="0" i="1" smtClean="0">
                          <a:latin typeface="Cambria Math" panose="02040503050406030204" pitchFamily="18" charset="0"/>
                        </a:rPr>
                        <m:t>𝑟𝑖𝑐𝑎𝑟𝑖𝑐𝑎</m:t>
                      </m:r>
                    </m:oMath>
                  </m:oMathPara>
                </a14:m>
                <a:endParaRPr dirty="0"/>
              </a:p>
            </p:txBody>
          </p:sp>
        </mc:Choice>
        <mc:Fallback xmlns="">
          <p:sp>
            <p:nvSpPr>
              <p:cNvPr id="10" name="CasellaDiTesto 9">
                <a:extLst>
                  <a:ext uri="{FF2B5EF4-FFF2-40B4-BE49-F238E27FC236}">
                    <a16:creationId xmlns:a16="http://schemas.microsoft.com/office/drawing/2014/main" id="{57B1A9E9-E530-EFDC-B1B3-1B0749870414}"/>
                  </a:ext>
                </a:extLst>
              </p:cNvPr>
              <p:cNvSpPr txBox="1">
                <a:spLocks noRot="1" noChangeAspect="1" noMove="1" noResize="1" noEditPoints="1" noAdjustHandles="1" noChangeArrowheads="1" noChangeShapeType="1" noTextEdit="1"/>
              </p:cNvSpPr>
              <p:nvPr/>
            </p:nvSpPr>
            <p:spPr>
              <a:xfrm>
                <a:off x="4000402" y="3680427"/>
                <a:ext cx="5159489" cy="369332"/>
              </a:xfrm>
              <a:prstGeom prst="rect">
                <a:avLst/>
              </a:prstGeom>
              <a:blipFill>
                <a:blip r:embed="rId8"/>
                <a:stretch>
                  <a:fillRect/>
                </a:stretch>
              </a:blipFill>
            </p:spPr>
            <p:txBody>
              <a:bodyPr/>
              <a:lstStyle/>
              <a:p>
                <a:r>
                  <a:rPr lang="it-IT">
                    <a:noFill/>
                  </a:rPr>
                  <a:t> </a:t>
                </a:r>
              </a:p>
            </p:txBody>
          </p:sp>
        </mc:Fallback>
      </mc:AlternateContent>
      <p:sp>
        <p:nvSpPr>
          <p:cNvPr id="2" name="Text 0">
            <a:extLst>
              <a:ext uri="{FF2B5EF4-FFF2-40B4-BE49-F238E27FC236}">
                <a16:creationId xmlns:a16="http://schemas.microsoft.com/office/drawing/2014/main" id="{AA775CD4-0315-C46B-D734-3BF51170254D}"/>
              </a:ext>
            </a:extLst>
          </p:cNvPr>
          <p:cNvSpPr/>
          <p:nvPr/>
        </p:nvSpPr>
        <p:spPr>
          <a:xfrm>
            <a:off x="783353" y="-37868"/>
            <a:ext cx="11593592" cy="676870"/>
          </a:xfrm>
          <a:prstGeom prst="rect">
            <a:avLst/>
          </a:prstGeom>
          <a:noFill/>
          <a:ln/>
        </p:spPr>
        <p:txBody>
          <a:bodyPr wrap="none" lIns="0" tIns="0" rIns="0" bIns="0" rtlCol="0" anchor="t"/>
          <a:lstStyle/>
          <a:p>
            <a:pPr marL="0" indent="0">
              <a:lnSpc>
                <a:spcPts val="5300"/>
              </a:lnSpc>
              <a:buNone/>
            </a:pPr>
            <a:r>
              <a:rPr lang="en-US" sz="2400" dirty="0">
                <a:latin typeface="Outfit Extra Bold" pitchFamily="34" charset="0"/>
                <a:ea typeface="Outfit Extra Bold" pitchFamily="34" charset="-122"/>
                <a:cs typeface="Outfit Extra Bold" pitchFamily="34" charset="-120"/>
              </a:rPr>
              <a:t>2.VINCOLI</a:t>
            </a:r>
            <a:endParaRPr lang="en-US" sz="2400" dirty="0"/>
          </a:p>
        </p:txBody>
      </p:sp>
      <p:sp>
        <p:nvSpPr>
          <p:cNvPr id="4" name="CasellaDiTesto 3">
            <a:extLst>
              <a:ext uri="{FF2B5EF4-FFF2-40B4-BE49-F238E27FC236}">
                <a16:creationId xmlns:a16="http://schemas.microsoft.com/office/drawing/2014/main" id="{19169B51-1C1F-05EB-BC3E-A51A809D2BF9}"/>
              </a:ext>
            </a:extLst>
          </p:cNvPr>
          <p:cNvSpPr txBox="1"/>
          <p:nvPr/>
        </p:nvSpPr>
        <p:spPr>
          <a:xfrm>
            <a:off x="727598" y="646771"/>
            <a:ext cx="13218397" cy="369332"/>
          </a:xfrm>
          <a:prstGeom prst="rect">
            <a:avLst/>
          </a:prstGeom>
          <a:noFill/>
        </p:spPr>
        <p:txBody>
          <a:bodyPr wrap="square" rtlCol="0">
            <a:spAutoFit/>
          </a:bodyPr>
          <a:lstStyle/>
          <a:p>
            <a:pPr marL="285750" indent="-285750">
              <a:buFont typeface="Arial" panose="020B0604020202020204" pitchFamily="34" charset="0"/>
              <a:buChar char="•"/>
            </a:pPr>
            <a:r>
              <a:rPr lang="it-IT" b="1" dirty="0"/>
              <a:t>Vincolo sulla capacità residua della batteria</a:t>
            </a:r>
            <a:endParaRPr lang="it-IT" dirty="0"/>
          </a:p>
        </p:txBody>
      </p:sp>
      <p:sp>
        <p:nvSpPr>
          <p:cNvPr id="11" name="CasellaDiTesto 10">
            <a:extLst>
              <a:ext uri="{FF2B5EF4-FFF2-40B4-BE49-F238E27FC236}">
                <a16:creationId xmlns:a16="http://schemas.microsoft.com/office/drawing/2014/main" id="{4A96C671-B6F1-8DFF-278D-2BFD214D8B59}"/>
              </a:ext>
            </a:extLst>
          </p:cNvPr>
          <p:cNvSpPr txBox="1"/>
          <p:nvPr/>
        </p:nvSpPr>
        <p:spPr>
          <a:xfrm>
            <a:off x="646482" y="4566107"/>
            <a:ext cx="13755607" cy="369332"/>
          </a:xfrm>
          <a:prstGeom prst="rect">
            <a:avLst/>
          </a:prstGeom>
          <a:noFill/>
        </p:spPr>
        <p:txBody>
          <a:bodyPr wrap="square" rtlCol="0">
            <a:spAutoFit/>
          </a:bodyPr>
          <a:lstStyle/>
          <a:p>
            <a:pPr marL="285750" indent="-285750">
              <a:buFont typeface="Arial" panose="020B0604020202020204" pitchFamily="34" charset="0"/>
              <a:buChar char="•"/>
            </a:pPr>
            <a:r>
              <a:rPr lang="it-IT" sz="1800" b="1" dirty="0"/>
              <a:t>Vincolo sul costo totale del viaggio</a:t>
            </a:r>
            <a:r>
              <a:rPr lang="it-IT" sz="1800" dirty="0"/>
              <a:t>:</a:t>
            </a:r>
            <a:endParaRPr lang="it-IT" dirty="0"/>
          </a:p>
        </p:txBody>
      </p:sp>
      <p:sp>
        <p:nvSpPr>
          <p:cNvPr id="12" name="CasellaDiTesto 11">
            <a:extLst>
              <a:ext uri="{FF2B5EF4-FFF2-40B4-BE49-F238E27FC236}">
                <a16:creationId xmlns:a16="http://schemas.microsoft.com/office/drawing/2014/main" id="{46DC6F4D-158D-AB97-F147-D3AEF96E488A}"/>
              </a:ext>
            </a:extLst>
          </p:cNvPr>
          <p:cNvSpPr txBox="1"/>
          <p:nvPr/>
        </p:nvSpPr>
        <p:spPr>
          <a:xfrm>
            <a:off x="1036997" y="2116515"/>
            <a:ext cx="2359941" cy="646331"/>
          </a:xfrm>
          <a:prstGeom prst="rect">
            <a:avLst/>
          </a:prstGeom>
          <a:noFill/>
        </p:spPr>
        <p:txBody>
          <a:bodyPr wrap="none" rtlCol="0">
            <a:spAutoFit/>
          </a:bodyPr>
          <a:lstStyle/>
          <a:p>
            <a:pPr marL="742950" lvl="1" indent="-285750">
              <a:buFont typeface="Arial" panose="020B0604020202020204" pitchFamily="34" charset="0"/>
              <a:buChar char="•"/>
            </a:pPr>
            <a:r>
              <a:rPr lang="it-IT" dirty="0"/>
              <a:t>Ad ogni passo:</a:t>
            </a:r>
          </a:p>
          <a:p>
            <a:endParaRPr lang="it-IT" dirty="0"/>
          </a:p>
        </p:txBody>
      </p:sp>
      <p:sp>
        <p:nvSpPr>
          <p:cNvPr id="13" name="CasellaDiTesto 12">
            <a:extLst>
              <a:ext uri="{FF2B5EF4-FFF2-40B4-BE49-F238E27FC236}">
                <a16:creationId xmlns:a16="http://schemas.microsoft.com/office/drawing/2014/main" id="{972D0A80-4E0A-94AC-646B-EB43F9A58122}"/>
              </a:ext>
            </a:extLst>
          </p:cNvPr>
          <p:cNvSpPr txBox="1"/>
          <p:nvPr/>
        </p:nvSpPr>
        <p:spPr>
          <a:xfrm>
            <a:off x="1036996" y="3119557"/>
            <a:ext cx="3197029" cy="646331"/>
          </a:xfrm>
          <a:prstGeom prst="rect">
            <a:avLst/>
          </a:prstGeom>
          <a:noFill/>
        </p:spPr>
        <p:txBody>
          <a:bodyPr wrap="none" rtlCol="0">
            <a:spAutoFit/>
          </a:bodyPr>
          <a:lstStyle/>
          <a:p>
            <a:pPr marL="742950" lvl="1" indent="-285750">
              <a:buFont typeface="Arial" panose="020B0604020202020204" pitchFamily="34" charset="0"/>
              <a:buChar char="•"/>
            </a:pPr>
            <a:r>
              <a:rPr lang="it-IT" dirty="0"/>
              <a:t>Nel caso di sostituzione:</a:t>
            </a:r>
          </a:p>
          <a:p>
            <a:endParaRPr lang="it-IT" dirty="0"/>
          </a:p>
        </p:txBody>
      </p:sp>
      <p:sp>
        <p:nvSpPr>
          <p:cNvPr id="14" name="CasellaDiTesto 13">
            <a:extLst>
              <a:ext uri="{FF2B5EF4-FFF2-40B4-BE49-F238E27FC236}">
                <a16:creationId xmlns:a16="http://schemas.microsoft.com/office/drawing/2014/main" id="{A08CCC89-F1D1-ACAC-C6B4-CCAB58BD17EE}"/>
              </a:ext>
            </a:extLst>
          </p:cNvPr>
          <p:cNvSpPr txBox="1"/>
          <p:nvPr/>
        </p:nvSpPr>
        <p:spPr>
          <a:xfrm>
            <a:off x="1036996" y="5836067"/>
            <a:ext cx="3828805" cy="646331"/>
          </a:xfrm>
          <a:prstGeom prst="rect">
            <a:avLst/>
          </a:prstGeom>
          <a:noFill/>
        </p:spPr>
        <p:txBody>
          <a:bodyPr wrap="none" rtlCol="0">
            <a:spAutoFit/>
          </a:bodyPr>
          <a:lstStyle/>
          <a:p>
            <a:pPr marL="742950" lvl="1" indent="-285750">
              <a:buFont typeface="Arial" panose="020B0604020202020204" pitchFamily="34" charset="0"/>
              <a:buChar char="•"/>
            </a:pPr>
            <a:r>
              <a:rPr lang="it-IT" dirty="0"/>
              <a:t>Il costo totale è calcolato come</a:t>
            </a:r>
          </a:p>
          <a:p>
            <a:endParaRPr lang="it-IT" dirty="0"/>
          </a:p>
        </p:txBody>
      </p:sp>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2A2012F4-6AED-1D2A-0B1D-3A113E3FD13C}"/>
                  </a:ext>
                </a:extLst>
              </p:cNvPr>
              <p:cNvSpPr txBox="1"/>
              <p:nvPr/>
            </p:nvSpPr>
            <p:spPr>
              <a:xfrm>
                <a:off x="1048720" y="6941007"/>
                <a:ext cx="2000804" cy="369332"/>
              </a:xfrm>
              <a:prstGeom prst="rect">
                <a:avLst/>
              </a:prstGeom>
              <a:noFill/>
            </p:spPr>
            <p:txBody>
              <a:bodyPr wrap="none" rtlCol="0">
                <a:spAutoFit/>
              </a:bodyPr>
              <a:lstStyle/>
              <a:p>
                <a:pPr marL="1200150" lvl="2" indent="-285750">
                  <a:buFont typeface="Arial" panose="020B0604020202020204" pitchFamily="34" charset="0"/>
                  <a:buChar char="•"/>
                </a:pPr>
                <a:r>
                  <a:rPr lang="it-IT" dirty="0"/>
                  <a:t>Dove</a:t>
                </a:r>
                <a14:m>
                  <m:oMath xmlns:m="http://schemas.openxmlformats.org/officeDocument/2006/math">
                    <m:r>
                      <a:rPr lang="it-IT" b="0" i="1" smtClean="0">
                        <a:latin typeface="Cambria Math" panose="02040503050406030204" pitchFamily="18" charset="0"/>
                      </a:rPr>
                      <m:t>:</m:t>
                    </m:r>
                  </m:oMath>
                </a14:m>
                <a:endParaRPr lang="it-IT" dirty="0"/>
              </a:p>
            </p:txBody>
          </p:sp>
        </mc:Choice>
        <mc:Fallback xmlns="">
          <p:sp>
            <p:nvSpPr>
              <p:cNvPr id="15" name="CasellaDiTesto 14">
                <a:extLst>
                  <a:ext uri="{FF2B5EF4-FFF2-40B4-BE49-F238E27FC236}">
                    <a16:creationId xmlns:a16="http://schemas.microsoft.com/office/drawing/2014/main" id="{2A2012F4-6AED-1D2A-0B1D-3A113E3FD13C}"/>
                  </a:ext>
                </a:extLst>
              </p:cNvPr>
              <p:cNvSpPr txBox="1">
                <a:spLocks noRot="1" noChangeAspect="1" noMove="1" noResize="1" noEditPoints="1" noAdjustHandles="1" noChangeArrowheads="1" noChangeShapeType="1" noTextEdit="1"/>
              </p:cNvSpPr>
              <p:nvPr/>
            </p:nvSpPr>
            <p:spPr>
              <a:xfrm>
                <a:off x="1048720" y="6941007"/>
                <a:ext cx="2000804" cy="369332"/>
              </a:xfrm>
              <a:prstGeom prst="rect">
                <a:avLst/>
              </a:prstGeom>
              <a:blipFill>
                <a:blip r:embed="rId9"/>
                <a:stretch>
                  <a:fillRect t="-10000" b="-2666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7E18C0F7-03FA-62C9-9307-5B7C0559E8D9}"/>
                  </a:ext>
                </a:extLst>
              </p:cNvPr>
              <p:cNvSpPr txBox="1"/>
              <p:nvPr/>
            </p:nvSpPr>
            <p:spPr>
              <a:xfrm>
                <a:off x="5361370" y="7387006"/>
                <a:ext cx="7315200"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𝑝𝑒𝑑𝑎𝑔𝑔𝑖</m:t>
                      </m:r>
                      <m:sSub>
                        <m:sSubPr>
                          <m:ctrlPr>
                            <a:rPr lang="it-IT" i="1">
                              <a:latin typeface="Cambria Math" panose="02040503050406030204" pitchFamily="18" charset="0"/>
                              <a:ea typeface="Cambria Math" panose="02040503050406030204" pitchFamily="18" charset="0"/>
                            </a:rPr>
                          </m:ctrlPr>
                        </m:sSubPr>
                        <m:e>
                          <m:r>
                            <a:rPr lang="it-IT" i="1">
                              <a:latin typeface="Cambria Math" panose="02040503050406030204" pitchFamily="18" charset="0"/>
                              <a:ea typeface="Cambria Math" panose="02040503050406030204" pitchFamily="18" charset="0"/>
                            </a:rPr>
                            <m:t>𝑜</m:t>
                          </m:r>
                        </m:e>
                        <m:sub>
                          <m:r>
                            <a:rPr lang="it-IT" i="1">
                              <a:latin typeface="Cambria Math" panose="02040503050406030204" pitchFamily="18" charset="0"/>
                              <a:ea typeface="Cambria Math" panose="02040503050406030204" pitchFamily="18" charset="0"/>
                            </a:rPr>
                            <m:t>𝑖𝑗</m:t>
                          </m:r>
                        </m:sub>
                      </m:sSub>
                      <m:r>
                        <a:rPr lang="ar-AE" b="0" i="1" smtClean="0">
                          <a:latin typeface="Cambria Math" panose="02040503050406030204" pitchFamily="18" charset="0"/>
                        </a:rPr>
                        <m:t>=</m:t>
                      </m:r>
                      <m:r>
                        <a:rPr lang="ar-AE" b="0" i="1" smtClean="0">
                          <a:latin typeface="Cambria Math" panose="02040503050406030204" pitchFamily="18" charset="0"/>
                        </a:rPr>
                        <m:t>𝑘</m:t>
                      </m:r>
                      <m:sSub>
                        <m:sSubPr>
                          <m:ctrlPr>
                            <a:rPr lang="ar-AE" b="0" i="1" smtClean="0">
                              <a:latin typeface="Cambria Math" panose="02040503050406030204" pitchFamily="18" charset="0"/>
                            </a:rPr>
                          </m:ctrlPr>
                        </m:sSubPr>
                        <m:e>
                          <m:r>
                            <a:rPr lang="it-IT" b="0" i="1" smtClean="0">
                              <a:latin typeface="Cambria Math" panose="02040503050406030204" pitchFamily="18" charset="0"/>
                            </a:rPr>
                            <m:t>𝑚</m:t>
                          </m:r>
                        </m:e>
                        <m:sub>
                          <m:r>
                            <a:rPr lang="it-IT" b="0" i="1" smtClean="0">
                              <a:latin typeface="Cambria Math" panose="02040503050406030204" pitchFamily="18" charset="0"/>
                            </a:rPr>
                            <m:t>𝑝𝑒𝑟𝑐𝑜𝑟𝑠𝑖</m:t>
                          </m:r>
                        </m:sub>
                      </m:sSub>
                      <m:r>
                        <a:rPr lang="ar-AE" b="0" i="1" smtClean="0">
                          <a:latin typeface="Cambria Math" panose="02040503050406030204" pitchFamily="18" charset="0"/>
                          <a:ea typeface="Cambria Math" panose="02040503050406030204" pitchFamily="18" charset="0"/>
                        </a:rPr>
                        <m:t>∙</m:t>
                      </m:r>
                      <m:sSub>
                        <m:sSubPr>
                          <m:ctrlPr>
                            <a:rPr lang="ar-AE" b="0" i="1" smtClean="0">
                              <a:latin typeface="Cambria Math" panose="02040503050406030204" pitchFamily="18" charset="0"/>
                              <a:ea typeface="Cambria Math" panose="02040503050406030204" pitchFamily="18" charset="0"/>
                            </a:rPr>
                          </m:ctrlPr>
                        </m:sSubPr>
                        <m:e>
                          <m:r>
                            <m:rPr>
                              <m:sty m:val="p"/>
                            </m:rPr>
                            <a:rPr lang="it-IT" b="0" i="0" smtClean="0">
                              <a:latin typeface="Cambria Math" panose="02040503050406030204" pitchFamily="18" charset="0"/>
                              <a:ea typeface="Cambria Math" panose="02040503050406030204" pitchFamily="18" charset="0"/>
                            </a:rPr>
                            <m:t>costo</m:t>
                          </m:r>
                        </m:e>
                        <m:sub>
                          <m:r>
                            <m:rPr>
                              <m:sty m:val="p"/>
                            </m:rPr>
                            <a:rPr lang="it-IT" b="0" i="0" smtClean="0">
                              <a:latin typeface="Cambria Math" panose="02040503050406030204" pitchFamily="18" charset="0"/>
                              <a:ea typeface="Cambria Math" panose="02040503050406030204" pitchFamily="18" charset="0"/>
                            </a:rPr>
                            <m:t>k</m:t>
                          </m:r>
                          <m:r>
                            <a:rPr lang="it-IT" b="0" i="1" smtClean="0">
                              <a:latin typeface="Cambria Math" panose="02040503050406030204" pitchFamily="18" charset="0"/>
                              <a:ea typeface="Cambria Math" panose="02040503050406030204" pitchFamily="18" charset="0"/>
                            </a:rPr>
                            <m:t>𝑚</m:t>
                          </m:r>
                        </m:sub>
                      </m:sSub>
                    </m:oMath>
                  </m:oMathPara>
                </a14:m>
                <a:endParaRPr lang="ar-AE" dirty="0"/>
              </a:p>
            </p:txBody>
          </p:sp>
        </mc:Choice>
        <mc:Fallback xmlns="">
          <p:sp>
            <p:nvSpPr>
              <p:cNvPr id="16" name="CasellaDiTesto 15">
                <a:extLst>
                  <a:ext uri="{FF2B5EF4-FFF2-40B4-BE49-F238E27FC236}">
                    <a16:creationId xmlns:a16="http://schemas.microsoft.com/office/drawing/2014/main" id="{7E18C0F7-03FA-62C9-9307-5B7C0559E8D9}"/>
                  </a:ext>
                </a:extLst>
              </p:cNvPr>
              <p:cNvSpPr txBox="1">
                <a:spLocks noRot="1" noChangeAspect="1" noMove="1" noResize="1" noEditPoints="1" noAdjustHandles="1" noChangeArrowheads="1" noChangeShapeType="1" noTextEdit="1"/>
              </p:cNvSpPr>
              <p:nvPr/>
            </p:nvSpPr>
            <p:spPr>
              <a:xfrm>
                <a:off x="5361370" y="7387006"/>
                <a:ext cx="7315200" cy="391646"/>
              </a:xfrm>
              <a:prstGeom prst="rect">
                <a:avLst/>
              </a:prstGeom>
              <a:blipFill>
                <a:blip r:embed="rId10"/>
                <a:stretch>
                  <a:fillRect b="-7813"/>
                </a:stretch>
              </a:blipFill>
            </p:spPr>
            <p:txBody>
              <a:bodyPr/>
              <a:lstStyle/>
              <a:p>
                <a:r>
                  <a:rPr lang="it-IT">
                    <a:noFill/>
                  </a:rPr>
                  <a:t> </a:t>
                </a:r>
              </a:p>
            </p:txBody>
          </p:sp>
        </mc:Fallback>
      </mc:AlternateContent>
    </p:spTree>
    <p:extLst>
      <p:ext uri="{BB962C8B-B14F-4D97-AF65-F5344CB8AC3E}">
        <p14:creationId xmlns:p14="http://schemas.microsoft.com/office/powerpoint/2010/main" val="37295708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0-#ppt_w/2"/>
                                          </p:val>
                                        </p:tav>
                                        <p:tav tm="100000">
                                          <p:val>
                                            <p:strVal val="#ppt_x"/>
                                          </p:val>
                                        </p:tav>
                                      </p:tavLst>
                                    </p:anim>
                                    <p:anim calcmode="lin" valueType="num">
                                      <p:cBhvr additive="base">
                                        <p:cTn id="34" dur="500" fill="hold"/>
                                        <p:tgtEl>
                                          <p:spTgt spid="11"/>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0-#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0-#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0-#ppt_w/2"/>
                                          </p:val>
                                        </p:tav>
                                        <p:tav tm="100000">
                                          <p:val>
                                            <p:strVal val="#ppt_x"/>
                                          </p:val>
                                        </p:tav>
                                      </p:tavLst>
                                    </p:anim>
                                    <p:anim calcmode="lin" valueType="num">
                                      <p:cBhvr additive="base">
                                        <p:cTn id="46" dur="500" fill="hold"/>
                                        <p:tgtEl>
                                          <p:spTgt spid="8"/>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0-#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0-#ppt_w/2"/>
                                          </p:val>
                                        </p:tav>
                                        <p:tav tm="100000">
                                          <p:val>
                                            <p:strVal val="#ppt_x"/>
                                          </p:val>
                                        </p:tav>
                                      </p:tavLst>
                                    </p:anim>
                                    <p:anim calcmode="lin" valueType="num">
                                      <p:cBhvr additive="base">
                                        <p:cTn id="5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4" grpId="0"/>
      <p:bldP spid="11" grpId="0"/>
      <p:bldP spid="12" grpId="0"/>
      <p:bldP spid="13" grpId="0"/>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62330" y="1246410"/>
            <a:ext cx="7592139" cy="905775"/>
          </a:xfrm>
          <a:prstGeom prst="rect">
            <a:avLst/>
          </a:prstGeom>
          <a:noFill/>
          <a:ln/>
        </p:spPr>
        <p:txBody>
          <a:bodyPr wrap="square" lIns="0" tIns="0" rIns="0" bIns="0" rtlCol="0" anchor="t"/>
          <a:lstStyle/>
          <a:p>
            <a:pPr marL="0" indent="0">
              <a:lnSpc>
                <a:spcPts val="5450"/>
              </a:lnSpc>
              <a:buNone/>
            </a:pPr>
            <a:r>
              <a:rPr lang="en-US" sz="4350" b="1" dirty="0" err="1">
                <a:solidFill>
                  <a:srgbClr val="231971"/>
                </a:solidFill>
                <a:latin typeface="Outfit Extra Bold" pitchFamily="34" charset="0"/>
                <a:ea typeface="Outfit Extra Bold" pitchFamily="34" charset="-122"/>
                <a:cs typeface="Outfit Extra Bold" pitchFamily="34" charset="-120"/>
              </a:rPr>
              <a:t>Struttura</a:t>
            </a:r>
            <a:r>
              <a:rPr lang="en-US" sz="4350" b="1" dirty="0">
                <a:solidFill>
                  <a:srgbClr val="231971"/>
                </a:solidFill>
                <a:latin typeface="Outfit Extra Bold" pitchFamily="34" charset="0"/>
                <a:ea typeface="Outfit Extra Bold" pitchFamily="34" charset="-122"/>
                <a:cs typeface="Outfit Extra Bold" pitchFamily="34" charset="-120"/>
              </a:rPr>
              <a:t> del </a:t>
            </a:r>
            <a:r>
              <a:rPr lang="en-US" sz="4350" b="1" dirty="0" err="1">
                <a:solidFill>
                  <a:srgbClr val="231971"/>
                </a:solidFill>
                <a:latin typeface="Outfit Extra Bold" pitchFamily="34" charset="0"/>
                <a:ea typeface="Outfit Extra Bold" pitchFamily="34" charset="-122"/>
                <a:cs typeface="Outfit Extra Bold" pitchFamily="34" charset="-120"/>
              </a:rPr>
              <a:t>grafo</a:t>
            </a:r>
            <a:endParaRPr lang="en-US" sz="4350" dirty="0"/>
          </a:p>
        </p:txBody>
      </p:sp>
      <p:sp>
        <p:nvSpPr>
          <p:cNvPr id="13" name="CasellaDiTesto 12">
            <a:extLst>
              <a:ext uri="{FF2B5EF4-FFF2-40B4-BE49-F238E27FC236}">
                <a16:creationId xmlns:a16="http://schemas.microsoft.com/office/drawing/2014/main" id="{BC834DB1-CCD2-CE5C-59BF-4AA2B15EBDE5}"/>
              </a:ext>
            </a:extLst>
          </p:cNvPr>
          <p:cNvSpPr txBox="1"/>
          <p:nvPr/>
        </p:nvSpPr>
        <p:spPr>
          <a:xfrm>
            <a:off x="6262330" y="2637912"/>
            <a:ext cx="7977777" cy="4401205"/>
          </a:xfrm>
          <a:prstGeom prst="rect">
            <a:avLst/>
          </a:prstGeom>
          <a:noFill/>
        </p:spPr>
        <p:txBody>
          <a:bodyPr wrap="square" rtlCol="0">
            <a:spAutoFit/>
          </a:bodyPr>
          <a:lstStyle/>
          <a:p>
            <a:r>
              <a:rPr lang="it-IT" sz="2000" dirty="0">
                <a:latin typeface="Calibri (Corpo)"/>
                <a:ea typeface="Arimo" panose="020B0604020202020204" charset="0"/>
                <a:cs typeface="Arimo" panose="020B0604020202020204" charset="0"/>
              </a:rPr>
              <a:t>Abbiamo utilizzato </a:t>
            </a:r>
            <a:r>
              <a:rPr lang="it-IT" sz="2000" b="1" dirty="0" err="1">
                <a:latin typeface="Calibri (Corpo)"/>
                <a:ea typeface="Arimo" panose="020B0604020202020204" charset="0"/>
                <a:cs typeface="Arimo" panose="020B0604020202020204" charset="0"/>
              </a:rPr>
              <a:t>OSMnx</a:t>
            </a:r>
            <a:r>
              <a:rPr lang="it-IT" sz="2000" dirty="0">
                <a:latin typeface="Calibri (Corpo)"/>
                <a:ea typeface="Arimo" panose="020B0604020202020204" charset="0"/>
                <a:cs typeface="Arimo" panose="020B0604020202020204" charset="0"/>
              </a:rPr>
              <a:t> di </a:t>
            </a:r>
            <a:r>
              <a:rPr lang="it-IT" sz="2000" dirty="0" err="1">
                <a:latin typeface="Calibri (Corpo)"/>
                <a:ea typeface="Arimo" panose="020B0604020202020204" charset="0"/>
                <a:cs typeface="Arimo" panose="020B0604020202020204" charset="0"/>
              </a:rPr>
              <a:t>OpenStreetMap</a:t>
            </a:r>
            <a:r>
              <a:rPr lang="it-IT" sz="2000" dirty="0">
                <a:latin typeface="Calibri (Corpo)"/>
                <a:ea typeface="Arimo" panose="020B0604020202020204" charset="0"/>
                <a:cs typeface="Arimo" panose="020B0604020202020204" charset="0"/>
              </a:rPr>
              <a:t> per ottenere il grafo.	  Tale grafo è costituito da:</a:t>
            </a:r>
          </a:p>
          <a:p>
            <a:pPr>
              <a:buFont typeface="Arial" panose="020B0604020202020204" pitchFamily="34" charset="0"/>
              <a:buChar char="•"/>
            </a:pPr>
            <a:r>
              <a:rPr lang="it-IT" sz="2000" b="1" dirty="0">
                <a:latin typeface="Calibri (Corpo)"/>
                <a:ea typeface="Arimo" panose="020B0604020202020204" charset="0"/>
                <a:cs typeface="Arimo" panose="020B0604020202020204" charset="0"/>
              </a:rPr>
              <a:t>Nodi</a:t>
            </a:r>
            <a:r>
              <a:rPr lang="it-IT" sz="2000" dirty="0">
                <a:latin typeface="Calibri (Corpo)"/>
                <a:ea typeface="Arimo" panose="020B0604020202020204" charset="0"/>
                <a:cs typeface="Arimo" panose="020B0604020202020204" charset="0"/>
              </a:rPr>
              <a:t>, contengono:</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La tipologia;</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Le coordinate geografiche;</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L’ID.</a:t>
            </a:r>
          </a:p>
          <a:p>
            <a:pPr lvl="1"/>
            <a:endParaRPr lang="it-IT" sz="2000" dirty="0">
              <a:latin typeface="Calibri (Corpo)"/>
              <a:ea typeface="Arimo" panose="020B0604020202020204" charset="0"/>
              <a:cs typeface="Arimo" panose="020B0604020202020204" charset="0"/>
            </a:endParaRPr>
          </a:p>
          <a:p>
            <a:pPr>
              <a:buFont typeface="Arial" panose="020B0604020202020204" pitchFamily="34" charset="0"/>
              <a:buChar char="•"/>
            </a:pPr>
            <a:r>
              <a:rPr lang="it-IT" sz="2000" b="1" dirty="0">
                <a:latin typeface="Calibri (Corpo)"/>
                <a:ea typeface="Arimo" panose="020B0604020202020204" charset="0"/>
                <a:cs typeface="Arimo" panose="020B0604020202020204" charset="0"/>
              </a:rPr>
              <a:t>Archi</a:t>
            </a:r>
            <a:r>
              <a:rPr lang="it-IT" sz="2000" dirty="0">
                <a:latin typeface="Calibri (Corpo)"/>
                <a:ea typeface="Arimo" panose="020B0604020202020204" charset="0"/>
                <a:cs typeface="Arimo" panose="020B0604020202020204" charset="0"/>
              </a:rPr>
              <a:t>, includono:</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Il nodo di partenza e il nodo di arrivo;</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La lunghezza;</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La tipologia della strada rappresentata;</a:t>
            </a:r>
          </a:p>
          <a:p>
            <a:pPr marL="742950" lvl="1" indent="-285750">
              <a:buFont typeface="Arial" panose="020B0604020202020204" pitchFamily="34" charset="0"/>
              <a:buChar char="•"/>
            </a:pPr>
            <a:r>
              <a:rPr lang="it-IT" sz="2000" dirty="0">
                <a:latin typeface="Calibri (Corpo)"/>
                <a:ea typeface="Arimo" panose="020B0604020202020204" charset="0"/>
                <a:cs typeface="Arimo" panose="020B0604020202020204" charset="0"/>
              </a:rPr>
              <a:t>Velocità massima.</a:t>
            </a:r>
          </a:p>
          <a:p>
            <a:pPr marL="800100" lvl="1" indent="-342900">
              <a:buFont typeface="Arial" panose="020B0604020202020204" pitchFamily="34" charset="0"/>
              <a:buChar char="•"/>
            </a:pPr>
            <a:endParaRPr lang="it-IT" sz="2000" dirty="0">
              <a:latin typeface="Calibri (Corpo)"/>
              <a:ea typeface="Arimo" panose="020B0604020202020204" charset="0"/>
              <a:cs typeface="Arimo" panose="020B0604020202020204" charset="0"/>
            </a:endParaRPr>
          </a:p>
          <a:p>
            <a:pPr lvl="1"/>
            <a:endParaRPr lang="it-IT" sz="2000" dirty="0">
              <a:latin typeface="Arimo" panose="020B0604020202020204" charset="0"/>
              <a:ea typeface="Arimo" panose="020B0604020202020204" charset="0"/>
              <a:cs typeface="Arimo" panose="020B0604020202020204" charset="0"/>
            </a:endParaRPr>
          </a:p>
        </p:txBody>
      </p:sp>
      <p:pic>
        <p:nvPicPr>
          <p:cNvPr id="12" name="Immagine 11" descr="Immagine che contiene arte&#10;&#10;Descrizione generata automaticamente">
            <a:extLst>
              <a:ext uri="{FF2B5EF4-FFF2-40B4-BE49-F238E27FC236}">
                <a16:creationId xmlns:a16="http://schemas.microsoft.com/office/drawing/2014/main" id="{B6F37838-0A50-F8FB-5F06-E3D5B668997B}"/>
              </a:ext>
            </a:extLst>
          </p:cNvPr>
          <p:cNvPicPr>
            <a:picLocks noChangeAspect="1"/>
          </p:cNvPicPr>
          <p:nvPr/>
        </p:nvPicPr>
        <p:blipFill>
          <a:blip r:embed="rId3"/>
          <a:stretch>
            <a:fillRect/>
          </a:stretch>
        </p:blipFill>
        <p:spPr>
          <a:xfrm>
            <a:off x="-1336430" y="203747"/>
            <a:ext cx="7620000" cy="7620000"/>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anim calcmode="lin" valueType="num">
                                      <p:cBhvr additive="base">
                                        <p:cTn id="11" dur="500" fill="hold"/>
                                        <p:tgtEl>
                                          <p:spTgt spid="1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anim calcmode="lin" valueType="num">
                                      <p:cBhvr additive="base">
                                        <p:cTn id="15" dur="500" fill="hold"/>
                                        <p:tgtEl>
                                          <p:spTgt spid="1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anim calcmode="lin" valueType="num">
                                      <p:cBhvr additive="base">
                                        <p:cTn id="19" dur="500" fill="hold"/>
                                        <p:tgtEl>
                                          <p:spTgt spid="1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anim calcmode="lin" valueType="num">
                                      <p:cBhvr additive="base">
                                        <p:cTn id="23" dur="500" fill="hold"/>
                                        <p:tgtEl>
                                          <p:spTgt spid="13">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13">
                                            <p:txEl>
                                              <p:pRg st="6" end="6"/>
                                            </p:txEl>
                                          </p:spTgt>
                                        </p:tgtEl>
                                        <p:attrNameLst>
                                          <p:attrName>style.visibility</p:attrName>
                                        </p:attrNameLst>
                                      </p:cBhvr>
                                      <p:to>
                                        <p:strVal val="visible"/>
                                      </p:to>
                                    </p:set>
                                    <p:anim calcmode="lin" valueType="num">
                                      <p:cBhvr additive="base">
                                        <p:cTn id="29" dur="500" fill="hold"/>
                                        <p:tgtEl>
                                          <p:spTgt spid="13">
                                            <p:txEl>
                                              <p:pRg st="6" end="6"/>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3">
                                            <p:txEl>
                                              <p:pRg st="6" end="6"/>
                                            </p:txEl>
                                          </p:spTgt>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13">
                                            <p:txEl>
                                              <p:pRg st="7" end="7"/>
                                            </p:txEl>
                                          </p:spTgt>
                                        </p:tgtEl>
                                        <p:attrNameLst>
                                          <p:attrName>style.visibility</p:attrName>
                                        </p:attrNameLst>
                                      </p:cBhvr>
                                      <p:to>
                                        <p:strVal val="visible"/>
                                      </p:to>
                                    </p:set>
                                    <p:anim calcmode="lin" valueType="num">
                                      <p:cBhvr additive="base">
                                        <p:cTn id="33" dur="500" fill="hold"/>
                                        <p:tgtEl>
                                          <p:spTgt spid="13">
                                            <p:txEl>
                                              <p:pRg st="7" end="7"/>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3">
                                            <p:txEl>
                                              <p:pRg st="7" end="7"/>
                                            </p:txEl>
                                          </p:spTgt>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0"/>
                                  </p:stCondLst>
                                  <p:childTnLst>
                                    <p:set>
                                      <p:cBhvr>
                                        <p:cTn id="36" dur="1" fill="hold">
                                          <p:stCondLst>
                                            <p:cond delay="0"/>
                                          </p:stCondLst>
                                        </p:cTn>
                                        <p:tgtEl>
                                          <p:spTgt spid="13">
                                            <p:txEl>
                                              <p:pRg st="8" end="8"/>
                                            </p:txEl>
                                          </p:spTgt>
                                        </p:tgtEl>
                                        <p:attrNameLst>
                                          <p:attrName>style.visibility</p:attrName>
                                        </p:attrNameLst>
                                      </p:cBhvr>
                                      <p:to>
                                        <p:strVal val="visible"/>
                                      </p:to>
                                    </p:set>
                                    <p:anim calcmode="lin" valueType="num">
                                      <p:cBhvr additive="base">
                                        <p:cTn id="37" dur="500" fill="hold"/>
                                        <p:tgtEl>
                                          <p:spTgt spid="13">
                                            <p:txEl>
                                              <p:pRg st="8" end="8"/>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3">
                                            <p:txEl>
                                              <p:pRg st="8" end="8"/>
                                            </p:txEl>
                                          </p:spTgt>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13">
                                            <p:txEl>
                                              <p:pRg st="9" end="9"/>
                                            </p:txEl>
                                          </p:spTgt>
                                        </p:tgtEl>
                                        <p:attrNameLst>
                                          <p:attrName>style.visibility</p:attrName>
                                        </p:attrNameLst>
                                      </p:cBhvr>
                                      <p:to>
                                        <p:strVal val="visible"/>
                                      </p:to>
                                    </p:set>
                                    <p:anim calcmode="lin" valueType="num">
                                      <p:cBhvr additive="base">
                                        <p:cTn id="41" dur="500" fill="hold"/>
                                        <p:tgtEl>
                                          <p:spTgt spid="13">
                                            <p:txEl>
                                              <p:pRg st="9" end="9"/>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3">
                                            <p:txEl>
                                              <p:pRg st="9" end="9"/>
                                            </p:txEl>
                                          </p:spTgt>
                                        </p:tgtEl>
                                        <p:attrNameLst>
                                          <p:attrName>ppt_y</p:attrName>
                                        </p:attrNameLst>
                                      </p:cBhvr>
                                      <p:tavLst>
                                        <p:tav tm="0">
                                          <p:val>
                                            <p:strVal val="#ppt_y"/>
                                          </p:val>
                                        </p:tav>
                                        <p:tav tm="100000">
                                          <p:val>
                                            <p:strVal val="#ppt_y"/>
                                          </p:val>
                                        </p:tav>
                                      </p:tavLst>
                                    </p:anim>
                                  </p:childTnLst>
                                </p:cTn>
                              </p:par>
                              <p:par>
                                <p:cTn id="43" presetID="2" presetClass="entr" presetSubtype="2" fill="hold" nodeType="withEffect">
                                  <p:stCondLst>
                                    <p:cond delay="0"/>
                                  </p:stCondLst>
                                  <p:childTnLst>
                                    <p:set>
                                      <p:cBhvr>
                                        <p:cTn id="44" dur="1" fill="hold">
                                          <p:stCondLst>
                                            <p:cond delay="0"/>
                                          </p:stCondLst>
                                        </p:cTn>
                                        <p:tgtEl>
                                          <p:spTgt spid="13">
                                            <p:txEl>
                                              <p:pRg st="10" end="10"/>
                                            </p:txEl>
                                          </p:spTgt>
                                        </p:tgtEl>
                                        <p:attrNameLst>
                                          <p:attrName>style.visibility</p:attrName>
                                        </p:attrNameLst>
                                      </p:cBhvr>
                                      <p:to>
                                        <p:strVal val="visible"/>
                                      </p:to>
                                    </p:set>
                                    <p:anim calcmode="lin" valueType="num">
                                      <p:cBhvr additive="base">
                                        <p:cTn id="45" dur="500" fill="hold"/>
                                        <p:tgtEl>
                                          <p:spTgt spid="13">
                                            <p:txEl>
                                              <p:pRg st="10" end="10"/>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3">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E023E69-B0CE-C499-B559-BFFAA4AEEEB1}"/>
              </a:ext>
            </a:extLst>
          </p:cNvPr>
          <p:cNvSpPr/>
          <p:nvPr/>
        </p:nvSpPr>
        <p:spPr>
          <a:xfrm>
            <a:off x="303136" y="222737"/>
            <a:ext cx="13621047" cy="905775"/>
          </a:xfrm>
          <a:prstGeom prst="rect">
            <a:avLst/>
          </a:prstGeom>
          <a:noFill/>
          <a:ln/>
        </p:spPr>
        <p:txBody>
          <a:bodyPr wrap="square" lIns="0" tIns="0" rIns="0" bIns="0" rtlCol="0" anchor="t"/>
          <a:lstStyle/>
          <a:p>
            <a:pPr marL="0" indent="0" algn="ctr">
              <a:lnSpc>
                <a:spcPts val="5450"/>
              </a:lnSpc>
              <a:buNone/>
            </a:pPr>
            <a:r>
              <a:rPr lang="en-US" sz="4350" b="1" dirty="0">
                <a:solidFill>
                  <a:srgbClr val="231971"/>
                </a:solidFill>
                <a:latin typeface="Outfit Extra Bold" pitchFamily="34" charset="0"/>
                <a:ea typeface="Outfit Extra Bold" pitchFamily="34" charset="-122"/>
                <a:cs typeface="Outfit Extra Bold" pitchFamily="34" charset="-120"/>
              </a:rPr>
              <a:t>Download </a:t>
            </a:r>
            <a:r>
              <a:rPr lang="en-US" sz="4350" b="1" dirty="0" err="1">
                <a:solidFill>
                  <a:srgbClr val="231971"/>
                </a:solidFill>
                <a:latin typeface="Outfit Extra Bold" pitchFamily="34" charset="0"/>
                <a:ea typeface="Outfit Extra Bold" pitchFamily="34" charset="-122"/>
                <a:cs typeface="Outfit Extra Bold" pitchFamily="34" charset="-120"/>
              </a:rPr>
              <a:t>della</a:t>
            </a:r>
            <a:r>
              <a:rPr lang="en-US" sz="4350" b="1" dirty="0">
                <a:solidFill>
                  <a:srgbClr val="231971"/>
                </a:solidFill>
                <a:latin typeface="Outfit Extra Bold" pitchFamily="34" charset="0"/>
                <a:ea typeface="Outfit Extra Bold" pitchFamily="34" charset="-122"/>
                <a:cs typeface="Outfit Extra Bold" pitchFamily="34" charset="-120"/>
              </a:rPr>
              <a:t> rete stradale e </a:t>
            </a:r>
            <a:r>
              <a:rPr lang="en-US" sz="4350" b="1" dirty="0" err="1">
                <a:solidFill>
                  <a:srgbClr val="231971"/>
                </a:solidFill>
                <a:latin typeface="Outfit Extra Bold" pitchFamily="34" charset="0"/>
                <a:ea typeface="Outfit Extra Bold" pitchFamily="34" charset="-122"/>
                <a:cs typeface="Outfit Extra Bold" pitchFamily="34" charset="-120"/>
              </a:rPr>
              <a:t>delle</a:t>
            </a:r>
            <a:r>
              <a:rPr lang="en-US" sz="4350" b="1" dirty="0">
                <a:solidFill>
                  <a:srgbClr val="231971"/>
                </a:solidFill>
                <a:latin typeface="Outfit Extra Bold" pitchFamily="34" charset="0"/>
                <a:ea typeface="Outfit Extra Bold" pitchFamily="34" charset="-122"/>
                <a:cs typeface="Outfit Extra Bold" pitchFamily="34" charset="-120"/>
              </a:rPr>
              <a:t> </a:t>
            </a:r>
            <a:r>
              <a:rPr lang="en-US" sz="4350" b="1" dirty="0" err="1">
                <a:solidFill>
                  <a:srgbClr val="231971"/>
                </a:solidFill>
                <a:latin typeface="Outfit Extra Bold" pitchFamily="34" charset="0"/>
                <a:ea typeface="Outfit Extra Bold" pitchFamily="34" charset="-122"/>
                <a:cs typeface="Outfit Extra Bold" pitchFamily="34" charset="-120"/>
              </a:rPr>
              <a:t>stazioni</a:t>
            </a:r>
            <a:r>
              <a:rPr lang="en-US" sz="4350" b="1" dirty="0">
                <a:solidFill>
                  <a:srgbClr val="231971"/>
                </a:solidFill>
                <a:latin typeface="Outfit Extra Bold" pitchFamily="34" charset="0"/>
                <a:ea typeface="Outfit Extra Bold" pitchFamily="34" charset="-122"/>
                <a:cs typeface="Outfit Extra Bold" pitchFamily="34" charset="-120"/>
              </a:rPr>
              <a:t> di ricarica</a:t>
            </a:r>
            <a:endParaRPr lang="en-US" sz="4350" dirty="0"/>
          </a:p>
        </p:txBody>
      </p:sp>
      <p:sp>
        <p:nvSpPr>
          <p:cNvPr id="3" name="CasellaDiTesto 2">
            <a:extLst>
              <a:ext uri="{FF2B5EF4-FFF2-40B4-BE49-F238E27FC236}">
                <a16:creationId xmlns:a16="http://schemas.microsoft.com/office/drawing/2014/main" id="{A42EC61F-1E9B-97B0-9608-37799DD4BA06}"/>
              </a:ext>
            </a:extLst>
          </p:cNvPr>
          <p:cNvSpPr txBox="1"/>
          <p:nvPr/>
        </p:nvSpPr>
        <p:spPr>
          <a:xfrm>
            <a:off x="478981" y="1166583"/>
            <a:ext cx="11090577" cy="430887"/>
          </a:xfrm>
          <a:prstGeom prst="rect">
            <a:avLst/>
          </a:prstGeom>
          <a:noFill/>
        </p:spPr>
        <p:txBody>
          <a:bodyPr wrap="square" rtlCol="0">
            <a:spAutoFit/>
          </a:bodyPr>
          <a:lstStyle/>
          <a:p>
            <a:r>
              <a:rPr lang="it-IT" sz="2200" b="1" dirty="0"/>
              <a:t>Download strade in </a:t>
            </a:r>
            <a:r>
              <a:rPr lang="it-IT" sz="2200" b="1" dirty="0" err="1"/>
              <a:t>GraphML</a:t>
            </a:r>
            <a:r>
              <a:rPr lang="it-IT" sz="2200" b="1" dirty="0"/>
              <a:t> e stazioni di ricarica in </a:t>
            </a:r>
            <a:r>
              <a:rPr lang="it-IT" sz="2200" b="1" dirty="0" err="1"/>
              <a:t>GeoJson</a:t>
            </a:r>
            <a:r>
              <a:rPr lang="it-IT" sz="2200" b="1" dirty="0"/>
              <a:t>.</a:t>
            </a:r>
          </a:p>
        </p:txBody>
      </p:sp>
      <p:sp>
        <p:nvSpPr>
          <p:cNvPr id="8" name="CasellaDiTesto 7">
            <a:extLst>
              <a:ext uri="{FF2B5EF4-FFF2-40B4-BE49-F238E27FC236}">
                <a16:creationId xmlns:a16="http://schemas.microsoft.com/office/drawing/2014/main" id="{9EEEFEC7-A19E-4F2E-1C9F-9020E7B8F809}"/>
              </a:ext>
            </a:extLst>
          </p:cNvPr>
          <p:cNvSpPr txBox="1"/>
          <p:nvPr/>
        </p:nvSpPr>
        <p:spPr>
          <a:xfrm>
            <a:off x="504675" y="1888139"/>
            <a:ext cx="13621047" cy="5432256"/>
          </a:xfrm>
          <a:prstGeom prst="rect">
            <a:avLst/>
          </a:prstGeom>
          <a:noFill/>
        </p:spPr>
        <p:txBody>
          <a:bodyPr wrap="square">
            <a:spAutoFit/>
          </a:bodyPr>
          <a:lstStyle/>
          <a:p>
            <a:r>
              <a:rPr lang="it-IT" sz="2300" dirty="0"/>
              <a:t>1. Si ottiene la geometria della regione in formato </a:t>
            </a:r>
            <a:r>
              <a:rPr lang="it-IT" sz="2300" dirty="0" err="1"/>
              <a:t>GeoDataFrame</a:t>
            </a:r>
            <a:r>
              <a:rPr lang="it-IT" sz="2300" dirty="0"/>
              <a:t> con:</a:t>
            </a:r>
          </a:p>
          <a:p>
            <a:r>
              <a:rPr lang="it-IT" sz="2300" dirty="0"/>
              <a:t>   </a:t>
            </a:r>
            <a:r>
              <a:rPr lang="en-US" sz="2300" b="0" dirty="0" err="1">
                <a:solidFill>
                  <a:srgbClr val="000000"/>
                </a:solidFill>
                <a:effectLst/>
                <a:latin typeface="Consolas" panose="020B0609020204030204" pitchFamily="49" charset="0"/>
              </a:rPr>
              <a:t>ox.geocode_to_gdf</a:t>
            </a:r>
            <a:r>
              <a:rPr lang="en-US" sz="2300" b="0" dirty="0">
                <a:solidFill>
                  <a:srgbClr val="000000"/>
                </a:solidFill>
                <a:effectLst/>
                <a:latin typeface="Consolas" panose="020B0609020204030204" pitchFamily="49" charset="0"/>
              </a:rPr>
              <a:t>(region).geometry[</a:t>
            </a:r>
            <a:r>
              <a:rPr lang="en-US" sz="2300" b="0" dirty="0">
                <a:solidFill>
                  <a:srgbClr val="098658"/>
                </a:solidFill>
                <a:effectLst/>
                <a:latin typeface="Consolas" panose="020B0609020204030204" pitchFamily="49" charset="0"/>
              </a:rPr>
              <a:t>0</a:t>
            </a:r>
            <a:r>
              <a:rPr lang="en-US" sz="2300" b="0" dirty="0">
                <a:solidFill>
                  <a:srgbClr val="000000"/>
                </a:solidFill>
                <a:effectLst/>
                <a:latin typeface="Consolas" panose="020B0609020204030204" pitchFamily="49" charset="0"/>
              </a:rPr>
              <a:t>] </a:t>
            </a:r>
            <a:r>
              <a:rPr lang="en-US" sz="2300" b="0" dirty="0">
                <a:solidFill>
                  <a:srgbClr val="0000FF"/>
                </a:solidFill>
                <a:effectLst/>
                <a:latin typeface="Consolas" panose="020B0609020204030204" pitchFamily="49" charset="0"/>
              </a:rPr>
              <a:t>for</a:t>
            </a:r>
            <a:r>
              <a:rPr lang="en-US" sz="2300" b="0" dirty="0">
                <a:solidFill>
                  <a:srgbClr val="000000"/>
                </a:solidFill>
                <a:effectLst/>
                <a:latin typeface="Consolas" panose="020B0609020204030204" pitchFamily="49" charset="0"/>
              </a:rPr>
              <a:t> region </a:t>
            </a:r>
            <a:r>
              <a:rPr lang="en-US" sz="2300" b="0" dirty="0">
                <a:solidFill>
                  <a:srgbClr val="0000FF"/>
                </a:solidFill>
                <a:effectLst/>
                <a:latin typeface="Consolas" panose="020B0609020204030204" pitchFamily="49" charset="0"/>
              </a:rPr>
              <a:t>in</a:t>
            </a:r>
            <a:r>
              <a:rPr lang="en-US" sz="2300" b="0" dirty="0">
                <a:solidFill>
                  <a:srgbClr val="000000"/>
                </a:solidFill>
                <a:effectLst/>
                <a:latin typeface="Consolas" panose="020B0609020204030204" pitchFamily="49" charset="0"/>
              </a:rPr>
              <a:t> regions  </a:t>
            </a:r>
          </a:p>
          <a:p>
            <a:endParaRPr lang="it-IT" sz="2300" dirty="0"/>
          </a:p>
          <a:p>
            <a:r>
              <a:rPr lang="it-IT" sz="2300" dirty="0"/>
              <a:t>2. Utilizzando:</a:t>
            </a:r>
          </a:p>
          <a:p>
            <a:r>
              <a:rPr lang="it-IT" sz="2300" dirty="0"/>
              <a:t>   </a:t>
            </a:r>
            <a:r>
              <a:rPr lang="en-US" sz="2300" b="0" dirty="0" err="1">
                <a:solidFill>
                  <a:srgbClr val="000000"/>
                </a:solidFill>
                <a:effectLst/>
                <a:latin typeface="Consolas" panose="020B0609020204030204" pitchFamily="49" charset="0"/>
              </a:rPr>
              <a:t>ox.graph_from_polygon</a:t>
            </a:r>
            <a:r>
              <a:rPr lang="en-US" sz="2300" b="0" dirty="0">
                <a:solidFill>
                  <a:srgbClr val="000000"/>
                </a:solidFill>
                <a:effectLst/>
                <a:latin typeface="Consolas" panose="020B0609020204030204" pitchFamily="49" charset="0"/>
              </a:rPr>
              <a:t>(</a:t>
            </a:r>
            <a:r>
              <a:rPr lang="en-US" sz="2300" b="0" dirty="0" err="1">
                <a:solidFill>
                  <a:srgbClr val="000000"/>
                </a:solidFill>
                <a:effectLst/>
                <a:latin typeface="Consolas" panose="020B0609020204030204" pitchFamily="49" charset="0"/>
              </a:rPr>
              <a:t>combined_polygon</a:t>
            </a:r>
            <a:r>
              <a:rPr lang="en-US" sz="2300" b="0" dirty="0">
                <a:solidFill>
                  <a:srgbClr val="000000"/>
                </a:solidFill>
                <a:effectLst/>
                <a:latin typeface="Consolas" panose="020B0609020204030204" pitchFamily="49" charset="0"/>
              </a:rPr>
              <a:t>, </a:t>
            </a:r>
            <a:r>
              <a:rPr lang="en-US" sz="2300" b="0" dirty="0" err="1">
                <a:solidFill>
                  <a:srgbClr val="000000"/>
                </a:solidFill>
                <a:effectLst/>
                <a:latin typeface="Consolas" panose="020B0609020204030204" pitchFamily="49" charset="0"/>
              </a:rPr>
              <a:t>network_type</a:t>
            </a:r>
            <a:r>
              <a:rPr lang="en-US" sz="2300" b="0" dirty="0">
                <a:solidFill>
                  <a:srgbClr val="000000"/>
                </a:solidFill>
                <a:effectLst/>
                <a:latin typeface="Consolas" panose="020B0609020204030204" pitchFamily="49" charset="0"/>
              </a:rPr>
              <a:t>=</a:t>
            </a:r>
            <a:r>
              <a:rPr lang="en-US" sz="2300" b="0" dirty="0">
                <a:solidFill>
                  <a:srgbClr val="A31515"/>
                </a:solidFill>
                <a:effectLst/>
                <a:latin typeface="Consolas" panose="020B0609020204030204" pitchFamily="49" charset="0"/>
              </a:rPr>
              <a:t>"drive"</a:t>
            </a:r>
            <a:r>
              <a:rPr lang="en-US" sz="2300" b="0" dirty="0">
                <a:solidFill>
                  <a:srgbClr val="000000"/>
                </a:solidFill>
                <a:effectLst/>
                <a:latin typeface="Consolas" panose="020B0609020204030204" pitchFamily="49" charset="0"/>
              </a:rPr>
              <a:t>)</a:t>
            </a:r>
          </a:p>
          <a:p>
            <a:r>
              <a:rPr lang="it-IT" sz="2300" dirty="0"/>
              <a:t>   il codice scarica il grafo stradale per le strade percorribili all'interno del poligono definito.</a:t>
            </a:r>
          </a:p>
          <a:p>
            <a:endParaRPr lang="it-IT" sz="2300" dirty="0"/>
          </a:p>
          <a:p>
            <a:r>
              <a:rPr lang="it-IT" sz="2300" dirty="0"/>
              <a:t>3. Per ogni regione, con:</a:t>
            </a:r>
          </a:p>
          <a:p>
            <a:r>
              <a:rPr lang="it-IT" sz="2300" dirty="0"/>
              <a:t>   </a:t>
            </a:r>
            <a:r>
              <a:rPr lang="en-US" sz="2300" b="0" dirty="0" err="1">
                <a:solidFill>
                  <a:srgbClr val="000000"/>
                </a:solidFill>
                <a:effectLst/>
                <a:latin typeface="Consolas" panose="020B0609020204030204" pitchFamily="49" charset="0"/>
              </a:rPr>
              <a:t>ox.features_from_place</a:t>
            </a:r>
            <a:r>
              <a:rPr lang="en-US" sz="2300" b="0" dirty="0">
                <a:solidFill>
                  <a:srgbClr val="000000"/>
                </a:solidFill>
                <a:effectLst/>
                <a:latin typeface="Consolas" panose="020B0609020204030204" pitchFamily="49" charset="0"/>
              </a:rPr>
              <a:t>(region, tags={</a:t>
            </a:r>
            <a:r>
              <a:rPr lang="en-US" sz="2300" b="0" dirty="0">
                <a:solidFill>
                  <a:srgbClr val="A31515"/>
                </a:solidFill>
                <a:effectLst/>
                <a:latin typeface="Consolas" panose="020B0609020204030204" pitchFamily="49" charset="0"/>
              </a:rPr>
              <a:t>"amenity"</a:t>
            </a:r>
            <a:r>
              <a:rPr lang="en-US" sz="2300" b="0" dirty="0">
                <a:solidFill>
                  <a:srgbClr val="000000"/>
                </a:solidFill>
                <a:effectLst/>
                <a:latin typeface="Consolas" panose="020B0609020204030204" pitchFamily="49" charset="0"/>
              </a:rPr>
              <a:t>: </a:t>
            </a:r>
            <a:r>
              <a:rPr lang="en-US" sz="2300" b="0" dirty="0">
                <a:solidFill>
                  <a:srgbClr val="A31515"/>
                </a:solidFill>
                <a:effectLst/>
                <a:latin typeface="Consolas" panose="020B0609020204030204" pitchFamily="49" charset="0"/>
              </a:rPr>
              <a:t>"</a:t>
            </a:r>
            <a:r>
              <a:rPr lang="en-US" sz="2300" b="0" dirty="0" err="1">
                <a:solidFill>
                  <a:srgbClr val="A31515"/>
                </a:solidFill>
                <a:effectLst/>
                <a:latin typeface="Consolas" panose="020B0609020204030204" pitchFamily="49" charset="0"/>
              </a:rPr>
              <a:t>charging_station</a:t>
            </a:r>
            <a:r>
              <a:rPr lang="en-US" sz="2300" b="0" dirty="0">
                <a:solidFill>
                  <a:srgbClr val="A31515"/>
                </a:solidFill>
                <a:effectLst/>
                <a:latin typeface="Consolas" panose="020B0609020204030204" pitchFamily="49" charset="0"/>
              </a:rPr>
              <a:t>"</a:t>
            </a:r>
            <a:r>
              <a:rPr lang="en-US" sz="2300" b="0" dirty="0">
                <a:solidFill>
                  <a:srgbClr val="000000"/>
                </a:solidFill>
                <a:effectLst/>
                <a:latin typeface="Consolas" panose="020B0609020204030204" pitchFamily="49" charset="0"/>
              </a:rPr>
              <a:t>})</a:t>
            </a:r>
          </a:p>
          <a:p>
            <a:r>
              <a:rPr lang="it-IT" sz="2300" dirty="0"/>
              <a:t>   si scaricano i POI (Points of </a:t>
            </a:r>
            <a:r>
              <a:rPr lang="it-IT" sz="2300" dirty="0" err="1"/>
              <a:t>Interest</a:t>
            </a:r>
            <a:r>
              <a:rPr lang="it-IT" sz="2300" dirty="0"/>
              <a:t>, o Punti di Interesse) relativi alle colonnine di ricarica da </a:t>
            </a:r>
            <a:r>
              <a:rPr lang="it-IT" sz="2300" dirty="0" err="1"/>
              <a:t>OpenStreetMap</a:t>
            </a:r>
            <a:r>
              <a:rPr lang="it-IT" sz="2300" dirty="0"/>
              <a:t>.</a:t>
            </a:r>
          </a:p>
          <a:p>
            <a:endParaRPr lang="it-IT" sz="2300" dirty="0"/>
          </a:p>
          <a:p>
            <a:r>
              <a:rPr lang="it-IT" sz="2300" dirty="0"/>
              <a:t>4. Vengono salvati i risultati con:</a:t>
            </a:r>
          </a:p>
          <a:p>
            <a:r>
              <a:rPr lang="it-IT" sz="2300" dirty="0"/>
              <a:t>   </a:t>
            </a:r>
            <a:r>
              <a:rPr lang="it-IT" sz="2300" b="0" dirty="0" err="1">
                <a:solidFill>
                  <a:srgbClr val="000000"/>
                </a:solidFill>
                <a:effectLst/>
                <a:latin typeface="Consolas" panose="020B0609020204030204" pitchFamily="49" charset="0"/>
              </a:rPr>
              <a:t>ox.save_graphml</a:t>
            </a:r>
            <a:r>
              <a:rPr lang="it-IT" sz="2300" b="0" dirty="0">
                <a:solidFill>
                  <a:srgbClr val="000000"/>
                </a:solidFill>
                <a:effectLst/>
                <a:latin typeface="Consolas" panose="020B0609020204030204" pitchFamily="49" charset="0"/>
              </a:rPr>
              <a:t>()</a:t>
            </a:r>
            <a:endParaRPr lang="it-IT" sz="2300" dirty="0"/>
          </a:p>
          <a:p>
            <a:endParaRPr lang="it-IT" sz="1600" dirty="0"/>
          </a:p>
          <a:p>
            <a:endParaRPr lang="en-US" sz="1600" dirty="0">
              <a:solidFill>
                <a:srgbClr val="000000"/>
              </a:solidFill>
              <a:latin typeface="Consolas" panose="020B0609020204030204" pitchFamily="49" charset="0"/>
            </a:endParaRPr>
          </a:p>
          <a:p>
            <a:endParaRPr lang="en-US" sz="1600" b="0" dirty="0">
              <a:solidFill>
                <a:srgbClr val="000000"/>
              </a:solidFill>
              <a:effectLst/>
              <a:latin typeface="Calibri (Corpo)"/>
            </a:endParaRPr>
          </a:p>
        </p:txBody>
      </p:sp>
    </p:spTree>
    <p:extLst>
      <p:ext uri="{BB962C8B-B14F-4D97-AF65-F5344CB8AC3E}">
        <p14:creationId xmlns:p14="http://schemas.microsoft.com/office/powerpoint/2010/main" val="1763919546"/>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E023E69-B0CE-C499-B559-BFFAA4AEEEB1}"/>
              </a:ext>
            </a:extLst>
          </p:cNvPr>
          <p:cNvSpPr/>
          <p:nvPr/>
        </p:nvSpPr>
        <p:spPr>
          <a:xfrm>
            <a:off x="317107" y="205105"/>
            <a:ext cx="13397527" cy="905775"/>
          </a:xfrm>
          <a:prstGeom prst="rect">
            <a:avLst/>
          </a:prstGeom>
          <a:noFill/>
          <a:ln/>
        </p:spPr>
        <p:txBody>
          <a:bodyPr wrap="square" lIns="0" tIns="0" rIns="0" bIns="0" rtlCol="0" anchor="t"/>
          <a:lstStyle/>
          <a:p>
            <a:pPr marL="0" indent="0" algn="ctr">
              <a:lnSpc>
                <a:spcPts val="5450"/>
              </a:lnSpc>
              <a:buNone/>
            </a:pPr>
            <a:r>
              <a:rPr lang="en-US" sz="4350" b="1" dirty="0">
                <a:solidFill>
                  <a:srgbClr val="231971"/>
                </a:solidFill>
                <a:latin typeface="Outfit Extra Bold" pitchFamily="34" charset="0"/>
                <a:ea typeface="Outfit Extra Bold" pitchFamily="34" charset="-122"/>
                <a:cs typeface="Outfit Extra Bold" pitchFamily="34" charset="-120"/>
              </a:rPr>
              <a:t>Merging </a:t>
            </a:r>
            <a:r>
              <a:rPr lang="en-US" sz="4350" b="1" dirty="0" err="1">
                <a:solidFill>
                  <a:srgbClr val="231971"/>
                </a:solidFill>
                <a:latin typeface="Outfit Extra Bold" pitchFamily="34" charset="0"/>
                <a:ea typeface="Outfit Extra Bold" pitchFamily="34" charset="-122"/>
                <a:cs typeface="Outfit Extra Bold" pitchFamily="34" charset="-120"/>
              </a:rPr>
              <a:t>della</a:t>
            </a:r>
            <a:r>
              <a:rPr lang="en-US" sz="4350" b="1" dirty="0">
                <a:solidFill>
                  <a:srgbClr val="231971"/>
                </a:solidFill>
                <a:latin typeface="Outfit Extra Bold" pitchFamily="34" charset="0"/>
                <a:ea typeface="Outfit Extra Bold" pitchFamily="34" charset="-122"/>
                <a:cs typeface="Outfit Extra Bold" pitchFamily="34" charset="-120"/>
              </a:rPr>
              <a:t> rete stradale e </a:t>
            </a:r>
            <a:r>
              <a:rPr lang="en-US" sz="4350" b="1" dirty="0" err="1">
                <a:solidFill>
                  <a:srgbClr val="231971"/>
                </a:solidFill>
                <a:latin typeface="Outfit Extra Bold" pitchFamily="34" charset="0"/>
                <a:ea typeface="Outfit Extra Bold" pitchFamily="34" charset="-122"/>
                <a:cs typeface="Outfit Extra Bold" pitchFamily="34" charset="-120"/>
              </a:rPr>
              <a:t>delle</a:t>
            </a:r>
            <a:r>
              <a:rPr lang="en-US" sz="4350" b="1" dirty="0">
                <a:solidFill>
                  <a:srgbClr val="231971"/>
                </a:solidFill>
                <a:latin typeface="Outfit Extra Bold" pitchFamily="34" charset="0"/>
                <a:ea typeface="Outfit Extra Bold" pitchFamily="34" charset="-122"/>
                <a:cs typeface="Outfit Extra Bold" pitchFamily="34" charset="-120"/>
              </a:rPr>
              <a:t> </a:t>
            </a:r>
            <a:r>
              <a:rPr lang="en-US" sz="4350" b="1" dirty="0" err="1">
                <a:solidFill>
                  <a:srgbClr val="231971"/>
                </a:solidFill>
                <a:latin typeface="Outfit Extra Bold" pitchFamily="34" charset="0"/>
                <a:ea typeface="Outfit Extra Bold" pitchFamily="34" charset="-122"/>
                <a:cs typeface="Outfit Extra Bold" pitchFamily="34" charset="-120"/>
              </a:rPr>
              <a:t>stazioni</a:t>
            </a:r>
            <a:r>
              <a:rPr lang="en-US" sz="4350" b="1" dirty="0">
                <a:solidFill>
                  <a:srgbClr val="231971"/>
                </a:solidFill>
                <a:latin typeface="Outfit Extra Bold" pitchFamily="34" charset="0"/>
                <a:ea typeface="Outfit Extra Bold" pitchFamily="34" charset="-122"/>
                <a:cs typeface="Outfit Extra Bold" pitchFamily="34" charset="-120"/>
              </a:rPr>
              <a:t> di ricarica</a:t>
            </a:r>
            <a:endParaRPr lang="en-US" sz="4350" dirty="0"/>
          </a:p>
        </p:txBody>
      </p:sp>
      <p:sp>
        <p:nvSpPr>
          <p:cNvPr id="3" name="CasellaDiTesto 2">
            <a:extLst>
              <a:ext uri="{FF2B5EF4-FFF2-40B4-BE49-F238E27FC236}">
                <a16:creationId xmlns:a16="http://schemas.microsoft.com/office/drawing/2014/main" id="{A42EC61F-1E9B-97B0-9608-37799DD4BA06}"/>
              </a:ext>
            </a:extLst>
          </p:cNvPr>
          <p:cNvSpPr txBox="1"/>
          <p:nvPr/>
        </p:nvSpPr>
        <p:spPr>
          <a:xfrm>
            <a:off x="504676" y="990738"/>
            <a:ext cx="11380864" cy="430887"/>
          </a:xfrm>
          <a:prstGeom prst="rect">
            <a:avLst/>
          </a:prstGeom>
          <a:noFill/>
        </p:spPr>
        <p:txBody>
          <a:bodyPr wrap="square" rtlCol="0">
            <a:spAutoFit/>
          </a:bodyPr>
          <a:lstStyle/>
          <a:p>
            <a:r>
              <a:rPr lang="it-IT" sz="2200" b="1" dirty="0" err="1"/>
              <a:t>Merging</a:t>
            </a:r>
            <a:r>
              <a:rPr lang="it-IT" sz="2200" b="1" dirty="0"/>
              <a:t> in un unico grafo della rete stradale e delle stazioni di ricarica in un unico file </a:t>
            </a:r>
            <a:r>
              <a:rPr lang="it-IT" sz="2200" b="1" dirty="0" err="1"/>
              <a:t>graphml</a:t>
            </a:r>
            <a:r>
              <a:rPr lang="it-IT" sz="2200" b="1" dirty="0"/>
              <a:t>.</a:t>
            </a:r>
          </a:p>
        </p:txBody>
      </p:sp>
      <p:sp>
        <p:nvSpPr>
          <p:cNvPr id="8" name="CasellaDiTesto 7">
            <a:extLst>
              <a:ext uri="{FF2B5EF4-FFF2-40B4-BE49-F238E27FC236}">
                <a16:creationId xmlns:a16="http://schemas.microsoft.com/office/drawing/2014/main" id="{9EEEFEC7-A19E-4F2E-1C9F-9020E7B8F809}"/>
              </a:ext>
            </a:extLst>
          </p:cNvPr>
          <p:cNvSpPr txBox="1"/>
          <p:nvPr/>
        </p:nvSpPr>
        <p:spPr>
          <a:xfrm>
            <a:off x="504676" y="1754370"/>
            <a:ext cx="14953038" cy="7263527"/>
          </a:xfrm>
          <a:prstGeom prst="rect">
            <a:avLst/>
          </a:prstGeom>
          <a:noFill/>
        </p:spPr>
        <p:txBody>
          <a:bodyPr wrap="square">
            <a:spAutoFit/>
          </a:bodyPr>
          <a:lstStyle/>
          <a:p>
            <a:r>
              <a:rPr lang="it-IT" sz="2000" dirty="0"/>
              <a:t>1. Legge il grafo stradale da un file </a:t>
            </a:r>
            <a:r>
              <a:rPr lang="it-IT" sz="2000" dirty="0" err="1"/>
              <a:t>GraphML</a:t>
            </a:r>
            <a:r>
              <a:rPr lang="it-IT" sz="2000" dirty="0"/>
              <a:t> utilizzando :</a:t>
            </a:r>
          </a:p>
          <a:p>
            <a:r>
              <a:rPr lang="it-IT" sz="2000" b="1" dirty="0"/>
              <a:t>   </a:t>
            </a:r>
            <a:r>
              <a:rPr lang="it-IT" sz="2300" dirty="0" err="1">
                <a:solidFill>
                  <a:srgbClr val="000000"/>
                </a:solidFill>
                <a:latin typeface="Consolas" panose="020B0609020204030204" pitchFamily="49" charset="0"/>
              </a:rPr>
              <a:t>ox.load_graphml</a:t>
            </a:r>
            <a:endParaRPr lang="en-US" sz="2300" dirty="0">
              <a:solidFill>
                <a:srgbClr val="000000"/>
              </a:solidFill>
              <a:latin typeface="Consolas" panose="020B0609020204030204" pitchFamily="49" charset="0"/>
            </a:endParaRPr>
          </a:p>
          <a:p>
            <a:endParaRPr lang="it-IT" sz="2000" dirty="0"/>
          </a:p>
          <a:p>
            <a:r>
              <a:rPr lang="it-IT" sz="2000" dirty="0"/>
              <a:t>2. Legge le colonnine di ricarica da un file </a:t>
            </a:r>
            <a:r>
              <a:rPr lang="it-IT" sz="2000" dirty="0" err="1"/>
              <a:t>GeoJSON</a:t>
            </a:r>
            <a:r>
              <a:rPr lang="it-IT" sz="2000" dirty="0"/>
              <a:t> utilizzando:</a:t>
            </a:r>
          </a:p>
          <a:p>
            <a:r>
              <a:rPr lang="it-IT" sz="2000" b="1" dirty="0"/>
              <a:t>   </a:t>
            </a:r>
            <a:r>
              <a:rPr lang="it-IT" sz="2300" dirty="0" err="1">
                <a:solidFill>
                  <a:srgbClr val="000000"/>
                </a:solidFill>
                <a:latin typeface="Consolas" panose="020B0609020204030204" pitchFamily="49" charset="0"/>
              </a:rPr>
              <a:t>gpd.read_file</a:t>
            </a:r>
            <a:endParaRPr lang="it-IT" sz="2300" dirty="0">
              <a:solidFill>
                <a:srgbClr val="000000"/>
              </a:solidFill>
              <a:latin typeface="Consolas" panose="020B0609020204030204" pitchFamily="49" charset="0"/>
            </a:endParaRPr>
          </a:p>
          <a:p>
            <a:r>
              <a:rPr lang="it-IT" sz="2000" dirty="0"/>
              <a:t>  </a:t>
            </a:r>
          </a:p>
          <a:p>
            <a:r>
              <a:rPr lang="it-IT" sz="2000" dirty="0"/>
              <a:t>3. Per ogni colonnina nel dataset, tramite le coordinate, utilizziamo:</a:t>
            </a:r>
          </a:p>
          <a:p>
            <a:r>
              <a:rPr lang="en-US" sz="2000" b="1" dirty="0">
                <a:solidFill>
                  <a:srgbClr val="000000"/>
                </a:solidFill>
                <a:effectLst/>
                <a:latin typeface="Consolas" panose="020B0609020204030204" pitchFamily="49" charset="0"/>
              </a:rPr>
              <a:t> </a:t>
            </a:r>
            <a:r>
              <a:rPr lang="en-US" sz="2300" dirty="0" err="1">
                <a:solidFill>
                  <a:srgbClr val="000000"/>
                </a:solidFill>
                <a:latin typeface="Consolas" panose="020B0609020204030204" pitchFamily="49" charset="0"/>
              </a:rPr>
              <a:t>ox.distance.nearest_edges</a:t>
            </a:r>
            <a:r>
              <a:rPr lang="en-US" sz="2300" dirty="0">
                <a:solidFill>
                  <a:srgbClr val="000000"/>
                </a:solidFill>
                <a:latin typeface="Consolas" panose="020B0609020204030204" pitchFamily="49" charset="0"/>
              </a:rPr>
              <a:t>(graph, X=</a:t>
            </a:r>
            <a:r>
              <a:rPr lang="en-US" sz="2300" dirty="0" err="1">
                <a:solidFill>
                  <a:srgbClr val="000000"/>
                </a:solidFill>
                <a:latin typeface="Consolas" panose="020B0609020204030204" pitchFamily="49" charset="0"/>
              </a:rPr>
              <a:t>station_coords</a:t>
            </a:r>
            <a:r>
              <a:rPr lang="en-US" sz="2300" dirty="0">
                <a:solidFill>
                  <a:srgbClr val="000000"/>
                </a:solidFill>
                <a:latin typeface="Consolas" panose="020B0609020204030204" pitchFamily="49" charset="0"/>
              </a:rPr>
              <a:t>[1], Y=</a:t>
            </a:r>
            <a:r>
              <a:rPr lang="en-US" sz="2300" dirty="0" err="1">
                <a:solidFill>
                  <a:srgbClr val="000000"/>
                </a:solidFill>
                <a:latin typeface="Consolas" panose="020B0609020204030204" pitchFamily="49" charset="0"/>
              </a:rPr>
              <a:t>station_coords</a:t>
            </a:r>
            <a:r>
              <a:rPr lang="en-US" sz="2300" dirty="0">
                <a:solidFill>
                  <a:srgbClr val="000000"/>
                </a:solidFill>
                <a:latin typeface="Consolas" panose="020B0609020204030204" pitchFamily="49" charset="0"/>
              </a:rPr>
              <a:t>[0], </a:t>
            </a:r>
            <a:r>
              <a:rPr lang="en-US" sz="2300" dirty="0" err="1">
                <a:solidFill>
                  <a:srgbClr val="000000"/>
                </a:solidFill>
                <a:latin typeface="Consolas" panose="020B0609020204030204" pitchFamily="49" charset="0"/>
              </a:rPr>
              <a:t>return_dist</a:t>
            </a:r>
            <a:r>
              <a:rPr lang="en-US" sz="2300" dirty="0">
                <a:solidFill>
                  <a:srgbClr val="000000"/>
                </a:solidFill>
                <a:latin typeface="Consolas" panose="020B0609020204030204" pitchFamily="49" charset="0"/>
              </a:rPr>
              <a:t>=False)</a:t>
            </a:r>
          </a:p>
          <a:p>
            <a:r>
              <a:rPr lang="it-IT" sz="2000" dirty="0"/>
              <a:t>   per identificare l’arco più vicino nel grafo dalla stazione di ricarica.</a:t>
            </a:r>
          </a:p>
          <a:p>
            <a:r>
              <a:rPr lang="it-IT" sz="2000" dirty="0"/>
              <a:t> </a:t>
            </a:r>
          </a:p>
          <a:p>
            <a:r>
              <a:rPr lang="it-IT" sz="2000" dirty="0"/>
              <a:t>4. Quindi creiamo un ID nuovo e lo aggiungiamo nel file </a:t>
            </a:r>
            <a:r>
              <a:rPr lang="it-IT" sz="2000" dirty="0" err="1"/>
              <a:t>GraphML</a:t>
            </a:r>
            <a:r>
              <a:rPr lang="it-IT" sz="2000" dirty="0"/>
              <a:t>:</a:t>
            </a:r>
          </a:p>
          <a:p>
            <a:r>
              <a:rPr lang="it-IT" sz="2000" b="1" dirty="0"/>
              <a:t>   </a:t>
            </a:r>
            <a:r>
              <a:rPr lang="en-US" sz="2300" dirty="0" err="1">
                <a:solidFill>
                  <a:srgbClr val="000000"/>
                </a:solidFill>
                <a:latin typeface="Consolas" panose="020B0609020204030204" pitchFamily="49" charset="0"/>
              </a:rPr>
              <a:t>graph.add_node</a:t>
            </a:r>
            <a:r>
              <a:rPr lang="en-US" sz="2300" dirty="0">
                <a:solidFill>
                  <a:srgbClr val="000000"/>
                </a:solidFill>
                <a:latin typeface="Consolas" panose="020B0609020204030204" pitchFamily="49" charset="0"/>
              </a:rPr>
              <a:t>(ID, y=</a:t>
            </a:r>
            <a:r>
              <a:rPr lang="en-US" sz="2300" dirty="0" err="1">
                <a:solidFill>
                  <a:srgbClr val="000000"/>
                </a:solidFill>
                <a:latin typeface="Consolas" panose="020B0609020204030204" pitchFamily="49" charset="0"/>
              </a:rPr>
              <a:t>station_coords</a:t>
            </a:r>
            <a:r>
              <a:rPr lang="en-US" sz="2300" dirty="0">
                <a:solidFill>
                  <a:srgbClr val="000000"/>
                </a:solidFill>
                <a:latin typeface="Consolas" panose="020B0609020204030204" pitchFamily="49" charset="0"/>
              </a:rPr>
              <a:t>[0], x=</a:t>
            </a:r>
            <a:r>
              <a:rPr lang="en-US" sz="2300" dirty="0" err="1">
                <a:solidFill>
                  <a:srgbClr val="000000"/>
                </a:solidFill>
                <a:latin typeface="Consolas" panose="020B0609020204030204" pitchFamily="49" charset="0"/>
              </a:rPr>
              <a:t>station_coords</a:t>
            </a:r>
            <a:r>
              <a:rPr lang="en-US" sz="2300" dirty="0">
                <a:solidFill>
                  <a:srgbClr val="000000"/>
                </a:solidFill>
                <a:latin typeface="Consolas" panose="020B0609020204030204" pitchFamily="49" charset="0"/>
              </a:rPr>
              <a:t>[1], amenity="</a:t>
            </a:r>
            <a:r>
              <a:rPr lang="en-US" sz="2300" dirty="0" err="1">
                <a:solidFill>
                  <a:srgbClr val="000000"/>
                </a:solidFill>
                <a:latin typeface="Consolas" panose="020B0609020204030204" pitchFamily="49" charset="0"/>
              </a:rPr>
              <a:t>charging_station</a:t>
            </a:r>
            <a:r>
              <a:rPr lang="en-US" sz="2300" dirty="0">
                <a:solidFill>
                  <a:srgbClr val="000000"/>
                </a:solidFill>
                <a:latin typeface="Consolas" panose="020B0609020204030204" pitchFamily="49" charset="0"/>
              </a:rPr>
              <a:t>")</a:t>
            </a:r>
          </a:p>
          <a:p>
            <a:endParaRPr lang="it-IT" sz="2000" dirty="0"/>
          </a:p>
          <a:p>
            <a:r>
              <a:rPr lang="it-IT" sz="2000" dirty="0"/>
              <a:t>5. Calcoliamo le distanze geodetiche dalla colonnina ai due nodi dell'arco più vicino (nodi </a:t>
            </a:r>
            <a:r>
              <a:rPr lang="it-IT" sz="2000" b="1" dirty="0"/>
              <a:t>u</a:t>
            </a:r>
            <a:r>
              <a:rPr lang="it-IT" sz="2000" dirty="0"/>
              <a:t> e </a:t>
            </a:r>
            <a:r>
              <a:rPr lang="it-IT" sz="2000" b="1" dirty="0"/>
              <a:t>v</a:t>
            </a:r>
            <a:r>
              <a:rPr lang="it-IT" sz="2000" dirty="0"/>
              <a:t>).</a:t>
            </a:r>
          </a:p>
          <a:p>
            <a:endParaRPr lang="it-IT" sz="2000" dirty="0"/>
          </a:p>
          <a:p>
            <a:r>
              <a:rPr lang="it-IT" sz="2000" dirty="0"/>
              <a:t>6. Rimuoviamo l'arco originale e aggiungiamo due nuovi archi che collegano la colonnina ai nodi </a:t>
            </a:r>
            <a:r>
              <a:rPr lang="it-IT" sz="2000" b="1" dirty="0"/>
              <a:t>u</a:t>
            </a:r>
            <a:r>
              <a:rPr lang="it-IT" sz="2000" dirty="0"/>
              <a:t> e </a:t>
            </a:r>
            <a:r>
              <a:rPr lang="it-IT" sz="2000" b="1" dirty="0"/>
              <a:t>v</a:t>
            </a:r>
            <a:r>
              <a:rPr lang="it-IT" sz="2000" dirty="0"/>
              <a:t>. </a:t>
            </a:r>
          </a:p>
          <a:p>
            <a:endParaRPr lang="it-IT" sz="2000" dirty="0"/>
          </a:p>
          <a:p>
            <a:r>
              <a:rPr lang="it-IT" sz="2000" dirty="0"/>
              <a:t>5. Vengono salvati i risultati con:</a:t>
            </a:r>
          </a:p>
          <a:p>
            <a:r>
              <a:rPr lang="it-IT" sz="2300" dirty="0">
                <a:solidFill>
                  <a:srgbClr val="000000"/>
                </a:solidFill>
                <a:latin typeface="Consolas" panose="020B0609020204030204" pitchFamily="49" charset="0"/>
              </a:rPr>
              <a:t> </a:t>
            </a:r>
            <a:r>
              <a:rPr lang="it-IT" sz="2300" dirty="0" err="1">
                <a:solidFill>
                  <a:srgbClr val="000000"/>
                </a:solidFill>
                <a:latin typeface="Consolas" panose="020B0609020204030204" pitchFamily="49" charset="0"/>
              </a:rPr>
              <a:t>ox.save_graphml</a:t>
            </a:r>
            <a:r>
              <a:rPr lang="it-IT" sz="2300" dirty="0">
                <a:solidFill>
                  <a:srgbClr val="000000"/>
                </a:solidFill>
                <a:latin typeface="Consolas" panose="020B0609020204030204" pitchFamily="49" charset="0"/>
              </a:rPr>
              <a:t>()</a:t>
            </a:r>
          </a:p>
          <a:p>
            <a:endParaRPr lang="it-IT" sz="1600" dirty="0"/>
          </a:p>
          <a:p>
            <a:endParaRPr lang="en-US" sz="1600" dirty="0">
              <a:solidFill>
                <a:srgbClr val="000000"/>
              </a:solidFill>
              <a:latin typeface="Consolas" panose="020B0609020204030204" pitchFamily="49" charset="0"/>
            </a:endParaRPr>
          </a:p>
          <a:p>
            <a:endParaRPr lang="en-US" sz="1600" b="0" dirty="0">
              <a:solidFill>
                <a:srgbClr val="000000"/>
              </a:solidFill>
              <a:effectLst/>
              <a:latin typeface="Calibri (Corpo)"/>
            </a:endParaRPr>
          </a:p>
        </p:txBody>
      </p:sp>
    </p:spTree>
    <p:extLst>
      <p:ext uri="{BB962C8B-B14F-4D97-AF65-F5344CB8AC3E}">
        <p14:creationId xmlns:p14="http://schemas.microsoft.com/office/powerpoint/2010/main" val="3459333581"/>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94C6C2F0-C53C-831D-8435-870BDDC6EB90}"/>
              </a:ext>
            </a:extLst>
          </p:cNvPr>
          <p:cNvSpPr txBox="1"/>
          <p:nvPr/>
        </p:nvSpPr>
        <p:spPr>
          <a:xfrm>
            <a:off x="316522" y="1881413"/>
            <a:ext cx="9455896" cy="3170099"/>
          </a:xfrm>
          <a:prstGeom prst="rect">
            <a:avLst/>
          </a:prstGeom>
          <a:noFill/>
        </p:spPr>
        <p:txBody>
          <a:bodyPr wrap="square" rtlCol="0">
            <a:spAutoFit/>
          </a:bodyPr>
          <a:lstStyle/>
          <a:p>
            <a:r>
              <a:rPr lang="it-IT" sz="2000" dirty="0"/>
              <a:t>Potremmo utilizzare un approccio di tipo Esaustivo, ma in questo modo il numero di combinazioni cresce esponenzialmente (complessità computazionale di tipo n! con n nodi).</a:t>
            </a:r>
          </a:p>
          <a:p>
            <a:endParaRPr lang="it-IT" sz="2000" dirty="0"/>
          </a:p>
          <a:p>
            <a:r>
              <a:rPr lang="it-IT" sz="2000" dirty="0"/>
              <a:t>Ad esempio:</a:t>
            </a:r>
          </a:p>
          <a:p>
            <a:pPr marL="742950" lvl="1" indent="-285750">
              <a:buFont typeface="Arial" panose="020B0604020202020204" pitchFamily="34" charset="0"/>
              <a:buChar char="•"/>
            </a:pPr>
            <a:r>
              <a:rPr lang="it-IT" sz="2000" dirty="0"/>
              <a:t>Per n=10, il numero di permutazioni è 10!=3,6×10^6 </a:t>
            </a:r>
          </a:p>
          <a:p>
            <a:pPr marL="742950" lvl="1" indent="-285750">
              <a:buFont typeface="Arial" panose="020B0604020202020204" pitchFamily="34" charset="0"/>
              <a:buChar char="•"/>
            </a:pPr>
            <a:r>
              <a:rPr lang="it-IT" sz="2000" dirty="0"/>
              <a:t>Per n=</a:t>
            </a:r>
            <a:r>
              <a:rPr lang="it-IT" sz="2000" dirty="0">
                <a:solidFill>
                  <a:srgbClr val="FF0000"/>
                </a:solidFill>
              </a:rPr>
              <a:t>110709</a:t>
            </a:r>
            <a:r>
              <a:rPr lang="it-IT" sz="2000" dirty="0"/>
              <a:t>, il numero cresce a </a:t>
            </a:r>
            <a:r>
              <a:rPr lang="it-IT" sz="2000" dirty="0">
                <a:solidFill>
                  <a:srgbClr val="FF0000"/>
                </a:solidFill>
              </a:rPr>
              <a:t>110709</a:t>
            </a:r>
            <a:r>
              <a:rPr lang="it-IT" sz="2000" dirty="0"/>
              <a:t>!</a:t>
            </a:r>
          </a:p>
          <a:p>
            <a:endParaRPr lang="it-IT" sz="2000" dirty="0"/>
          </a:p>
          <a:p>
            <a:r>
              <a:rPr lang="it-IT" sz="2000" dirty="0"/>
              <a:t>In virtù di queste problematiche, la soluzione da noi adottata è quella di un </a:t>
            </a:r>
            <a:r>
              <a:rPr lang="it-IT" sz="2000" b="1" dirty="0"/>
              <a:t>algoritmo genetico</a:t>
            </a:r>
          </a:p>
        </p:txBody>
      </p:sp>
      <p:sp>
        <p:nvSpPr>
          <p:cNvPr id="3" name="Text 0">
            <a:extLst>
              <a:ext uri="{FF2B5EF4-FFF2-40B4-BE49-F238E27FC236}">
                <a16:creationId xmlns:a16="http://schemas.microsoft.com/office/drawing/2014/main" id="{928BE222-EFA3-F3C6-E0CB-A484E74A25EC}"/>
              </a:ext>
            </a:extLst>
          </p:cNvPr>
          <p:cNvSpPr/>
          <p:nvPr/>
        </p:nvSpPr>
        <p:spPr>
          <a:xfrm>
            <a:off x="316522" y="796101"/>
            <a:ext cx="10364139" cy="660449"/>
          </a:xfrm>
          <a:prstGeom prst="rect">
            <a:avLst/>
          </a:prstGeom>
          <a:noFill/>
          <a:ln/>
        </p:spPr>
        <p:txBody>
          <a:bodyPr wrap="square" lIns="0" tIns="0" rIns="0" bIns="0" rtlCol="0" anchor="t"/>
          <a:lstStyle/>
          <a:p>
            <a:pPr>
              <a:lnSpc>
                <a:spcPts val="5450"/>
              </a:lnSpc>
            </a:pPr>
            <a:r>
              <a:rPr lang="it-IT" sz="4350" b="1" dirty="0">
                <a:solidFill>
                  <a:srgbClr val="231971"/>
                </a:solidFill>
                <a:latin typeface="Outfit Extra Bold" pitchFamily="34" charset="0"/>
              </a:rPr>
              <a:t>Soluzione con Approccio Esaustivo</a:t>
            </a:r>
          </a:p>
        </p:txBody>
      </p:sp>
      <p:pic>
        <p:nvPicPr>
          <p:cNvPr id="4" name="Immagine 3" descr="Immagine che contiene testo, Cartoni animati, cartone animato&#10;&#10;Descrizione generata automaticamente">
            <a:extLst>
              <a:ext uri="{FF2B5EF4-FFF2-40B4-BE49-F238E27FC236}">
                <a16:creationId xmlns:a16="http://schemas.microsoft.com/office/drawing/2014/main" id="{C0257426-DEF5-C5B2-72C1-0D341371FBF6}"/>
              </a:ext>
            </a:extLst>
          </p:cNvPr>
          <p:cNvPicPr>
            <a:picLocks noChangeAspect="1"/>
          </p:cNvPicPr>
          <p:nvPr/>
        </p:nvPicPr>
        <p:blipFill>
          <a:blip r:embed="rId3"/>
          <a:stretch>
            <a:fillRect/>
          </a:stretch>
        </p:blipFill>
        <p:spPr>
          <a:xfrm>
            <a:off x="10108924" y="2023872"/>
            <a:ext cx="3652562" cy="2762250"/>
          </a:xfrm>
          <a:prstGeom prst="rect">
            <a:avLst/>
          </a:prstGeom>
        </p:spPr>
      </p:pic>
    </p:spTree>
    <p:extLst>
      <p:ext uri="{BB962C8B-B14F-4D97-AF65-F5344CB8AC3E}">
        <p14:creationId xmlns:p14="http://schemas.microsoft.com/office/powerpoint/2010/main" val="757194396"/>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758624" y="233720"/>
            <a:ext cx="6022062" cy="617934"/>
          </a:xfrm>
          <a:prstGeom prst="rect">
            <a:avLst/>
          </a:prstGeom>
          <a:noFill/>
          <a:ln/>
        </p:spPr>
        <p:txBody>
          <a:bodyPr wrap="none" lIns="0" tIns="0" rIns="0" bIns="0" rtlCol="0" anchor="t"/>
          <a:lstStyle/>
          <a:p>
            <a:pPr marL="0" indent="0">
              <a:lnSpc>
                <a:spcPts val="4850"/>
              </a:lnSpc>
              <a:buNone/>
            </a:pPr>
            <a:r>
              <a:rPr lang="en-US" sz="3850" b="1" dirty="0" err="1">
                <a:solidFill>
                  <a:srgbClr val="231971"/>
                </a:solidFill>
                <a:latin typeface="Outfit Extra Bold" pitchFamily="34" charset="0"/>
                <a:ea typeface="Outfit Extra Bold" pitchFamily="34" charset="-122"/>
                <a:cs typeface="Outfit Extra Bold" pitchFamily="34" charset="-120"/>
              </a:rPr>
              <a:t>Algoritmo</a:t>
            </a:r>
            <a:r>
              <a:rPr lang="en-US" sz="3850" b="1" dirty="0">
                <a:solidFill>
                  <a:srgbClr val="231971"/>
                </a:solidFill>
                <a:latin typeface="Outfit Extra Bold" pitchFamily="34" charset="0"/>
                <a:ea typeface="Outfit Extra Bold" pitchFamily="34" charset="-122"/>
                <a:cs typeface="Outfit Extra Bold" pitchFamily="34" charset="-120"/>
              </a:rPr>
              <a:t> </a:t>
            </a:r>
            <a:r>
              <a:rPr lang="en-US" sz="3850" b="1" dirty="0" err="1">
                <a:solidFill>
                  <a:srgbClr val="231971"/>
                </a:solidFill>
                <a:latin typeface="Outfit Extra Bold" pitchFamily="34" charset="0"/>
                <a:ea typeface="Outfit Extra Bold" pitchFamily="34" charset="-122"/>
                <a:cs typeface="Outfit Extra Bold" pitchFamily="34" charset="-120"/>
              </a:rPr>
              <a:t>genetico</a:t>
            </a:r>
            <a:r>
              <a:rPr lang="en-US" sz="3850" b="1" dirty="0">
                <a:solidFill>
                  <a:srgbClr val="231971"/>
                </a:solidFill>
                <a:latin typeface="Outfit Extra Bold" pitchFamily="34" charset="0"/>
                <a:ea typeface="Outfit Extra Bold" pitchFamily="34" charset="-122"/>
                <a:cs typeface="Outfit Extra Bold" pitchFamily="34" charset="-120"/>
              </a:rPr>
              <a:t> </a:t>
            </a:r>
            <a:r>
              <a:rPr lang="en-US" sz="3850" b="1" dirty="0" err="1">
                <a:solidFill>
                  <a:srgbClr val="231971"/>
                </a:solidFill>
                <a:latin typeface="Outfit Extra Bold" pitchFamily="34" charset="0"/>
                <a:ea typeface="Outfit Extra Bold" pitchFamily="34" charset="-122"/>
                <a:cs typeface="Outfit Extra Bold" pitchFamily="34" charset="-120"/>
              </a:rPr>
              <a:t>utlizzato</a:t>
            </a:r>
            <a:endParaRPr lang="en-US" sz="3850" dirty="0"/>
          </a:p>
        </p:txBody>
      </p:sp>
      <p:sp>
        <p:nvSpPr>
          <p:cNvPr id="3" name="Shape 1"/>
          <p:cNvSpPr/>
          <p:nvPr/>
        </p:nvSpPr>
        <p:spPr>
          <a:xfrm>
            <a:off x="7303770" y="1556980"/>
            <a:ext cx="22860" cy="6129218"/>
          </a:xfrm>
          <a:prstGeom prst="roundRect">
            <a:avLst>
              <a:gd name="adj" fmla="val 363264"/>
            </a:avLst>
          </a:prstGeom>
          <a:solidFill>
            <a:srgbClr val="BDB8DF"/>
          </a:solidFill>
          <a:ln/>
        </p:spPr>
        <p:txBody>
          <a:bodyPr/>
          <a:lstStyle/>
          <a:p>
            <a:endParaRPr lang="it-IT"/>
          </a:p>
        </p:txBody>
      </p:sp>
      <p:sp>
        <p:nvSpPr>
          <p:cNvPr id="4" name="Shape 2"/>
          <p:cNvSpPr/>
          <p:nvPr/>
        </p:nvSpPr>
        <p:spPr>
          <a:xfrm>
            <a:off x="6423660" y="1990368"/>
            <a:ext cx="691991" cy="22860"/>
          </a:xfrm>
          <a:prstGeom prst="roundRect">
            <a:avLst>
              <a:gd name="adj" fmla="val 363264"/>
            </a:avLst>
          </a:prstGeom>
          <a:solidFill>
            <a:srgbClr val="BDB8DF"/>
          </a:solidFill>
          <a:ln/>
        </p:spPr>
        <p:txBody>
          <a:bodyPr/>
          <a:lstStyle/>
          <a:p>
            <a:endParaRPr lang="it-IT"/>
          </a:p>
        </p:txBody>
      </p:sp>
      <p:sp>
        <p:nvSpPr>
          <p:cNvPr id="5" name="Shape 3"/>
          <p:cNvSpPr/>
          <p:nvPr/>
        </p:nvSpPr>
        <p:spPr>
          <a:xfrm>
            <a:off x="7092791" y="1779389"/>
            <a:ext cx="444818" cy="444818"/>
          </a:xfrm>
          <a:prstGeom prst="roundRect">
            <a:avLst>
              <a:gd name="adj" fmla="val 18669"/>
            </a:avLst>
          </a:prstGeom>
          <a:solidFill>
            <a:srgbClr val="E9E6FA"/>
          </a:solidFill>
          <a:ln w="7620">
            <a:solidFill>
              <a:srgbClr val="BDB8DF"/>
            </a:solidFill>
            <a:prstDash val="solid"/>
          </a:ln>
        </p:spPr>
        <p:txBody>
          <a:bodyPr/>
          <a:lstStyle/>
          <a:p>
            <a:endParaRPr lang="it-IT"/>
          </a:p>
        </p:txBody>
      </p:sp>
      <p:sp>
        <p:nvSpPr>
          <p:cNvPr id="6" name="Text 4"/>
          <p:cNvSpPr/>
          <p:nvPr/>
        </p:nvSpPr>
        <p:spPr>
          <a:xfrm>
            <a:off x="7257336" y="1853446"/>
            <a:ext cx="115729" cy="296585"/>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1</a:t>
            </a:r>
            <a:endParaRPr lang="en-US" sz="2300" dirty="0"/>
          </a:p>
        </p:txBody>
      </p:sp>
      <p:sp>
        <p:nvSpPr>
          <p:cNvPr id="7" name="Text 5"/>
          <p:cNvSpPr/>
          <p:nvPr/>
        </p:nvSpPr>
        <p:spPr>
          <a:xfrm>
            <a:off x="1012864" y="1828800"/>
            <a:ext cx="5339953" cy="395407"/>
          </a:xfrm>
          <a:prstGeom prst="rect">
            <a:avLst/>
          </a:prstGeom>
          <a:noFill/>
          <a:ln/>
        </p:spPr>
        <p:txBody>
          <a:bodyPr wrap="square" lIns="0" tIns="0" rIns="0" bIns="0" rtlCol="0" anchor="t"/>
          <a:lstStyle/>
          <a:p>
            <a:pPr marL="0" indent="0" algn="just">
              <a:lnSpc>
                <a:spcPts val="2450"/>
              </a:lnSpc>
              <a:buNone/>
            </a:pPr>
            <a:r>
              <a:rPr lang="en-US" sz="2800" b="1" dirty="0" err="1">
                <a:solidFill>
                  <a:srgbClr val="2A2742"/>
                </a:solidFill>
                <a:latin typeface="Arimo" pitchFamily="34" charset="0"/>
                <a:ea typeface="Arimo" pitchFamily="34" charset="-122"/>
                <a:cs typeface="Arimo" pitchFamily="34" charset="-120"/>
              </a:rPr>
              <a:t>Inizializzazione</a:t>
            </a:r>
            <a:r>
              <a:rPr lang="en-US" sz="2800" b="1" dirty="0">
                <a:solidFill>
                  <a:srgbClr val="2A2742"/>
                </a:solidFill>
                <a:latin typeface="Arimo" pitchFamily="34" charset="0"/>
                <a:ea typeface="Arimo" pitchFamily="34" charset="-122"/>
                <a:cs typeface="Arimo" pitchFamily="34" charset="-120"/>
              </a:rPr>
              <a:t> </a:t>
            </a:r>
            <a:r>
              <a:rPr lang="en-US" sz="2800" b="1" dirty="0" err="1">
                <a:solidFill>
                  <a:srgbClr val="2A2742"/>
                </a:solidFill>
                <a:latin typeface="Arimo" pitchFamily="34" charset="0"/>
                <a:ea typeface="Arimo" pitchFamily="34" charset="-122"/>
                <a:cs typeface="Arimo" pitchFamily="34" charset="-120"/>
              </a:rPr>
              <a:t>della</a:t>
            </a:r>
            <a:r>
              <a:rPr lang="en-US" sz="2800" b="1" dirty="0">
                <a:solidFill>
                  <a:srgbClr val="2A2742"/>
                </a:solidFill>
                <a:latin typeface="Arimo" pitchFamily="34" charset="0"/>
                <a:ea typeface="Arimo" pitchFamily="34" charset="-122"/>
                <a:cs typeface="Arimo" pitchFamily="34" charset="-120"/>
              </a:rPr>
              <a:t> </a:t>
            </a:r>
            <a:r>
              <a:rPr lang="en-US" sz="2800" b="1" dirty="0" err="1">
                <a:solidFill>
                  <a:srgbClr val="2A2742"/>
                </a:solidFill>
                <a:latin typeface="Arimo" pitchFamily="34" charset="0"/>
                <a:ea typeface="Arimo" pitchFamily="34" charset="-122"/>
                <a:cs typeface="Arimo" pitchFamily="34" charset="-120"/>
              </a:rPr>
              <a:t>popolazione</a:t>
            </a:r>
            <a:endParaRPr lang="en-US" sz="2800" dirty="0"/>
          </a:p>
        </p:txBody>
      </p:sp>
      <p:sp>
        <p:nvSpPr>
          <p:cNvPr id="8" name="Shape 6"/>
          <p:cNvSpPr/>
          <p:nvPr/>
        </p:nvSpPr>
        <p:spPr>
          <a:xfrm>
            <a:off x="7514749" y="2978825"/>
            <a:ext cx="691991" cy="22860"/>
          </a:xfrm>
          <a:prstGeom prst="roundRect">
            <a:avLst>
              <a:gd name="adj" fmla="val 363264"/>
            </a:avLst>
          </a:prstGeom>
          <a:solidFill>
            <a:srgbClr val="BDB8DF"/>
          </a:solidFill>
          <a:ln/>
        </p:spPr>
        <p:txBody>
          <a:bodyPr/>
          <a:lstStyle/>
          <a:p>
            <a:endParaRPr lang="it-IT"/>
          </a:p>
        </p:txBody>
      </p:sp>
      <p:sp>
        <p:nvSpPr>
          <p:cNvPr id="9" name="Shape 7"/>
          <p:cNvSpPr/>
          <p:nvPr/>
        </p:nvSpPr>
        <p:spPr>
          <a:xfrm>
            <a:off x="7092791" y="2767846"/>
            <a:ext cx="444818" cy="444818"/>
          </a:xfrm>
          <a:prstGeom prst="roundRect">
            <a:avLst>
              <a:gd name="adj" fmla="val 18669"/>
            </a:avLst>
          </a:prstGeom>
          <a:solidFill>
            <a:srgbClr val="E9E6FA"/>
          </a:solidFill>
          <a:ln w="7620">
            <a:solidFill>
              <a:srgbClr val="BDB8DF"/>
            </a:solidFill>
            <a:prstDash val="solid"/>
          </a:ln>
        </p:spPr>
        <p:txBody>
          <a:bodyPr/>
          <a:lstStyle/>
          <a:p>
            <a:endParaRPr lang="it-IT"/>
          </a:p>
        </p:txBody>
      </p:sp>
      <p:sp>
        <p:nvSpPr>
          <p:cNvPr id="10" name="Text 8"/>
          <p:cNvSpPr/>
          <p:nvPr/>
        </p:nvSpPr>
        <p:spPr>
          <a:xfrm>
            <a:off x="7229713" y="2841903"/>
            <a:ext cx="170855" cy="296585"/>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2</a:t>
            </a:r>
            <a:endParaRPr lang="en-US" sz="2300" dirty="0"/>
          </a:p>
        </p:txBody>
      </p:sp>
      <p:sp>
        <p:nvSpPr>
          <p:cNvPr id="11" name="Text 9"/>
          <p:cNvSpPr/>
          <p:nvPr/>
        </p:nvSpPr>
        <p:spPr>
          <a:xfrm>
            <a:off x="8402597" y="2841903"/>
            <a:ext cx="5535811" cy="949047"/>
          </a:xfrm>
          <a:prstGeom prst="rect">
            <a:avLst/>
          </a:prstGeom>
          <a:noFill/>
          <a:ln/>
        </p:spPr>
        <p:txBody>
          <a:bodyPr wrap="square" lIns="0" tIns="0" rIns="0" bIns="0" rtlCol="0" anchor="t"/>
          <a:lstStyle/>
          <a:p>
            <a:pPr marL="0" indent="0" algn="just">
              <a:lnSpc>
                <a:spcPts val="2450"/>
              </a:lnSpc>
              <a:buNone/>
            </a:pPr>
            <a:r>
              <a:rPr lang="en-US" sz="2800" b="1" dirty="0" err="1">
                <a:solidFill>
                  <a:srgbClr val="2A2742"/>
                </a:solidFill>
                <a:latin typeface="Arimo" pitchFamily="34" charset="0"/>
                <a:ea typeface="Arimo" pitchFamily="34" charset="-122"/>
                <a:cs typeface="Arimo" pitchFamily="34" charset="-120"/>
              </a:rPr>
              <a:t>Selezione</a:t>
            </a:r>
            <a:endParaRPr lang="en-US" sz="1550" dirty="0"/>
          </a:p>
        </p:txBody>
      </p:sp>
      <p:sp>
        <p:nvSpPr>
          <p:cNvPr id="12" name="Shape 10"/>
          <p:cNvSpPr/>
          <p:nvPr/>
        </p:nvSpPr>
        <p:spPr>
          <a:xfrm>
            <a:off x="6423660" y="3868460"/>
            <a:ext cx="691991" cy="22860"/>
          </a:xfrm>
          <a:prstGeom prst="roundRect">
            <a:avLst>
              <a:gd name="adj" fmla="val 363264"/>
            </a:avLst>
          </a:prstGeom>
          <a:solidFill>
            <a:srgbClr val="BDB8DF"/>
          </a:solidFill>
          <a:ln/>
        </p:spPr>
        <p:txBody>
          <a:bodyPr/>
          <a:lstStyle/>
          <a:p>
            <a:endParaRPr lang="it-IT"/>
          </a:p>
        </p:txBody>
      </p:sp>
      <p:sp>
        <p:nvSpPr>
          <p:cNvPr id="13" name="Shape 11"/>
          <p:cNvSpPr/>
          <p:nvPr/>
        </p:nvSpPr>
        <p:spPr>
          <a:xfrm>
            <a:off x="7092791" y="3657481"/>
            <a:ext cx="444818" cy="444818"/>
          </a:xfrm>
          <a:prstGeom prst="roundRect">
            <a:avLst>
              <a:gd name="adj" fmla="val 18669"/>
            </a:avLst>
          </a:prstGeom>
          <a:solidFill>
            <a:srgbClr val="E9E6FA"/>
          </a:solidFill>
          <a:ln w="7620">
            <a:solidFill>
              <a:srgbClr val="BDB8DF"/>
            </a:solidFill>
            <a:prstDash val="solid"/>
          </a:ln>
        </p:spPr>
        <p:txBody>
          <a:bodyPr/>
          <a:lstStyle/>
          <a:p>
            <a:endParaRPr lang="it-IT"/>
          </a:p>
        </p:txBody>
      </p:sp>
      <p:sp>
        <p:nvSpPr>
          <p:cNvPr id="14" name="Text 12"/>
          <p:cNvSpPr/>
          <p:nvPr/>
        </p:nvSpPr>
        <p:spPr>
          <a:xfrm>
            <a:off x="7230785" y="3731538"/>
            <a:ext cx="168712" cy="296585"/>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3</a:t>
            </a:r>
            <a:endParaRPr lang="en-US" sz="2300" dirty="0"/>
          </a:p>
        </p:txBody>
      </p:sp>
      <p:sp>
        <p:nvSpPr>
          <p:cNvPr id="15" name="Text 13"/>
          <p:cNvSpPr/>
          <p:nvPr/>
        </p:nvSpPr>
        <p:spPr>
          <a:xfrm>
            <a:off x="1886447" y="3779342"/>
            <a:ext cx="4537213" cy="949047"/>
          </a:xfrm>
          <a:prstGeom prst="rect">
            <a:avLst/>
          </a:prstGeom>
          <a:noFill/>
          <a:ln/>
        </p:spPr>
        <p:txBody>
          <a:bodyPr wrap="square" lIns="0" tIns="0" rIns="0" bIns="0" rtlCol="0" anchor="t"/>
          <a:lstStyle/>
          <a:p>
            <a:pPr marL="0" indent="0" algn="just">
              <a:lnSpc>
                <a:spcPts val="2450"/>
              </a:lnSpc>
              <a:buNone/>
            </a:pPr>
            <a:r>
              <a:rPr lang="en-US" sz="2800" b="1" dirty="0">
                <a:solidFill>
                  <a:srgbClr val="2A2742"/>
                </a:solidFill>
                <a:latin typeface="Arimo" pitchFamily="34" charset="0"/>
                <a:ea typeface="Arimo" pitchFamily="34" charset="-122"/>
                <a:cs typeface="Arimo" pitchFamily="34" charset="-120"/>
              </a:rPr>
              <a:t>Crossover (</a:t>
            </a:r>
            <a:r>
              <a:rPr lang="en-US" sz="2800" b="1" dirty="0" err="1">
                <a:solidFill>
                  <a:srgbClr val="2A2742"/>
                </a:solidFill>
                <a:latin typeface="Arimo" pitchFamily="34" charset="0"/>
                <a:ea typeface="Arimo" pitchFamily="34" charset="-122"/>
                <a:cs typeface="Arimo" pitchFamily="34" charset="-120"/>
              </a:rPr>
              <a:t>Riproduzione</a:t>
            </a:r>
            <a:r>
              <a:rPr lang="en-US" sz="2800" b="1" dirty="0">
                <a:solidFill>
                  <a:srgbClr val="2A2742"/>
                </a:solidFill>
                <a:latin typeface="Arimo" pitchFamily="34" charset="0"/>
                <a:ea typeface="Arimo" pitchFamily="34" charset="-122"/>
                <a:cs typeface="Arimo" pitchFamily="34" charset="-120"/>
              </a:rPr>
              <a:t>)</a:t>
            </a:r>
            <a:endParaRPr lang="en-US" sz="2800" dirty="0"/>
          </a:p>
        </p:txBody>
      </p:sp>
      <p:sp>
        <p:nvSpPr>
          <p:cNvPr id="16" name="Shape 14"/>
          <p:cNvSpPr/>
          <p:nvPr/>
        </p:nvSpPr>
        <p:spPr>
          <a:xfrm>
            <a:off x="7514749" y="4758214"/>
            <a:ext cx="691991" cy="22860"/>
          </a:xfrm>
          <a:prstGeom prst="roundRect">
            <a:avLst>
              <a:gd name="adj" fmla="val 363264"/>
            </a:avLst>
          </a:prstGeom>
          <a:solidFill>
            <a:srgbClr val="BDB8DF"/>
          </a:solidFill>
          <a:ln/>
        </p:spPr>
        <p:txBody>
          <a:bodyPr/>
          <a:lstStyle/>
          <a:p>
            <a:endParaRPr lang="it-IT"/>
          </a:p>
        </p:txBody>
      </p:sp>
      <p:sp>
        <p:nvSpPr>
          <p:cNvPr id="17" name="Shape 15"/>
          <p:cNvSpPr/>
          <p:nvPr/>
        </p:nvSpPr>
        <p:spPr>
          <a:xfrm>
            <a:off x="7092791" y="4547235"/>
            <a:ext cx="444818" cy="444818"/>
          </a:xfrm>
          <a:prstGeom prst="roundRect">
            <a:avLst>
              <a:gd name="adj" fmla="val 18669"/>
            </a:avLst>
          </a:prstGeom>
          <a:solidFill>
            <a:srgbClr val="E9E6FA"/>
          </a:solidFill>
          <a:ln w="7620">
            <a:solidFill>
              <a:srgbClr val="BDB8DF"/>
            </a:solidFill>
            <a:prstDash val="solid"/>
          </a:ln>
        </p:spPr>
        <p:txBody>
          <a:bodyPr/>
          <a:lstStyle/>
          <a:p>
            <a:endParaRPr lang="it-IT"/>
          </a:p>
        </p:txBody>
      </p:sp>
      <p:sp>
        <p:nvSpPr>
          <p:cNvPr id="18" name="Text 16"/>
          <p:cNvSpPr/>
          <p:nvPr/>
        </p:nvSpPr>
        <p:spPr>
          <a:xfrm>
            <a:off x="7224236" y="4621292"/>
            <a:ext cx="181808" cy="296585"/>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4</a:t>
            </a:r>
            <a:endParaRPr lang="en-US" sz="2300" dirty="0"/>
          </a:p>
        </p:txBody>
      </p:sp>
      <p:sp>
        <p:nvSpPr>
          <p:cNvPr id="19" name="Text 17"/>
          <p:cNvSpPr/>
          <p:nvPr/>
        </p:nvSpPr>
        <p:spPr>
          <a:xfrm>
            <a:off x="8356997" y="4621292"/>
            <a:ext cx="5535811" cy="632698"/>
          </a:xfrm>
          <a:prstGeom prst="rect">
            <a:avLst/>
          </a:prstGeom>
          <a:noFill/>
          <a:ln/>
        </p:spPr>
        <p:txBody>
          <a:bodyPr wrap="square" lIns="0" tIns="0" rIns="0" bIns="0" rtlCol="0" anchor="t"/>
          <a:lstStyle/>
          <a:p>
            <a:pPr marL="0" indent="0" algn="l">
              <a:lnSpc>
                <a:spcPts val="2450"/>
              </a:lnSpc>
              <a:buNone/>
            </a:pPr>
            <a:r>
              <a:rPr lang="en-US" sz="2800" b="1" dirty="0" err="1">
                <a:solidFill>
                  <a:srgbClr val="2A2742"/>
                </a:solidFill>
                <a:latin typeface="Arimo" pitchFamily="34" charset="0"/>
                <a:ea typeface="Arimo" pitchFamily="34" charset="-122"/>
                <a:cs typeface="Arimo" pitchFamily="34" charset="-120"/>
              </a:rPr>
              <a:t>Mutazione</a:t>
            </a:r>
            <a:endParaRPr lang="en-US" sz="1550" dirty="0"/>
          </a:p>
        </p:txBody>
      </p:sp>
      <p:sp>
        <p:nvSpPr>
          <p:cNvPr id="20" name="Shape 18"/>
          <p:cNvSpPr/>
          <p:nvPr/>
        </p:nvSpPr>
        <p:spPr>
          <a:xfrm>
            <a:off x="6423660" y="5647968"/>
            <a:ext cx="691991" cy="22860"/>
          </a:xfrm>
          <a:prstGeom prst="roundRect">
            <a:avLst>
              <a:gd name="adj" fmla="val 363264"/>
            </a:avLst>
          </a:prstGeom>
          <a:solidFill>
            <a:srgbClr val="BDB8DF"/>
          </a:solidFill>
          <a:ln/>
        </p:spPr>
        <p:txBody>
          <a:bodyPr/>
          <a:lstStyle/>
          <a:p>
            <a:endParaRPr lang="it-IT"/>
          </a:p>
        </p:txBody>
      </p:sp>
      <p:sp>
        <p:nvSpPr>
          <p:cNvPr id="21" name="Shape 19"/>
          <p:cNvSpPr/>
          <p:nvPr/>
        </p:nvSpPr>
        <p:spPr>
          <a:xfrm>
            <a:off x="7092791" y="5436989"/>
            <a:ext cx="444818" cy="444818"/>
          </a:xfrm>
          <a:prstGeom prst="roundRect">
            <a:avLst>
              <a:gd name="adj" fmla="val 18669"/>
            </a:avLst>
          </a:prstGeom>
          <a:solidFill>
            <a:srgbClr val="E9E6FA"/>
          </a:solidFill>
          <a:ln w="7620">
            <a:solidFill>
              <a:srgbClr val="BDB8DF"/>
            </a:solidFill>
            <a:prstDash val="solid"/>
          </a:ln>
        </p:spPr>
        <p:txBody>
          <a:bodyPr/>
          <a:lstStyle/>
          <a:p>
            <a:endParaRPr lang="it-IT"/>
          </a:p>
        </p:txBody>
      </p:sp>
      <p:sp>
        <p:nvSpPr>
          <p:cNvPr id="22" name="Text 20"/>
          <p:cNvSpPr/>
          <p:nvPr/>
        </p:nvSpPr>
        <p:spPr>
          <a:xfrm>
            <a:off x="7230904" y="5511046"/>
            <a:ext cx="168473" cy="296585"/>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5</a:t>
            </a:r>
            <a:endParaRPr lang="en-US" sz="2300" dirty="0"/>
          </a:p>
        </p:txBody>
      </p:sp>
      <p:sp>
        <p:nvSpPr>
          <p:cNvPr id="23" name="Text 21"/>
          <p:cNvSpPr/>
          <p:nvPr/>
        </p:nvSpPr>
        <p:spPr>
          <a:xfrm>
            <a:off x="4459638" y="5535210"/>
            <a:ext cx="1964022" cy="632698"/>
          </a:xfrm>
          <a:prstGeom prst="rect">
            <a:avLst/>
          </a:prstGeom>
          <a:noFill/>
          <a:ln/>
        </p:spPr>
        <p:txBody>
          <a:bodyPr wrap="square" lIns="0" tIns="0" rIns="0" bIns="0" rtlCol="0" anchor="t"/>
          <a:lstStyle/>
          <a:p>
            <a:pPr marL="0" indent="0" algn="just">
              <a:lnSpc>
                <a:spcPts val="2450"/>
              </a:lnSpc>
              <a:buNone/>
            </a:pPr>
            <a:r>
              <a:rPr lang="en-US" sz="2800" b="1" dirty="0" err="1">
                <a:solidFill>
                  <a:srgbClr val="2A2742"/>
                </a:solidFill>
                <a:latin typeface="Arimo" pitchFamily="34" charset="0"/>
                <a:ea typeface="Arimo" pitchFamily="34" charset="-122"/>
                <a:cs typeface="Arimo" pitchFamily="34" charset="-120"/>
              </a:rPr>
              <a:t>Valutazione</a:t>
            </a:r>
            <a:endParaRPr lang="en-US" sz="2800" dirty="0"/>
          </a:p>
        </p:txBody>
      </p:sp>
      <p:sp>
        <p:nvSpPr>
          <p:cNvPr id="24" name="Shape 22"/>
          <p:cNvSpPr/>
          <p:nvPr/>
        </p:nvSpPr>
        <p:spPr>
          <a:xfrm>
            <a:off x="7514749" y="6537722"/>
            <a:ext cx="691991" cy="22860"/>
          </a:xfrm>
          <a:prstGeom prst="roundRect">
            <a:avLst>
              <a:gd name="adj" fmla="val 363264"/>
            </a:avLst>
          </a:prstGeom>
          <a:solidFill>
            <a:srgbClr val="BDB8DF"/>
          </a:solidFill>
          <a:ln/>
        </p:spPr>
        <p:txBody>
          <a:bodyPr/>
          <a:lstStyle/>
          <a:p>
            <a:endParaRPr lang="it-IT"/>
          </a:p>
        </p:txBody>
      </p:sp>
      <p:sp>
        <p:nvSpPr>
          <p:cNvPr id="25" name="Shape 23"/>
          <p:cNvSpPr/>
          <p:nvPr/>
        </p:nvSpPr>
        <p:spPr>
          <a:xfrm>
            <a:off x="7092791" y="6326743"/>
            <a:ext cx="444818" cy="444818"/>
          </a:xfrm>
          <a:prstGeom prst="roundRect">
            <a:avLst>
              <a:gd name="adj" fmla="val 18669"/>
            </a:avLst>
          </a:prstGeom>
          <a:solidFill>
            <a:srgbClr val="E9E6FA"/>
          </a:solidFill>
          <a:ln w="7620">
            <a:solidFill>
              <a:srgbClr val="BDB8DF"/>
            </a:solidFill>
            <a:prstDash val="solid"/>
          </a:ln>
        </p:spPr>
        <p:txBody>
          <a:bodyPr/>
          <a:lstStyle/>
          <a:p>
            <a:endParaRPr lang="it-IT"/>
          </a:p>
        </p:txBody>
      </p:sp>
      <p:sp>
        <p:nvSpPr>
          <p:cNvPr id="26" name="Text 24"/>
          <p:cNvSpPr/>
          <p:nvPr/>
        </p:nvSpPr>
        <p:spPr>
          <a:xfrm>
            <a:off x="7229356" y="6400800"/>
            <a:ext cx="171688" cy="296585"/>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6</a:t>
            </a:r>
            <a:endParaRPr lang="en-US" sz="2300" dirty="0"/>
          </a:p>
        </p:txBody>
      </p:sp>
      <p:sp>
        <p:nvSpPr>
          <p:cNvPr id="27" name="Text 25"/>
          <p:cNvSpPr/>
          <p:nvPr/>
        </p:nvSpPr>
        <p:spPr>
          <a:xfrm>
            <a:off x="8351997" y="6400800"/>
            <a:ext cx="1709505" cy="395407"/>
          </a:xfrm>
          <a:prstGeom prst="rect">
            <a:avLst/>
          </a:prstGeom>
          <a:noFill/>
          <a:ln/>
        </p:spPr>
        <p:txBody>
          <a:bodyPr wrap="square" lIns="0" tIns="0" rIns="0" bIns="0" rtlCol="0" anchor="t"/>
          <a:lstStyle/>
          <a:p>
            <a:pPr marL="0" indent="0" algn="l">
              <a:lnSpc>
                <a:spcPts val="2450"/>
              </a:lnSpc>
              <a:buNone/>
            </a:pPr>
            <a:r>
              <a:rPr lang="en-US" sz="2800" b="1" dirty="0" err="1">
                <a:solidFill>
                  <a:srgbClr val="2A2742"/>
                </a:solidFill>
                <a:latin typeface="Arimo" pitchFamily="34" charset="0"/>
                <a:ea typeface="Arimo" pitchFamily="34" charset="-122"/>
                <a:cs typeface="Arimo" pitchFamily="34" charset="-120"/>
              </a:rPr>
              <a:t>Iterazione</a:t>
            </a:r>
            <a:endParaRPr lang="en-US" sz="2800" dirty="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1+#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0-#ppt_w/2"/>
                                          </p:val>
                                        </p:tav>
                                        <p:tav tm="100000">
                                          <p:val>
                                            <p:strVal val="#ppt_x"/>
                                          </p:val>
                                        </p:tav>
                                      </p:tavLst>
                                    </p:anim>
                                    <p:anim calcmode="lin" valueType="num">
                                      <p:cBhvr additive="base">
                                        <p:cTn id="2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1+#ppt_w/2"/>
                                          </p:val>
                                        </p:tav>
                                        <p:tav tm="100000">
                                          <p:val>
                                            <p:strVal val="#ppt_x"/>
                                          </p:val>
                                        </p:tav>
                                      </p:tavLst>
                                    </p:anim>
                                    <p:anim calcmode="lin" valueType="num">
                                      <p:cBhvr additive="base">
                                        <p:cTn id="26"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0-#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1+#ppt_w/2"/>
                                          </p:val>
                                        </p:tav>
                                        <p:tav tm="100000">
                                          <p:val>
                                            <p:strVal val="#ppt_x"/>
                                          </p:val>
                                        </p:tav>
                                      </p:tavLst>
                                    </p:anim>
                                    <p:anim calcmode="lin" valueType="num">
                                      <p:cBhvr additive="base">
                                        <p:cTn id="38"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5" grpId="0" animBg="1"/>
      <p:bldP spid="19" grpId="0" animBg="1"/>
      <p:bldP spid="23"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701047" y="1701046"/>
            <a:ext cx="8250982" cy="4848893"/>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90194" y="3192568"/>
            <a:ext cx="5226713" cy="4846324"/>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17058" y="1965702"/>
            <a:ext cx="8229086" cy="429768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96826" y="1441574"/>
            <a:ext cx="5769962" cy="4906399"/>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ext 0">
            <a:extLst>
              <a:ext uri="{FF2B5EF4-FFF2-40B4-BE49-F238E27FC236}">
                <a16:creationId xmlns:a16="http://schemas.microsoft.com/office/drawing/2014/main" id="{0D6653AE-F932-108F-3785-A61932C6B0FD}"/>
              </a:ext>
            </a:extLst>
          </p:cNvPr>
          <p:cNvSpPr/>
          <p:nvPr/>
        </p:nvSpPr>
        <p:spPr>
          <a:xfrm>
            <a:off x="792049" y="3320527"/>
            <a:ext cx="3456993" cy="3686287"/>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800" b="1" kern="1200" dirty="0">
                <a:solidFill>
                  <a:srgbClr val="FFFFFF"/>
                </a:solidFill>
                <a:latin typeface="+mj-lt"/>
                <a:ea typeface="+mj-ea"/>
                <a:cs typeface="+mj-cs"/>
              </a:rPr>
              <a:t>Flow Chart</a:t>
            </a:r>
          </a:p>
        </p:txBody>
      </p:sp>
      <p:grpSp>
        <p:nvGrpSpPr>
          <p:cNvPr id="59" name="Gruppo 58">
            <a:extLst>
              <a:ext uri="{FF2B5EF4-FFF2-40B4-BE49-F238E27FC236}">
                <a16:creationId xmlns:a16="http://schemas.microsoft.com/office/drawing/2014/main" id="{4DC19956-477D-EE12-DCA7-8C7F1D667E64}"/>
              </a:ext>
            </a:extLst>
          </p:cNvPr>
          <p:cNvGrpSpPr/>
          <p:nvPr/>
        </p:nvGrpSpPr>
        <p:grpSpPr>
          <a:xfrm>
            <a:off x="7571921" y="285735"/>
            <a:ext cx="3820507" cy="7657613"/>
            <a:chOff x="7571921" y="285735"/>
            <a:chExt cx="3820507" cy="7657613"/>
          </a:xfrm>
        </p:grpSpPr>
        <p:grpSp>
          <p:nvGrpSpPr>
            <p:cNvPr id="2" name="Gruppo 1">
              <a:extLst>
                <a:ext uri="{FF2B5EF4-FFF2-40B4-BE49-F238E27FC236}">
                  <a16:creationId xmlns:a16="http://schemas.microsoft.com/office/drawing/2014/main" id="{12080A4D-8A17-B35A-1893-A1395FC92D2B}"/>
                </a:ext>
              </a:extLst>
            </p:cNvPr>
            <p:cNvGrpSpPr/>
            <p:nvPr/>
          </p:nvGrpSpPr>
          <p:grpSpPr>
            <a:xfrm>
              <a:off x="8914630" y="285735"/>
              <a:ext cx="2477798" cy="7657613"/>
              <a:chOff x="6739520" y="83634"/>
              <a:chExt cx="2477798" cy="7657613"/>
            </a:xfrm>
          </p:grpSpPr>
          <p:sp>
            <p:nvSpPr>
              <p:cNvPr id="3" name="Rettangolo con angoli arrotondati 2">
                <a:extLst>
                  <a:ext uri="{FF2B5EF4-FFF2-40B4-BE49-F238E27FC236}">
                    <a16:creationId xmlns:a16="http://schemas.microsoft.com/office/drawing/2014/main" id="{E18D2C15-2942-5E44-83F8-4BFBD41C1F22}"/>
                  </a:ext>
                </a:extLst>
              </p:cNvPr>
              <p:cNvSpPr/>
              <p:nvPr/>
            </p:nvSpPr>
            <p:spPr>
              <a:xfrm>
                <a:off x="7337503" y="83634"/>
                <a:ext cx="892098" cy="260191"/>
              </a:xfrm>
              <a:prstGeom prst="roundRect">
                <a:avLst/>
              </a:prstGeom>
              <a:solidFill>
                <a:srgbClr val="54E8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INIZIO</a:t>
                </a:r>
              </a:p>
            </p:txBody>
          </p:sp>
          <p:sp>
            <p:nvSpPr>
              <p:cNvPr id="4" name="Rettangolo 3">
                <a:extLst>
                  <a:ext uri="{FF2B5EF4-FFF2-40B4-BE49-F238E27FC236}">
                    <a16:creationId xmlns:a16="http://schemas.microsoft.com/office/drawing/2014/main" id="{03786579-EF5D-15DE-3401-0785AEF0FD21}"/>
                  </a:ext>
                </a:extLst>
              </p:cNvPr>
              <p:cNvSpPr/>
              <p:nvPr/>
            </p:nvSpPr>
            <p:spPr>
              <a:xfrm>
                <a:off x="6739524" y="624943"/>
                <a:ext cx="2065751" cy="43861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Genera la popolazione iniziale</a:t>
                </a:r>
              </a:p>
            </p:txBody>
          </p:sp>
          <p:cxnSp>
            <p:nvCxnSpPr>
              <p:cNvPr id="6" name="Connettore 2 5">
                <a:extLst>
                  <a:ext uri="{FF2B5EF4-FFF2-40B4-BE49-F238E27FC236}">
                    <a16:creationId xmlns:a16="http://schemas.microsoft.com/office/drawing/2014/main" id="{F5E58489-8331-D2CF-8C3B-371097B3A881}"/>
                  </a:ext>
                </a:extLst>
              </p:cNvPr>
              <p:cNvCxnSpPr>
                <a:cxnSpLocks/>
              </p:cNvCxnSpPr>
              <p:nvPr/>
            </p:nvCxnSpPr>
            <p:spPr>
              <a:xfrm>
                <a:off x="7783551" y="1063554"/>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Rettangolo 7">
                <a:extLst>
                  <a:ext uri="{FF2B5EF4-FFF2-40B4-BE49-F238E27FC236}">
                    <a16:creationId xmlns:a16="http://schemas.microsoft.com/office/drawing/2014/main" id="{95B75DA5-14E5-5B37-E214-794963456E4E}"/>
                  </a:ext>
                </a:extLst>
              </p:cNvPr>
              <p:cNvSpPr/>
              <p:nvPr/>
            </p:nvSpPr>
            <p:spPr>
              <a:xfrm>
                <a:off x="6750673" y="1340948"/>
                <a:ext cx="2065756"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Selezione con il metodo della Roulette Wheel</a:t>
                </a:r>
              </a:p>
            </p:txBody>
          </p:sp>
          <p:sp>
            <p:nvSpPr>
              <p:cNvPr id="9" name="Rettangolo 8">
                <a:extLst>
                  <a:ext uri="{FF2B5EF4-FFF2-40B4-BE49-F238E27FC236}">
                    <a16:creationId xmlns:a16="http://schemas.microsoft.com/office/drawing/2014/main" id="{BD16A589-5F55-09CA-8723-B58C4AA32217}"/>
                  </a:ext>
                </a:extLst>
              </p:cNvPr>
              <p:cNvSpPr/>
              <p:nvPr/>
            </p:nvSpPr>
            <p:spPr>
              <a:xfrm>
                <a:off x="6739520" y="2221413"/>
                <a:ext cx="2076909" cy="45534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Crossover </a:t>
                </a:r>
                <a:r>
                  <a:rPr lang="it-IT" sz="1200">
                    <a:solidFill>
                      <a:schemeClr val="tx1"/>
                    </a:solidFill>
                  </a:rPr>
                  <a:t>(Riproduzione) </a:t>
                </a:r>
                <a:r>
                  <a:rPr lang="it-IT" sz="1200" dirty="0">
                    <a:solidFill>
                      <a:schemeClr val="tx1"/>
                    </a:solidFill>
                  </a:rPr>
                  <a:t>di tipo additivo</a:t>
                </a:r>
              </a:p>
            </p:txBody>
          </p:sp>
          <p:sp>
            <p:nvSpPr>
              <p:cNvPr id="10" name="Rettangolo 9">
                <a:extLst>
                  <a:ext uri="{FF2B5EF4-FFF2-40B4-BE49-F238E27FC236}">
                    <a16:creationId xmlns:a16="http://schemas.microsoft.com/office/drawing/2014/main" id="{91DB27BE-4DEC-502B-1BB6-434DB0CD59F7}"/>
                  </a:ext>
                </a:extLst>
              </p:cNvPr>
              <p:cNvSpPr/>
              <p:nvPr/>
            </p:nvSpPr>
            <p:spPr>
              <a:xfrm>
                <a:off x="6750670" y="2949498"/>
                <a:ext cx="2065760" cy="39772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Mutazione</a:t>
                </a:r>
              </a:p>
            </p:txBody>
          </p:sp>
          <p:sp>
            <p:nvSpPr>
              <p:cNvPr id="11" name="Rettangolo 10">
                <a:extLst>
                  <a:ext uri="{FF2B5EF4-FFF2-40B4-BE49-F238E27FC236}">
                    <a16:creationId xmlns:a16="http://schemas.microsoft.com/office/drawing/2014/main" id="{DDC7BC7C-E336-8857-83F8-37B10A27A72B}"/>
                  </a:ext>
                </a:extLst>
              </p:cNvPr>
              <p:cNvSpPr/>
              <p:nvPr/>
            </p:nvSpPr>
            <p:spPr>
              <a:xfrm>
                <a:off x="6750673" y="3624144"/>
                <a:ext cx="2065760"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Ordinamento in base ai valori della fitness</a:t>
                </a:r>
              </a:p>
            </p:txBody>
          </p:sp>
          <p:sp>
            <p:nvSpPr>
              <p:cNvPr id="13" name="Rombo 12">
                <a:extLst>
                  <a:ext uri="{FF2B5EF4-FFF2-40B4-BE49-F238E27FC236}">
                    <a16:creationId xmlns:a16="http://schemas.microsoft.com/office/drawing/2014/main" id="{E5C1D494-3BBE-C1BB-E3A7-161968654439}"/>
                  </a:ext>
                </a:extLst>
              </p:cNvPr>
              <p:cNvSpPr/>
              <p:nvPr/>
            </p:nvSpPr>
            <p:spPr>
              <a:xfrm>
                <a:off x="6901909" y="5616388"/>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chemeClr val="tx1"/>
                    </a:solidFill>
                  </a:rPr>
                  <a:t>Raggiunto il numero massimo di iterazioni?</a:t>
                </a:r>
              </a:p>
            </p:txBody>
          </p:sp>
          <p:sp>
            <p:nvSpPr>
              <p:cNvPr id="15" name="Rettangolo con angoli arrotondati 14">
                <a:extLst>
                  <a:ext uri="{FF2B5EF4-FFF2-40B4-BE49-F238E27FC236}">
                    <a16:creationId xmlns:a16="http://schemas.microsoft.com/office/drawing/2014/main" id="{3E4FCE7E-4494-5758-E726-7F5ACD0E917D}"/>
                  </a:ext>
                </a:extLst>
              </p:cNvPr>
              <p:cNvSpPr/>
              <p:nvPr/>
            </p:nvSpPr>
            <p:spPr>
              <a:xfrm>
                <a:off x="7337503" y="7481056"/>
                <a:ext cx="892098" cy="26019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FINE</a:t>
                </a:r>
              </a:p>
            </p:txBody>
          </p:sp>
          <p:sp>
            <p:nvSpPr>
              <p:cNvPr id="17" name="Ovale 16">
                <a:extLst>
                  <a:ext uri="{FF2B5EF4-FFF2-40B4-BE49-F238E27FC236}">
                    <a16:creationId xmlns:a16="http://schemas.microsoft.com/office/drawing/2014/main" id="{E3C36444-43F2-C934-5831-399E9C8A82D6}"/>
                  </a:ext>
                </a:extLst>
              </p:cNvPr>
              <p:cNvSpPr/>
              <p:nvPr/>
            </p:nvSpPr>
            <p:spPr>
              <a:xfrm>
                <a:off x="7711068" y="6888652"/>
                <a:ext cx="122664" cy="12918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9" name="Connettore 2 18">
                <a:extLst>
                  <a:ext uri="{FF2B5EF4-FFF2-40B4-BE49-F238E27FC236}">
                    <a16:creationId xmlns:a16="http://schemas.microsoft.com/office/drawing/2014/main" id="{9D4AA2E9-D5FC-E9E6-AC83-326446B74A45}"/>
                  </a:ext>
                </a:extLst>
              </p:cNvPr>
              <p:cNvCxnSpPr>
                <a:cxnSpLocks/>
              </p:cNvCxnSpPr>
              <p:nvPr/>
            </p:nvCxnSpPr>
            <p:spPr>
              <a:xfrm>
                <a:off x="7772400" y="34382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Connettore 2 20">
                <a:extLst>
                  <a:ext uri="{FF2B5EF4-FFF2-40B4-BE49-F238E27FC236}">
                    <a16:creationId xmlns:a16="http://schemas.microsoft.com/office/drawing/2014/main" id="{DAA706ED-19A1-51A0-FE73-6055C39754CD}"/>
                  </a:ext>
                </a:extLst>
              </p:cNvPr>
              <p:cNvCxnSpPr>
                <a:cxnSpLocks/>
              </p:cNvCxnSpPr>
              <p:nvPr/>
            </p:nvCxnSpPr>
            <p:spPr>
              <a:xfrm>
                <a:off x="7783552" y="1931963"/>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Connettore 2 21">
                <a:extLst>
                  <a:ext uri="{FF2B5EF4-FFF2-40B4-BE49-F238E27FC236}">
                    <a16:creationId xmlns:a16="http://schemas.microsoft.com/office/drawing/2014/main" id="{A97CF2FE-A132-3E60-88DA-67215CF78482}"/>
                  </a:ext>
                </a:extLst>
              </p:cNvPr>
              <p:cNvCxnSpPr>
                <a:cxnSpLocks/>
              </p:cNvCxnSpPr>
              <p:nvPr/>
            </p:nvCxnSpPr>
            <p:spPr>
              <a:xfrm>
                <a:off x="7783551" y="268185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Connettore 2 22">
                <a:extLst>
                  <a:ext uri="{FF2B5EF4-FFF2-40B4-BE49-F238E27FC236}">
                    <a16:creationId xmlns:a16="http://schemas.microsoft.com/office/drawing/2014/main" id="{A19ACAAC-60EE-6838-2809-307493DC4775}"/>
                  </a:ext>
                </a:extLst>
              </p:cNvPr>
              <p:cNvCxnSpPr>
                <a:cxnSpLocks/>
              </p:cNvCxnSpPr>
              <p:nvPr/>
            </p:nvCxnSpPr>
            <p:spPr>
              <a:xfrm>
                <a:off x="7783551" y="3350929"/>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Connettore 2 23">
                <a:extLst>
                  <a:ext uri="{FF2B5EF4-FFF2-40B4-BE49-F238E27FC236}">
                    <a16:creationId xmlns:a16="http://schemas.microsoft.com/office/drawing/2014/main" id="{22EB713A-6292-06E6-C264-6E9C90C913B9}"/>
                  </a:ext>
                </a:extLst>
              </p:cNvPr>
              <p:cNvCxnSpPr>
                <a:cxnSpLocks/>
              </p:cNvCxnSpPr>
              <p:nvPr/>
            </p:nvCxnSpPr>
            <p:spPr>
              <a:xfrm>
                <a:off x="7783551" y="4231878"/>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Connettore 2 24">
                <a:extLst>
                  <a:ext uri="{FF2B5EF4-FFF2-40B4-BE49-F238E27FC236}">
                    <a16:creationId xmlns:a16="http://schemas.microsoft.com/office/drawing/2014/main" id="{961F1B9F-8244-99F3-B1D2-058AC03A8D32}"/>
                  </a:ext>
                </a:extLst>
              </p:cNvPr>
              <p:cNvCxnSpPr>
                <a:cxnSpLocks/>
              </p:cNvCxnSpPr>
              <p:nvPr/>
            </p:nvCxnSpPr>
            <p:spPr>
              <a:xfrm>
                <a:off x="7783551" y="534699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Connettore 2 26">
                <a:extLst>
                  <a:ext uri="{FF2B5EF4-FFF2-40B4-BE49-F238E27FC236}">
                    <a16:creationId xmlns:a16="http://schemas.microsoft.com/office/drawing/2014/main" id="{AB451BB0-DECF-52AE-FD7A-88B680311EEB}"/>
                  </a:ext>
                </a:extLst>
              </p:cNvPr>
              <p:cNvCxnSpPr>
                <a:cxnSpLocks/>
                <a:endCxn id="17" idx="0"/>
              </p:cNvCxnSpPr>
              <p:nvPr/>
            </p:nvCxnSpPr>
            <p:spPr>
              <a:xfrm flipH="1">
                <a:off x="7772400" y="6480703"/>
                <a:ext cx="7433" cy="4079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Connettore 2 27">
                <a:extLst>
                  <a:ext uri="{FF2B5EF4-FFF2-40B4-BE49-F238E27FC236}">
                    <a16:creationId xmlns:a16="http://schemas.microsoft.com/office/drawing/2014/main" id="{B5370762-E801-699C-B943-A52151CDBD74}"/>
                  </a:ext>
                </a:extLst>
              </p:cNvPr>
              <p:cNvCxnSpPr>
                <a:cxnSpLocks/>
              </p:cNvCxnSpPr>
              <p:nvPr/>
            </p:nvCxnSpPr>
            <p:spPr>
              <a:xfrm>
                <a:off x="7783551" y="7017841"/>
                <a:ext cx="0" cy="456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Connettore diritto 28">
                <a:extLst>
                  <a:ext uri="{FF2B5EF4-FFF2-40B4-BE49-F238E27FC236}">
                    <a16:creationId xmlns:a16="http://schemas.microsoft.com/office/drawing/2014/main" id="{BD0DC902-0D75-F920-AE2E-456E38E69204}"/>
                  </a:ext>
                </a:extLst>
              </p:cNvPr>
              <p:cNvCxnSpPr>
                <a:cxnSpLocks/>
              </p:cNvCxnSpPr>
              <p:nvPr/>
            </p:nvCxnSpPr>
            <p:spPr>
              <a:xfrm flipV="1">
                <a:off x="8671605" y="4925109"/>
                <a:ext cx="545713" cy="1"/>
              </a:xfrm>
              <a:prstGeom prst="line">
                <a:avLst/>
              </a:prstGeom>
            </p:spPr>
            <p:style>
              <a:lnRef idx="3">
                <a:schemeClr val="dk1"/>
              </a:lnRef>
              <a:fillRef idx="0">
                <a:schemeClr val="dk1"/>
              </a:fillRef>
              <a:effectRef idx="2">
                <a:schemeClr val="dk1"/>
              </a:effectRef>
              <a:fontRef idx="minor">
                <a:schemeClr val="tx1"/>
              </a:fontRef>
            </p:style>
          </p:cxnSp>
          <p:cxnSp>
            <p:nvCxnSpPr>
              <p:cNvPr id="30" name="Connettore diritto 29">
                <a:extLst>
                  <a:ext uri="{FF2B5EF4-FFF2-40B4-BE49-F238E27FC236}">
                    <a16:creationId xmlns:a16="http://schemas.microsoft.com/office/drawing/2014/main" id="{1768367C-6747-E8DA-0326-60B78220A90D}"/>
                  </a:ext>
                </a:extLst>
              </p:cNvPr>
              <p:cNvCxnSpPr>
                <a:cxnSpLocks/>
              </p:cNvCxnSpPr>
              <p:nvPr/>
            </p:nvCxnSpPr>
            <p:spPr>
              <a:xfrm>
                <a:off x="9210907" y="4925588"/>
                <a:ext cx="0" cy="2027659"/>
              </a:xfrm>
              <a:prstGeom prst="line">
                <a:avLst/>
              </a:prstGeom>
            </p:spPr>
            <p:style>
              <a:lnRef idx="3">
                <a:schemeClr val="dk1"/>
              </a:lnRef>
              <a:fillRef idx="0">
                <a:schemeClr val="dk1"/>
              </a:fillRef>
              <a:effectRef idx="2">
                <a:schemeClr val="dk1"/>
              </a:effectRef>
              <a:fontRef idx="minor">
                <a:schemeClr val="tx1"/>
              </a:fontRef>
            </p:style>
          </p:cxnSp>
          <p:cxnSp>
            <p:nvCxnSpPr>
              <p:cNvPr id="34" name="Connettore 2 33">
                <a:extLst>
                  <a:ext uri="{FF2B5EF4-FFF2-40B4-BE49-F238E27FC236}">
                    <a16:creationId xmlns:a16="http://schemas.microsoft.com/office/drawing/2014/main" id="{C3547C57-FB75-6E20-83FF-C917A532AE12}"/>
                  </a:ext>
                </a:extLst>
              </p:cNvPr>
              <p:cNvCxnSpPr>
                <a:cxnSpLocks/>
                <a:endCxn id="17" idx="6"/>
              </p:cNvCxnSpPr>
              <p:nvPr/>
            </p:nvCxnSpPr>
            <p:spPr>
              <a:xfrm flipH="1">
                <a:off x="7833732" y="6953247"/>
                <a:ext cx="137717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CasellaDiTesto 34">
                <a:extLst>
                  <a:ext uri="{FF2B5EF4-FFF2-40B4-BE49-F238E27FC236}">
                    <a16:creationId xmlns:a16="http://schemas.microsoft.com/office/drawing/2014/main" id="{227803B3-1B8A-6F42-38EB-DF645AA2F3E2}"/>
                  </a:ext>
                </a:extLst>
              </p:cNvPr>
              <p:cNvSpPr txBox="1"/>
              <p:nvPr/>
            </p:nvSpPr>
            <p:spPr>
              <a:xfrm>
                <a:off x="8763964" y="4609229"/>
                <a:ext cx="354584" cy="369332"/>
              </a:xfrm>
              <a:prstGeom prst="rect">
                <a:avLst/>
              </a:prstGeom>
              <a:noFill/>
            </p:spPr>
            <p:txBody>
              <a:bodyPr wrap="none" rtlCol="0">
                <a:spAutoFit/>
              </a:bodyPr>
              <a:lstStyle/>
              <a:p>
                <a:r>
                  <a:rPr lang="it-IT" b="1" dirty="0"/>
                  <a:t>SI</a:t>
                </a:r>
              </a:p>
            </p:txBody>
          </p:sp>
          <p:sp>
            <p:nvSpPr>
              <p:cNvPr id="36" name="CasellaDiTesto 35">
                <a:extLst>
                  <a:ext uri="{FF2B5EF4-FFF2-40B4-BE49-F238E27FC236}">
                    <a16:creationId xmlns:a16="http://schemas.microsoft.com/office/drawing/2014/main" id="{9452DDED-D74D-12C5-5BF3-2FFA8C6F9EE7}"/>
                  </a:ext>
                </a:extLst>
              </p:cNvPr>
              <p:cNvSpPr txBox="1"/>
              <p:nvPr/>
            </p:nvSpPr>
            <p:spPr>
              <a:xfrm>
                <a:off x="7428968" y="6467266"/>
                <a:ext cx="354584" cy="369332"/>
              </a:xfrm>
              <a:prstGeom prst="rect">
                <a:avLst/>
              </a:prstGeom>
              <a:noFill/>
            </p:spPr>
            <p:txBody>
              <a:bodyPr wrap="none" rtlCol="0">
                <a:spAutoFit/>
              </a:bodyPr>
              <a:lstStyle/>
              <a:p>
                <a:r>
                  <a:rPr lang="it-IT" b="1" dirty="0"/>
                  <a:t>SI</a:t>
                </a:r>
              </a:p>
            </p:txBody>
          </p:sp>
          <p:sp>
            <p:nvSpPr>
              <p:cNvPr id="38" name="CasellaDiTesto 37">
                <a:extLst>
                  <a:ext uri="{FF2B5EF4-FFF2-40B4-BE49-F238E27FC236}">
                    <a16:creationId xmlns:a16="http://schemas.microsoft.com/office/drawing/2014/main" id="{57C1CD8B-3B76-44CB-B5CC-231386ECEB5C}"/>
                  </a:ext>
                </a:extLst>
              </p:cNvPr>
              <p:cNvSpPr txBox="1"/>
              <p:nvPr/>
            </p:nvSpPr>
            <p:spPr>
              <a:xfrm>
                <a:off x="7772398" y="5266686"/>
                <a:ext cx="492443" cy="369332"/>
              </a:xfrm>
              <a:prstGeom prst="rect">
                <a:avLst/>
              </a:prstGeom>
              <a:noFill/>
            </p:spPr>
            <p:txBody>
              <a:bodyPr wrap="none" rtlCol="0">
                <a:spAutoFit/>
              </a:bodyPr>
              <a:lstStyle/>
              <a:p>
                <a:r>
                  <a:rPr lang="it-IT" b="1" dirty="0"/>
                  <a:t>NO</a:t>
                </a:r>
              </a:p>
            </p:txBody>
          </p:sp>
        </p:grpSp>
        <p:sp>
          <p:nvSpPr>
            <p:cNvPr id="40" name="Rombo 39">
              <a:extLst>
                <a:ext uri="{FF2B5EF4-FFF2-40B4-BE49-F238E27FC236}">
                  <a16:creationId xmlns:a16="http://schemas.microsoft.com/office/drawing/2014/main" id="{93418E3D-8281-3A59-0E61-F36B76D32746}"/>
                </a:ext>
              </a:extLst>
            </p:cNvPr>
            <p:cNvSpPr/>
            <p:nvPr/>
          </p:nvSpPr>
          <p:spPr>
            <a:xfrm>
              <a:off x="9083430" y="4691844"/>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Criterio di arresto verificato?</a:t>
              </a:r>
            </a:p>
          </p:txBody>
        </p:sp>
        <p:cxnSp>
          <p:nvCxnSpPr>
            <p:cNvPr id="42" name="Connettore diritto 41">
              <a:extLst>
                <a:ext uri="{FF2B5EF4-FFF2-40B4-BE49-F238E27FC236}">
                  <a16:creationId xmlns:a16="http://schemas.microsoft.com/office/drawing/2014/main" id="{2FD217C3-BB7B-B174-433B-373E2842F7A1}"/>
                </a:ext>
              </a:extLst>
            </p:cNvPr>
            <p:cNvCxnSpPr>
              <a:cxnSpLocks/>
            </p:cNvCxnSpPr>
            <p:nvPr/>
          </p:nvCxnSpPr>
          <p:spPr>
            <a:xfrm>
              <a:off x="8110099" y="6249235"/>
              <a:ext cx="1004811" cy="0"/>
            </a:xfrm>
            <a:prstGeom prst="line">
              <a:avLst/>
            </a:prstGeom>
          </p:spPr>
          <p:style>
            <a:lnRef idx="3">
              <a:schemeClr val="dk1"/>
            </a:lnRef>
            <a:fillRef idx="0">
              <a:schemeClr val="dk1"/>
            </a:fillRef>
            <a:effectRef idx="2">
              <a:schemeClr val="dk1"/>
            </a:effectRef>
            <a:fontRef idx="minor">
              <a:schemeClr val="tx1"/>
            </a:fontRef>
          </p:style>
        </p:cxnSp>
        <p:cxnSp>
          <p:nvCxnSpPr>
            <p:cNvPr id="43" name="Connettore diritto 42">
              <a:extLst>
                <a:ext uri="{FF2B5EF4-FFF2-40B4-BE49-F238E27FC236}">
                  <a16:creationId xmlns:a16="http://schemas.microsoft.com/office/drawing/2014/main" id="{444A58D4-3B04-E1C9-5E08-4B1D9E31213A}"/>
                </a:ext>
              </a:extLst>
            </p:cNvPr>
            <p:cNvCxnSpPr>
              <a:cxnSpLocks/>
            </p:cNvCxnSpPr>
            <p:nvPr/>
          </p:nvCxnSpPr>
          <p:spPr>
            <a:xfrm>
              <a:off x="8110099" y="1696720"/>
              <a:ext cx="9701" cy="4552515"/>
            </a:xfrm>
            <a:prstGeom prst="line">
              <a:avLst/>
            </a:prstGeom>
          </p:spPr>
          <p:style>
            <a:lnRef idx="3">
              <a:schemeClr val="dk1"/>
            </a:lnRef>
            <a:fillRef idx="0">
              <a:schemeClr val="dk1"/>
            </a:fillRef>
            <a:effectRef idx="2">
              <a:schemeClr val="dk1"/>
            </a:effectRef>
            <a:fontRef idx="minor">
              <a:schemeClr val="tx1"/>
            </a:fontRef>
          </p:style>
        </p:cxnSp>
        <p:sp>
          <p:nvSpPr>
            <p:cNvPr id="48" name="CasellaDiTesto 47">
              <a:extLst>
                <a:ext uri="{FF2B5EF4-FFF2-40B4-BE49-F238E27FC236}">
                  <a16:creationId xmlns:a16="http://schemas.microsoft.com/office/drawing/2014/main" id="{C2120781-9AEB-4674-62D2-5BBB82D1FD96}"/>
                </a:ext>
              </a:extLst>
            </p:cNvPr>
            <p:cNvSpPr txBox="1"/>
            <p:nvPr/>
          </p:nvSpPr>
          <p:spPr>
            <a:xfrm>
              <a:off x="7571921" y="4161372"/>
              <a:ext cx="492443" cy="369332"/>
            </a:xfrm>
            <a:prstGeom prst="rect">
              <a:avLst/>
            </a:prstGeom>
            <a:noFill/>
          </p:spPr>
          <p:txBody>
            <a:bodyPr wrap="none" rtlCol="0">
              <a:spAutoFit/>
            </a:bodyPr>
            <a:lstStyle/>
            <a:p>
              <a:r>
                <a:rPr lang="it-IT" b="1" dirty="0"/>
                <a:t>NO</a:t>
              </a:r>
            </a:p>
          </p:txBody>
        </p:sp>
        <p:cxnSp>
          <p:nvCxnSpPr>
            <p:cNvPr id="52" name="Connettore 2 51">
              <a:extLst>
                <a:ext uri="{FF2B5EF4-FFF2-40B4-BE49-F238E27FC236}">
                  <a16:creationId xmlns:a16="http://schemas.microsoft.com/office/drawing/2014/main" id="{BD9B8B81-0380-84C6-CA8E-26E726FDAB9A}"/>
                </a:ext>
              </a:extLst>
            </p:cNvPr>
            <p:cNvCxnSpPr>
              <a:cxnSpLocks/>
            </p:cNvCxnSpPr>
            <p:nvPr/>
          </p:nvCxnSpPr>
          <p:spPr>
            <a:xfrm flipV="1">
              <a:off x="8095914" y="1689901"/>
              <a:ext cx="841022" cy="681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3422718104"/>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Gruppo 99">
            <a:extLst>
              <a:ext uri="{FF2B5EF4-FFF2-40B4-BE49-F238E27FC236}">
                <a16:creationId xmlns:a16="http://schemas.microsoft.com/office/drawing/2014/main" id="{DF849943-FB77-00F8-9BA6-489633651A4F}"/>
              </a:ext>
            </a:extLst>
          </p:cNvPr>
          <p:cNvGrpSpPr/>
          <p:nvPr/>
        </p:nvGrpSpPr>
        <p:grpSpPr>
          <a:xfrm>
            <a:off x="128545" y="99421"/>
            <a:ext cx="4028661" cy="8030757"/>
            <a:chOff x="7571921" y="285735"/>
            <a:chExt cx="3820507" cy="7657613"/>
          </a:xfrm>
        </p:grpSpPr>
        <p:grpSp>
          <p:nvGrpSpPr>
            <p:cNvPr id="101" name="Gruppo 100">
              <a:extLst>
                <a:ext uri="{FF2B5EF4-FFF2-40B4-BE49-F238E27FC236}">
                  <a16:creationId xmlns:a16="http://schemas.microsoft.com/office/drawing/2014/main" id="{C1A555FB-E102-7C46-5433-C0B00A89ED58}"/>
                </a:ext>
              </a:extLst>
            </p:cNvPr>
            <p:cNvGrpSpPr/>
            <p:nvPr/>
          </p:nvGrpSpPr>
          <p:grpSpPr>
            <a:xfrm>
              <a:off x="8914630" y="285735"/>
              <a:ext cx="2477798" cy="7657613"/>
              <a:chOff x="6739520" y="83634"/>
              <a:chExt cx="2477798" cy="7657613"/>
            </a:xfrm>
          </p:grpSpPr>
          <p:sp>
            <p:nvSpPr>
              <p:cNvPr id="107" name="Rettangolo con angoli arrotondati 106">
                <a:extLst>
                  <a:ext uri="{FF2B5EF4-FFF2-40B4-BE49-F238E27FC236}">
                    <a16:creationId xmlns:a16="http://schemas.microsoft.com/office/drawing/2014/main" id="{17B9092D-7298-8B48-1C0D-9EC7951D2DB1}"/>
                  </a:ext>
                </a:extLst>
              </p:cNvPr>
              <p:cNvSpPr/>
              <p:nvPr/>
            </p:nvSpPr>
            <p:spPr>
              <a:xfrm>
                <a:off x="7337503" y="83634"/>
                <a:ext cx="892098" cy="260191"/>
              </a:xfrm>
              <a:prstGeom prst="roundRect">
                <a:avLst/>
              </a:prstGeom>
              <a:solidFill>
                <a:srgbClr val="54E8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INIZIO</a:t>
                </a:r>
              </a:p>
            </p:txBody>
          </p:sp>
          <p:sp>
            <p:nvSpPr>
              <p:cNvPr id="108" name="Rettangolo 107">
                <a:extLst>
                  <a:ext uri="{FF2B5EF4-FFF2-40B4-BE49-F238E27FC236}">
                    <a16:creationId xmlns:a16="http://schemas.microsoft.com/office/drawing/2014/main" id="{38539995-F18B-61C0-792E-32D9E470E04A}"/>
                  </a:ext>
                </a:extLst>
              </p:cNvPr>
              <p:cNvSpPr/>
              <p:nvPr/>
            </p:nvSpPr>
            <p:spPr>
              <a:xfrm>
                <a:off x="6739524" y="624943"/>
                <a:ext cx="2065751" cy="43861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Genera la popolazione iniziale</a:t>
                </a:r>
              </a:p>
            </p:txBody>
          </p:sp>
          <p:cxnSp>
            <p:nvCxnSpPr>
              <p:cNvPr id="109" name="Connettore 2 108">
                <a:extLst>
                  <a:ext uri="{FF2B5EF4-FFF2-40B4-BE49-F238E27FC236}">
                    <a16:creationId xmlns:a16="http://schemas.microsoft.com/office/drawing/2014/main" id="{94AC80C3-DDD1-B482-21CE-BBE076C9BB8B}"/>
                  </a:ext>
                </a:extLst>
              </p:cNvPr>
              <p:cNvCxnSpPr>
                <a:cxnSpLocks/>
              </p:cNvCxnSpPr>
              <p:nvPr/>
            </p:nvCxnSpPr>
            <p:spPr>
              <a:xfrm>
                <a:off x="7783551" y="1063554"/>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0" name="Rettangolo 109">
                <a:extLst>
                  <a:ext uri="{FF2B5EF4-FFF2-40B4-BE49-F238E27FC236}">
                    <a16:creationId xmlns:a16="http://schemas.microsoft.com/office/drawing/2014/main" id="{A92FFD0F-7A9C-E606-E086-2E75D30325E1}"/>
                  </a:ext>
                </a:extLst>
              </p:cNvPr>
              <p:cNvSpPr/>
              <p:nvPr/>
            </p:nvSpPr>
            <p:spPr>
              <a:xfrm>
                <a:off x="6750673" y="1340948"/>
                <a:ext cx="2065756"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Selezione con il metodo della Roulette Wheel</a:t>
                </a:r>
              </a:p>
            </p:txBody>
          </p:sp>
          <p:sp>
            <p:nvSpPr>
              <p:cNvPr id="111" name="Rettangolo 110">
                <a:extLst>
                  <a:ext uri="{FF2B5EF4-FFF2-40B4-BE49-F238E27FC236}">
                    <a16:creationId xmlns:a16="http://schemas.microsoft.com/office/drawing/2014/main" id="{BAFFDC3E-D5DA-6438-C414-CD3564748FBA}"/>
                  </a:ext>
                </a:extLst>
              </p:cNvPr>
              <p:cNvSpPr/>
              <p:nvPr/>
            </p:nvSpPr>
            <p:spPr>
              <a:xfrm>
                <a:off x="6739520" y="2221413"/>
                <a:ext cx="2076909" cy="45534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Crossover (Riproduzione) di tipo additivo</a:t>
                </a:r>
              </a:p>
            </p:txBody>
          </p:sp>
          <p:sp>
            <p:nvSpPr>
              <p:cNvPr id="112" name="Rettangolo 111">
                <a:extLst>
                  <a:ext uri="{FF2B5EF4-FFF2-40B4-BE49-F238E27FC236}">
                    <a16:creationId xmlns:a16="http://schemas.microsoft.com/office/drawing/2014/main" id="{49E76367-90C6-4C8A-4E8B-CEAC28D085E6}"/>
                  </a:ext>
                </a:extLst>
              </p:cNvPr>
              <p:cNvSpPr/>
              <p:nvPr/>
            </p:nvSpPr>
            <p:spPr>
              <a:xfrm>
                <a:off x="6750670" y="2949498"/>
                <a:ext cx="2065760" cy="39772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Mutazione</a:t>
                </a:r>
              </a:p>
            </p:txBody>
          </p:sp>
          <p:sp>
            <p:nvSpPr>
              <p:cNvPr id="113" name="Rettangolo 112">
                <a:extLst>
                  <a:ext uri="{FF2B5EF4-FFF2-40B4-BE49-F238E27FC236}">
                    <a16:creationId xmlns:a16="http://schemas.microsoft.com/office/drawing/2014/main" id="{51C8D0B9-0AE2-14C7-AD49-158633F72D1C}"/>
                  </a:ext>
                </a:extLst>
              </p:cNvPr>
              <p:cNvSpPr/>
              <p:nvPr/>
            </p:nvSpPr>
            <p:spPr>
              <a:xfrm>
                <a:off x="6750673" y="3624144"/>
                <a:ext cx="2065760"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Ordinamento in base ai valori della fitness</a:t>
                </a:r>
              </a:p>
            </p:txBody>
          </p:sp>
          <p:sp>
            <p:nvSpPr>
              <p:cNvPr id="114" name="Rombo 113">
                <a:extLst>
                  <a:ext uri="{FF2B5EF4-FFF2-40B4-BE49-F238E27FC236}">
                    <a16:creationId xmlns:a16="http://schemas.microsoft.com/office/drawing/2014/main" id="{26E632AC-C4BD-7EAC-5856-C3F6A30C1164}"/>
                  </a:ext>
                </a:extLst>
              </p:cNvPr>
              <p:cNvSpPr/>
              <p:nvPr/>
            </p:nvSpPr>
            <p:spPr>
              <a:xfrm>
                <a:off x="6901909" y="5616388"/>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chemeClr val="tx1"/>
                    </a:solidFill>
                  </a:rPr>
                  <a:t>Raggiunto il numero massimo di iterazioni?</a:t>
                </a:r>
              </a:p>
            </p:txBody>
          </p:sp>
          <p:sp>
            <p:nvSpPr>
              <p:cNvPr id="115" name="Rettangolo con angoli arrotondati 114">
                <a:extLst>
                  <a:ext uri="{FF2B5EF4-FFF2-40B4-BE49-F238E27FC236}">
                    <a16:creationId xmlns:a16="http://schemas.microsoft.com/office/drawing/2014/main" id="{BDA17B3C-0DD5-D226-65D9-A66868EBCA2D}"/>
                  </a:ext>
                </a:extLst>
              </p:cNvPr>
              <p:cNvSpPr/>
              <p:nvPr/>
            </p:nvSpPr>
            <p:spPr>
              <a:xfrm>
                <a:off x="7337503" y="7481056"/>
                <a:ext cx="892098" cy="26019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FINE</a:t>
                </a:r>
              </a:p>
            </p:txBody>
          </p:sp>
          <p:sp>
            <p:nvSpPr>
              <p:cNvPr id="116" name="Ovale 115">
                <a:extLst>
                  <a:ext uri="{FF2B5EF4-FFF2-40B4-BE49-F238E27FC236}">
                    <a16:creationId xmlns:a16="http://schemas.microsoft.com/office/drawing/2014/main" id="{9C0479F9-BE72-677E-A88C-73D3121C25FC}"/>
                  </a:ext>
                </a:extLst>
              </p:cNvPr>
              <p:cNvSpPr/>
              <p:nvPr/>
            </p:nvSpPr>
            <p:spPr>
              <a:xfrm>
                <a:off x="7711068" y="6888652"/>
                <a:ext cx="122664" cy="12918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17" name="Connettore 2 116">
                <a:extLst>
                  <a:ext uri="{FF2B5EF4-FFF2-40B4-BE49-F238E27FC236}">
                    <a16:creationId xmlns:a16="http://schemas.microsoft.com/office/drawing/2014/main" id="{6C4D1CFB-3D37-3B58-2D07-D74440C4888B}"/>
                  </a:ext>
                </a:extLst>
              </p:cNvPr>
              <p:cNvCxnSpPr>
                <a:cxnSpLocks/>
              </p:cNvCxnSpPr>
              <p:nvPr/>
            </p:nvCxnSpPr>
            <p:spPr>
              <a:xfrm>
                <a:off x="7772400" y="34382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8" name="Connettore 2 117">
                <a:extLst>
                  <a:ext uri="{FF2B5EF4-FFF2-40B4-BE49-F238E27FC236}">
                    <a16:creationId xmlns:a16="http://schemas.microsoft.com/office/drawing/2014/main" id="{CAF7FC3E-722B-A567-7221-D8EBA2260973}"/>
                  </a:ext>
                </a:extLst>
              </p:cNvPr>
              <p:cNvCxnSpPr>
                <a:cxnSpLocks/>
              </p:cNvCxnSpPr>
              <p:nvPr/>
            </p:nvCxnSpPr>
            <p:spPr>
              <a:xfrm>
                <a:off x="7783552" y="1931963"/>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9" name="Connettore 2 118">
                <a:extLst>
                  <a:ext uri="{FF2B5EF4-FFF2-40B4-BE49-F238E27FC236}">
                    <a16:creationId xmlns:a16="http://schemas.microsoft.com/office/drawing/2014/main" id="{C6C76766-6615-1D9A-F149-EC6A1E0F6FD7}"/>
                  </a:ext>
                </a:extLst>
              </p:cNvPr>
              <p:cNvCxnSpPr>
                <a:cxnSpLocks/>
              </p:cNvCxnSpPr>
              <p:nvPr/>
            </p:nvCxnSpPr>
            <p:spPr>
              <a:xfrm>
                <a:off x="7783551" y="268185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0" name="Connettore 2 119">
                <a:extLst>
                  <a:ext uri="{FF2B5EF4-FFF2-40B4-BE49-F238E27FC236}">
                    <a16:creationId xmlns:a16="http://schemas.microsoft.com/office/drawing/2014/main" id="{F7B3A7D5-7392-6DAC-1CD7-5BE5257569D0}"/>
                  </a:ext>
                </a:extLst>
              </p:cNvPr>
              <p:cNvCxnSpPr>
                <a:cxnSpLocks/>
              </p:cNvCxnSpPr>
              <p:nvPr/>
            </p:nvCxnSpPr>
            <p:spPr>
              <a:xfrm>
                <a:off x="7783551" y="3350929"/>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1" name="Connettore 2 120">
                <a:extLst>
                  <a:ext uri="{FF2B5EF4-FFF2-40B4-BE49-F238E27FC236}">
                    <a16:creationId xmlns:a16="http://schemas.microsoft.com/office/drawing/2014/main" id="{536418E8-790E-0B94-24DB-E06D15A89E2A}"/>
                  </a:ext>
                </a:extLst>
              </p:cNvPr>
              <p:cNvCxnSpPr>
                <a:cxnSpLocks/>
              </p:cNvCxnSpPr>
              <p:nvPr/>
            </p:nvCxnSpPr>
            <p:spPr>
              <a:xfrm>
                <a:off x="7783551" y="4231878"/>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2" name="Connettore 2 121">
                <a:extLst>
                  <a:ext uri="{FF2B5EF4-FFF2-40B4-BE49-F238E27FC236}">
                    <a16:creationId xmlns:a16="http://schemas.microsoft.com/office/drawing/2014/main" id="{35EEF1F8-9AA3-8A67-E777-E2B29047CB3F}"/>
                  </a:ext>
                </a:extLst>
              </p:cNvPr>
              <p:cNvCxnSpPr>
                <a:cxnSpLocks/>
              </p:cNvCxnSpPr>
              <p:nvPr/>
            </p:nvCxnSpPr>
            <p:spPr>
              <a:xfrm>
                <a:off x="7783551" y="534699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3" name="Connettore 2 122">
                <a:extLst>
                  <a:ext uri="{FF2B5EF4-FFF2-40B4-BE49-F238E27FC236}">
                    <a16:creationId xmlns:a16="http://schemas.microsoft.com/office/drawing/2014/main" id="{3FB4B5A6-F32A-080C-6D9E-3D09A5185900}"/>
                  </a:ext>
                </a:extLst>
              </p:cNvPr>
              <p:cNvCxnSpPr>
                <a:cxnSpLocks/>
                <a:endCxn id="116" idx="0"/>
              </p:cNvCxnSpPr>
              <p:nvPr/>
            </p:nvCxnSpPr>
            <p:spPr>
              <a:xfrm flipH="1">
                <a:off x="7772400" y="6480703"/>
                <a:ext cx="7433" cy="4079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4" name="Connettore 2 123">
                <a:extLst>
                  <a:ext uri="{FF2B5EF4-FFF2-40B4-BE49-F238E27FC236}">
                    <a16:creationId xmlns:a16="http://schemas.microsoft.com/office/drawing/2014/main" id="{D4B50F14-3779-60C0-657E-EB34DB206848}"/>
                  </a:ext>
                </a:extLst>
              </p:cNvPr>
              <p:cNvCxnSpPr>
                <a:cxnSpLocks/>
              </p:cNvCxnSpPr>
              <p:nvPr/>
            </p:nvCxnSpPr>
            <p:spPr>
              <a:xfrm>
                <a:off x="7783551" y="7017841"/>
                <a:ext cx="0" cy="456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5" name="Connettore diritto 124">
                <a:extLst>
                  <a:ext uri="{FF2B5EF4-FFF2-40B4-BE49-F238E27FC236}">
                    <a16:creationId xmlns:a16="http://schemas.microsoft.com/office/drawing/2014/main" id="{E80BF608-826D-C7F2-80BA-AAE21EACDAF1}"/>
                  </a:ext>
                </a:extLst>
              </p:cNvPr>
              <p:cNvCxnSpPr>
                <a:cxnSpLocks/>
              </p:cNvCxnSpPr>
              <p:nvPr/>
            </p:nvCxnSpPr>
            <p:spPr>
              <a:xfrm flipV="1">
                <a:off x="8671605" y="4925109"/>
                <a:ext cx="545713" cy="1"/>
              </a:xfrm>
              <a:prstGeom prst="line">
                <a:avLst/>
              </a:prstGeom>
            </p:spPr>
            <p:style>
              <a:lnRef idx="3">
                <a:schemeClr val="dk1"/>
              </a:lnRef>
              <a:fillRef idx="0">
                <a:schemeClr val="dk1"/>
              </a:fillRef>
              <a:effectRef idx="2">
                <a:schemeClr val="dk1"/>
              </a:effectRef>
              <a:fontRef idx="minor">
                <a:schemeClr val="tx1"/>
              </a:fontRef>
            </p:style>
          </p:cxnSp>
          <p:cxnSp>
            <p:nvCxnSpPr>
              <p:cNvPr id="126" name="Connettore diritto 125">
                <a:extLst>
                  <a:ext uri="{FF2B5EF4-FFF2-40B4-BE49-F238E27FC236}">
                    <a16:creationId xmlns:a16="http://schemas.microsoft.com/office/drawing/2014/main" id="{C62ED675-49D2-22F4-726F-56E037F9669A}"/>
                  </a:ext>
                </a:extLst>
              </p:cNvPr>
              <p:cNvCxnSpPr>
                <a:cxnSpLocks/>
              </p:cNvCxnSpPr>
              <p:nvPr/>
            </p:nvCxnSpPr>
            <p:spPr>
              <a:xfrm>
                <a:off x="9210907" y="4925588"/>
                <a:ext cx="0" cy="2027659"/>
              </a:xfrm>
              <a:prstGeom prst="line">
                <a:avLst/>
              </a:prstGeom>
            </p:spPr>
            <p:style>
              <a:lnRef idx="3">
                <a:schemeClr val="dk1"/>
              </a:lnRef>
              <a:fillRef idx="0">
                <a:schemeClr val="dk1"/>
              </a:fillRef>
              <a:effectRef idx="2">
                <a:schemeClr val="dk1"/>
              </a:effectRef>
              <a:fontRef idx="minor">
                <a:schemeClr val="tx1"/>
              </a:fontRef>
            </p:style>
          </p:cxnSp>
          <p:cxnSp>
            <p:nvCxnSpPr>
              <p:cNvPr id="127" name="Connettore 2 126">
                <a:extLst>
                  <a:ext uri="{FF2B5EF4-FFF2-40B4-BE49-F238E27FC236}">
                    <a16:creationId xmlns:a16="http://schemas.microsoft.com/office/drawing/2014/main" id="{61686D27-C1D8-6F84-2366-91D8118CA3D6}"/>
                  </a:ext>
                </a:extLst>
              </p:cNvPr>
              <p:cNvCxnSpPr>
                <a:cxnSpLocks/>
                <a:endCxn id="116" idx="6"/>
              </p:cNvCxnSpPr>
              <p:nvPr/>
            </p:nvCxnSpPr>
            <p:spPr>
              <a:xfrm flipH="1">
                <a:off x="7833732" y="6953247"/>
                <a:ext cx="137717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CasellaDiTesto 127">
                <a:extLst>
                  <a:ext uri="{FF2B5EF4-FFF2-40B4-BE49-F238E27FC236}">
                    <a16:creationId xmlns:a16="http://schemas.microsoft.com/office/drawing/2014/main" id="{64CC7822-C035-673C-0B9A-FDC999641368}"/>
                  </a:ext>
                </a:extLst>
              </p:cNvPr>
              <p:cNvSpPr txBox="1"/>
              <p:nvPr/>
            </p:nvSpPr>
            <p:spPr>
              <a:xfrm>
                <a:off x="8763964" y="4609229"/>
                <a:ext cx="354584" cy="369332"/>
              </a:xfrm>
              <a:prstGeom prst="rect">
                <a:avLst/>
              </a:prstGeom>
              <a:noFill/>
            </p:spPr>
            <p:txBody>
              <a:bodyPr wrap="none" rtlCol="0">
                <a:spAutoFit/>
              </a:bodyPr>
              <a:lstStyle/>
              <a:p>
                <a:r>
                  <a:rPr lang="it-IT" b="1" dirty="0"/>
                  <a:t>SI</a:t>
                </a:r>
              </a:p>
            </p:txBody>
          </p:sp>
          <p:sp>
            <p:nvSpPr>
              <p:cNvPr id="129" name="CasellaDiTesto 128">
                <a:extLst>
                  <a:ext uri="{FF2B5EF4-FFF2-40B4-BE49-F238E27FC236}">
                    <a16:creationId xmlns:a16="http://schemas.microsoft.com/office/drawing/2014/main" id="{A8A8E304-1B08-EDAE-B912-0E02450D893D}"/>
                  </a:ext>
                </a:extLst>
              </p:cNvPr>
              <p:cNvSpPr txBox="1"/>
              <p:nvPr/>
            </p:nvSpPr>
            <p:spPr>
              <a:xfrm>
                <a:off x="7428968" y="6467266"/>
                <a:ext cx="354584" cy="369332"/>
              </a:xfrm>
              <a:prstGeom prst="rect">
                <a:avLst/>
              </a:prstGeom>
              <a:noFill/>
            </p:spPr>
            <p:txBody>
              <a:bodyPr wrap="none" rtlCol="0">
                <a:spAutoFit/>
              </a:bodyPr>
              <a:lstStyle/>
              <a:p>
                <a:r>
                  <a:rPr lang="it-IT" b="1" dirty="0"/>
                  <a:t>SI</a:t>
                </a:r>
              </a:p>
            </p:txBody>
          </p:sp>
          <p:sp>
            <p:nvSpPr>
              <p:cNvPr id="130" name="CasellaDiTesto 129">
                <a:extLst>
                  <a:ext uri="{FF2B5EF4-FFF2-40B4-BE49-F238E27FC236}">
                    <a16:creationId xmlns:a16="http://schemas.microsoft.com/office/drawing/2014/main" id="{9A73BB49-BDCB-10FF-538B-BFA73F5054DD}"/>
                  </a:ext>
                </a:extLst>
              </p:cNvPr>
              <p:cNvSpPr txBox="1"/>
              <p:nvPr/>
            </p:nvSpPr>
            <p:spPr>
              <a:xfrm>
                <a:off x="7772398" y="5266686"/>
                <a:ext cx="492443" cy="369332"/>
              </a:xfrm>
              <a:prstGeom prst="rect">
                <a:avLst/>
              </a:prstGeom>
              <a:noFill/>
            </p:spPr>
            <p:txBody>
              <a:bodyPr wrap="none" rtlCol="0">
                <a:spAutoFit/>
              </a:bodyPr>
              <a:lstStyle/>
              <a:p>
                <a:r>
                  <a:rPr lang="it-IT" b="1" dirty="0"/>
                  <a:t>NO</a:t>
                </a:r>
              </a:p>
            </p:txBody>
          </p:sp>
        </p:grpSp>
        <p:sp>
          <p:nvSpPr>
            <p:cNvPr id="102" name="Rombo 101">
              <a:extLst>
                <a:ext uri="{FF2B5EF4-FFF2-40B4-BE49-F238E27FC236}">
                  <a16:creationId xmlns:a16="http://schemas.microsoft.com/office/drawing/2014/main" id="{DCEE84E1-F470-AF46-D46F-8B2F3EA24936}"/>
                </a:ext>
              </a:extLst>
            </p:cNvPr>
            <p:cNvSpPr/>
            <p:nvPr/>
          </p:nvSpPr>
          <p:spPr>
            <a:xfrm>
              <a:off x="9083430" y="4691844"/>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Criterio di arresto verificato?</a:t>
              </a:r>
            </a:p>
          </p:txBody>
        </p:sp>
        <p:cxnSp>
          <p:nvCxnSpPr>
            <p:cNvPr id="103" name="Connettore diritto 102">
              <a:extLst>
                <a:ext uri="{FF2B5EF4-FFF2-40B4-BE49-F238E27FC236}">
                  <a16:creationId xmlns:a16="http://schemas.microsoft.com/office/drawing/2014/main" id="{55F0C293-68D5-454E-8EF8-F6A56B952D18}"/>
                </a:ext>
              </a:extLst>
            </p:cNvPr>
            <p:cNvCxnSpPr>
              <a:cxnSpLocks/>
            </p:cNvCxnSpPr>
            <p:nvPr/>
          </p:nvCxnSpPr>
          <p:spPr>
            <a:xfrm>
              <a:off x="8110099" y="6249235"/>
              <a:ext cx="1004811" cy="0"/>
            </a:xfrm>
            <a:prstGeom prst="line">
              <a:avLst/>
            </a:prstGeom>
          </p:spPr>
          <p:style>
            <a:lnRef idx="3">
              <a:schemeClr val="dk1"/>
            </a:lnRef>
            <a:fillRef idx="0">
              <a:schemeClr val="dk1"/>
            </a:fillRef>
            <a:effectRef idx="2">
              <a:schemeClr val="dk1"/>
            </a:effectRef>
            <a:fontRef idx="minor">
              <a:schemeClr val="tx1"/>
            </a:fontRef>
          </p:style>
        </p:cxnSp>
        <p:cxnSp>
          <p:nvCxnSpPr>
            <p:cNvPr id="104" name="Connettore diritto 103">
              <a:extLst>
                <a:ext uri="{FF2B5EF4-FFF2-40B4-BE49-F238E27FC236}">
                  <a16:creationId xmlns:a16="http://schemas.microsoft.com/office/drawing/2014/main" id="{F8D8ED46-0D44-0988-2A88-104B7E3991FC}"/>
                </a:ext>
              </a:extLst>
            </p:cNvPr>
            <p:cNvCxnSpPr>
              <a:cxnSpLocks/>
            </p:cNvCxnSpPr>
            <p:nvPr/>
          </p:nvCxnSpPr>
          <p:spPr>
            <a:xfrm>
              <a:off x="8110099" y="1696720"/>
              <a:ext cx="9701" cy="4552515"/>
            </a:xfrm>
            <a:prstGeom prst="line">
              <a:avLst/>
            </a:prstGeom>
          </p:spPr>
          <p:style>
            <a:lnRef idx="3">
              <a:schemeClr val="dk1"/>
            </a:lnRef>
            <a:fillRef idx="0">
              <a:schemeClr val="dk1"/>
            </a:fillRef>
            <a:effectRef idx="2">
              <a:schemeClr val="dk1"/>
            </a:effectRef>
            <a:fontRef idx="minor">
              <a:schemeClr val="tx1"/>
            </a:fontRef>
          </p:style>
        </p:cxnSp>
        <p:sp>
          <p:nvSpPr>
            <p:cNvPr id="105" name="CasellaDiTesto 104">
              <a:extLst>
                <a:ext uri="{FF2B5EF4-FFF2-40B4-BE49-F238E27FC236}">
                  <a16:creationId xmlns:a16="http://schemas.microsoft.com/office/drawing/2014/main" id="{9767CA65-D890-DCD4-0C1C-F29AAECF85A7}"/>
                </a:ext>
              </a:extLst>
            </p:cNvPr>
            <p:cNvSpPr txBox="1"/>
            <p:nvPr/>
          </p:nvSpPr>
          <p:spPr>
            <a:xfrm>
              <a:off x="7571921" y="4161372"/>
              <a:ext cx="492443" cy="369332"/>
            </a:xfrm>
            <a:prstGeom prst="rect">
              <a:avLst/>
            </a:prstGeom>
            <a:noFill/>
          </p:spPr>
          <p:txBody>
            <a:bodyPr wrap="none" rtlCol="0">
              <a:spAutoFit/>
            </a:bodyPr>
            <a:lstStyle/>
            <a:p>
              <a:r>
                <a:rPr lang="it-IT" b="1" dirty="0"/>
                <a:t>NO</a:t>
              </a:r>
            </a:p>
          </p:txBody>
        </p:sp>
        <p:cxnSp>
          <p:nvCxnSpPr>
            <p:cNvPr id="106" name="Connettore 2 105">
              <a:extLst>
                <a:ext uri="{FF2B5EF4-FFF2-40B4-BE49-F238E27FC236}">
                  <a16:creationId xmlns:a16="http://schemas.microsoft.com/office/drawing/2014/main" id="{DDBE0246-A086-77FC-AF2A-7BF82F0137DC}"/>
                </a:ext>
              </a:extLst>
            </p:cNvPr>
            <p:cNvCxnSpPr>
              <a:cxnSpLocks/>
            </p:cNvCxnSpPr>
            <p:nvPr/>
          </p:nvCxnSpPr>
          <p:spPr>
            <a:xfrm flipV="1">
              <a:off x="8095914" y="1689901"/>
              <a:ext cx="841022" cy="681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3" name="CasellaDiTesto 2">
            <a:extLst>
              <a:ext uri="{FF2B5EF4-FFF2-40B4-BE49-F238E27FC236}">
                <a16:creationId xmlns:a16="http://schemas.microsoft.com/office/drawing/2014/main" id="{9763F31E-6AFE-0F50-DDB2-63A6AD2E0E7D}"/>
              </a:ext>
            </a:extLst>
          </p:cNvPr>
          <p:cNvSpPr txBox="1"/>
          <p:nvPr/>
        </p:nvSpPr>
        <p:spPr>
          <a:xfrm>
            <a:off x="4405621" y="1545868"/>
            <a:ext cx="9800709" cy="4524315"/>
          </a:xfrm>
          <a:prstGeom prst="rect">
            <a:avLst/>
          </a:prstGeom>
          <a:noFill/>
        </p:spPr>
        <p:txBody>
          <a:bodyPr wrap="square" rtlCol="0">
            <a:spAutoFit/>
          </a:bodyPr>
          <a:lstStyle/>
          <a:p>
            <a:r>
              <a:rPr lang="en-US" b="0" dirty="0">
                <a:solidFill>
                  <a:srgbClr val="0000FF"/>
                </a:solidFill>
                <a:effectLst/>
                <a:latin typeface="Consolas" panose="020B0609020204030204" pitchFamily="49" charset="0"/>
              </a:rPr>
              <a:t>def</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generate_population</a:t>
            </a:r>
            <a:r>
              <a:rPr lang="en-US" b="0" dirty="0">
                <a:solidFill>
                  <a:srgbClr val="000000"/>
                </a:solidFill>
                <a:effectLst/>
                <a:latin typeface="Consolas" panose="020B0609020204030204" pitchFamily="49" charset="0"/>
              </a:rPr>
              <a:t>(graph, </a:t>
            </a:r>
            <a:r>
              <a:rPr lang="en-US" b="0" dirty="0" err="1">
                <a:solidFill>
                  <a:srgbClr val="000000"/>
                </a:solidFill>
                <a:effectLst/>
                <a:latin typeface="Consolas" panose="020B0609020204030204" pitchFamily="49" charset="0"/>
              </a:rPr>
              <a:t>start_node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end_node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autonomia</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battery_threshold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population_size</a:t>
            </a:r>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a:p>
            <a:endParaRPr lang="en-US" b="0" dirty="0">
              <a:solidFill>
                <a:srgbClr val="000000"/>
              </a:solidFill>
              <a:effectLst/>
              <a:latin typeface="Consolas" panose="020B0609020204030204" pitchFamily="49" charset="0"/>
            </a:endParaRPr>
          </a:p>
          <a:p>
            <a:pPr marL="285750" indent="-285750">
              <a:buFontTx/>
              <a:buChar char="-"/>
            </a:pPr>
            <a:r>
              <a:rPr lang="en-US" dirty="0">
                <a:solidFill>
                  <a:srgbClr val="000000"/>
                </a:solidFill>
                <a:latin typeface="Consolas" panose="020B0609020204030204" pitchFamily="49" charset="0"/>
              </a:rPr>
              <a:t>graph: </a:t>
            </a:r>
            <a:r>
              <a:rPr lang="it-IT" dirty="0">
                <a:solidFill>
                  <a:srgbClr val="000000"/>
                </a:solidFill>
                <a:latin typeface="Consolas" panose="020B0609020204030204" pitchFamily="49" charset="0"/>
              </a:rPr>
              <a:t>rappresenta</a:t>
            </a:r>
            <a:r>
              <a:rPr lang="en-US" dirty="0">
                <a:solidFill>
                  <a:srgbClr val="000000"/>
                </a:solidFill>
                <a:latin typeface="Consolas" panose="020B0609020204030204" pitchFamily="49" charset="0"/>
              </a:rPr>
              <a:t> la rete stradale</a:t>
            </a:r>
          </a:p>
          <a:p>
            <a:endParaRPr lang="en-US" dirty="0">
              <a:solidFill>
                <a:srgbClr val="000000"/>
              </a:solidFill>
              <a:latin typeface="Consolas" panose="020B0609020204030204" pitchFamily="49" charset="0"/>
            </a:endParaRPr>
          </a:p>
          <a:p>
            <a:pPr marL="285750" indent="-285750">
              <a:buFontTx/>
              <a:buChar char="-"/>
            </a:pPr>
            <a:r>
              <a:rPr lang="en-US" b="0" dirty="0">
                <a:solidFill>
                  <a:srgbClr val="000000"/>
                </a:solidFill>
                <a:effectLst/>
                <a:latin typeface="Consolas" panose="020B0609020204030204" pitchFamily="49" charset="0"/>
              </a:rPr>
              <a:t>Start_node: rappresenta il nodo di partenza</a:t>
            </a:r>
            <a:endParaRPr lang="en-US" dirty="0">
              <a:solidFill>
                <a:srgbClr val="000000"/>
              </a:solidFill>
              <a:latin typeface="Consolas" panose="020B0609020204030204" pitchFamily="49" charset="0"/>
            </a:endParaRPr>
          </a:p>
          <a:p>
            <a:endParaRPr lang="en-US" b="0" dirty="0">
              <a:solidFill>
                <a:srgbClr val="000000"/>
              </a:solidFill>
              <a:effectLst/>
              <a:latin typeface="Consolas" panose="020B0609020204030204" pitchFamily="49" charset="0"/>
            </a:endParaRPr>
          </a:p>
          <a:p>
            <a:pPr marL="285750" indent="-285750">
              <a:buFontTx/>
              <a:buChar char="-"/>
            </a:pPr>
            <a:r>
              <a:rPr lang="en-US" dirty="0">
                <a:solidFill>
                  <a:srgbClr val="000000"/>
                </a:solidFill>
                <a:latin typeface="Consolas" panose="020B0609020204030204" pitchFamily="49" charset="0"/>
              </a:rPr>
              <a:t>End_node: rappresenta il nodo di destinazione</a:t>
            </a:r>
          </a:p>
          <a:p>
            <a:endParaRPr lang="en-US" dirty="0">
              <a:solidFill>
                <a:srgbClr val="000000"/>
              </a:solidFill>
              <a:latin typeface="Consolas" panose="020B0609020204030204" pitchFamily="49" charset="0"/>
            </a:endParaRPr>
          </a:p>
          <a:p>
            <a:pPr marL="285750" indent="-285750">
              <a:buFontTx/>
              <a:buChar char="-"/>
            </a:pPr>
            <a:r>
              <a:rPr lang="en-US" b="0" dirty="0">
                <a:solidFill>
                  <a:srgbClr val="000000"/>
                </a:solidFill>
                <a:effectLst/>
                <a:latin typeface="Consolas" panose="020B0609020204030204" pitchFamily="49" charset="0"/>
              </a:rPr>
              <a:t>Autonomia</a:t>
            </a:r>
            <a:r>
              <a:rPr lang="en-US" dirty="0">
                <a:solidFill>
                  <a:srgbClr val="000000"/>
                </a:solidFill>
                <a:latin typeface="Consolas" panose="020B0609020204030204" pitchFamily="49" charset="0"/>
              </a:rPr>
              <a:t>: rappresenta l’autonomia massima del veicolo in kWh</a:t>
            </a:r>
          </a:p>
          <a:p>
            <a:endParaRPr lang="en-US" dirty="0">
              <a:solidFill>
                <a:srgbClr val="000000"/>
              </a:solidFill>
              <a:latin typeface="Consolas" panose="020B0609020204030204" pitchFamily="49" charset="0"/>
            </a:endParaRPr>
          </a:p>
          <a:p>
            <a:pPr marL="285750" indent="-285750">
              <a:buFontTx/>
              <a:buChar char="-"/>
            </a:pPr>
            <a:r>
              <a:rPr lang="en-US" b="0" dirty="0">
                <a:solidFill>
                  <a:srgbClr val="000000"/>
                </a:solidFill>
                <a:effectLst/>
                <a:latin typeface="Consolas" panose="020B0609020204030204" pitchFamily="49" charset="0"/>
              </a:rPr>
              <a:t>battery_threshold: rappresenta la soglia di batteria minima, oltre la quale cerca una stazione di ricarica</a:t>
            </a:r>
          </a:p>
          <a:p>
            <a:endParaRPr lang="en-US" b="0" dirty="0">
              <a:solidFill>
                <a:srgbClr val="000000"/>
              </a:solidFill>
              <a:effectLst/>
              <a:latin typeface="Consolas" panose="020B0609020204030204" pitchFamily="49" charset="0"/>
            </a:endParaRPr>
          </a:p>
          <a:p>
            <a:pPr marL="285750" indent="-285750">
              <a:buFontTx/>
              <a:buChar char="-"/>
            </a:pPr>
            <a:r>
              <a:rPr lang="en-US" b="0" dirty="0">
                <a:solidFill>
                  <a:srgbClr val="000000"/>
                </a:solidFill>
                <a:effectLst/>
                <a:latin typeface="Consolas" panose="020B0609020204030204" pitchFamily="49" charset="0"/>
              </a:rPr>
              <a:t>population_size: </a:t>
            </a:r>
            <a:r>
              <a:rPr lang="en-US" b="0" dirty="0" err="1">
                <a:solidFill>
                  <a:srgbClr val="000000"/>
                </a:solidFill>
                <a:effectLst/>
                <a:latin typeface="Consolas" panose="020B0609020204030204" pitchFamily="49" charset="0"/>
              </a:rPr>
              <a:t>rappresenta</a:t>
            </a:r>
            <a:r>
              <a:rPr lang="en-US" b="0" dirty="0">
                <a:solidFill>
                  <a:srgbClr val="000000"/>
                </a:solidFill>
                <a:effectLst/>
                <a:latin typeface="Consolas" panose="020B0609020204030204" pitchFamily="49" charset="0"/>
              </a:rPr>
              <a:t> il </a:t>
            </a:r>
            <a:r>
              <a:rPr lang="en-US" b="0" dirty="0" err="1">
                <a:solidFill>
                  <a:srgbClr val="000000"/>
                </a:solidFill>
                <a:effectLst/>
                <a:latin typeface="Consolas" panose="020B0609020204030204" pitchFamily="49" charset="0"/>
              </a:rPr>
              <a:t>numero</a:t>
            </a:r>
            <a:r>
              <a:rPr lang="en-US" b="0" dirty="0">
                <a:solidFill>
                  <a:srgbClr val="000000"/>
                </a:solidFill>
                <a:effectLst/>
                <a:latin typeface="Consolas" panose="020B0609020204030204" pitchFamily="49" charset="0"/>
              </a:rPr>
              <a:t> di </a:t>
            </a:r>
            <a:r>
              <a:rPr lang="en-US" b="0" dirty="0" err="1">
                <a:solidFill>
                  <a:srgbClr val="000000"/>
                </a:solidFill>
                <a:effectLst/>
                <a:latin typeface="Consolas" panose="020B0609020204030204" pitchFamily="49" charset="0"/>
              </a:rPr>
              <a:t>individui</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nella</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popolazione</a:t>
            </a:r>
            <a:endParaRPr lang="en-US" b="0" dirty="0">
              <a:solidFill>
                <a:srgbClr val="000000"/>
              </a:solidFill>
              <a:effectLst/>
              <a:latin typeface="Consolas" panose="020B0609020204030204" pitchFamily="49" charset="0"/>
            </a:endParaRPr>
          </a:p>
        </p:txBody>
      </p:sp>
      <p:sp>
        <p:nvSpPr>
          <p:cNvPr id="8" name="Text 0">
            <a:extLst>
              <a:ext uri="{FF2B5EF4-FFF2-40B4-BE49-F238E27FC236}">
                <a16:creationId xmlns:a16="http://schemas.microsoft.com/office/drawing/2014/main" id="{E651BDF5-500D-3F28-2368-C53036346A16}"/>
              </a:ext>
            </a:extLst>
          </p:cNvPr>
          <p:cNvSpPr/>
          <p:nvPr/>
        </p:nvSpPr>
        <p:spPr>
          <a:xfrm>
            <a:off x="4295296" y="99421"/>
            <a:ext cx="10039503" cy="987038"/>
          </a:xfrm>
          <a:prstGeom prst="rect">
            <a:avLst/>
          </a:prstGeom>
        </p:spPr>
        <p:txBody>
          <a:bodyPr vert="horz" lIns="91440" tIns="45720" rIns="91440" bIns="45720" rtlCol="0" anchor="b">
            <a:normAutofit fontScale="70000" lnSpcReduction="20000"/>
          </a:bodyPr>
          <a:lstStyle/>
          <a:p>
            <a:pPr>
              <a:lnSpc>
                <a:spcPct val="90000"/>
              </a:lnSpc>
              <a:spcBef>
                <a:spcPct val="0"/>
              </a:spcBef>
              <a:spcAft>
                <a:spcPts val="600"/>
              </a:spcAft>
            </a:pPr>
            <a:r>
              <a:rPr lang="en-US" sz="5300" b="1" dirty="0">
                <a:solidFill>
                  <a:srgbClr val="231971"/>
                </a:solidFill>
                <a:latin typeface="Outfit Extra Bold" pitchFamily="34" charset="0"/>
              </a:rPr>
              <a:t>Flow</a:t>
            </a:r>
            <a:r>
              <a:rPr lang="en-US" sz="6200" b="1" kern="1200" dirty="0">
                <a:solidFill>
                  <a:schemeClr val="tx1"/>
                </a:solidFill>
                <a:latin typeface="+mj-lt"/>
                <a:ea typeface="+mj-ea"/>
                <a:cs typeface="+mj-cs"/>
              </a:rPr>
              <a:t> </a:t>
            </a:r>
            <a:r>
              <a:rPr lang="en-US" sz="5300" b="1" dirty="0">
                <a:solidFill>
                  <a:srgbClr val="231971"/>
                </a:solidFill>
                <a:latin typeface="Outfit Extra Bold" pitchFamily="34" charset="0"/>
              </a:rPr>
              <a:t>Chart </a:t>
            </a:r>
            <a:r>
              <a:rPr lang="en-US" sz="5300" b="1" dirty="0" err="1">
                <a:solidFill>
                  <a:srgbClr val="231971"/>
                </a:solidFill>
                <a:latin typeface="Outfit Extra Bold" pitchFamily="34" charset="0"/>
              </a:rPr>
              <a:t>Algoritmo</a:t>
            </a:r>
            <a:r>
              <a:rPr lang="en-US" sz="5300" b="1" dirty="0">
                <a:solidFill>
                  <a:srgbClr val="231971"/>
                </a:solidFill>
                <a:latin typeface="Outfit Extra Bold" pitchFamily="34" charset="0"/>
              </a:rPr>
              <a:t> </a:t>
            </a:r>
            <a:r>
              <a:rPr lang="en-US" sz="5300" b="1" dirty="0" err="1">
                <a:solidFill>
                  <a:srgbClr val="231971"/>
                </a:solidFill>
                <a:latin typeface="Outfit Extra Bold" pitchFamily="34" charset="0"/>
              </a:rPr>
              <a:t>Genetico</a:t>
            </a:r>
            <a:r>
              <a:rPr lang="en-US" sz="5300" b="1" dirty="0">
                <a:solidFill>
                  <a:srgbClr val="231971"/>
                </a:solidFill>
                <a:latin typeface="Outfit Extra Bold" pitchFamily="34" charset="0"/>
              </a:rPr>
              <a:t>: </a:t>
            </a:r>
            <a:r>
              <a:rPr lang="en-US" sz="5300" b="1" dirty="0" err="1">
                <a:solidFill>
                  <a:srgbClr val="231971"/>
                </a:solidFill>
                <a:latin typeface="Outfit Extra Bold" pitchFamily="34" charset="0"/>
              </a:rPr>
              <a:t>Generazione</a:t>
            </a:r>
            <a:r>
              <a:rPr lang="en-US" sz="5300" b="1" dirty="0">
                <a:solidFill>
                  <a:srgbClr val="231971"/>
                </a:solidFill>
                <a:latin typeface="Outfit Extra Bold" pitchFamily="34" charset="0"/>
              </a:rPr>
              <a:t> </a:t>
            </a:r>
            <a:r>
              <a:rPr lang="en-US" sz="5300" b="1" dirty="0" err="1">
                <a:solidFill>
                  <a:srgbClr val="231971"/>
                </a:solidFill>
                <a:latin typeface="Outfit Extra Bold" pitchFamily="34" charset="0"/>
              </a:rPr>
              <a:t>popolazione</a:t>
            </a:r>
            <a:endParaRPr lang="en-US" sz="5300" b="1" dirty="0">
              <a:solidFill>
                <a:srgbClr val="231971"/>
              </a:solidFill>
              <a:latin typeface="Outfit Extra Bold" pitchFamily="34" charset="0"/>
            </a:endParaRPr>
          </a:p>
        </p:txBody>
      </p:sp>
      <p:sp>
        <p:nvSpPr>
          <p:cNvPr id="5" name="Ovale 4">
            <a:extLst>
              <a:ext uri="{FF2B5EF4-FFF2-40B4-BE49-F238E27FC236}">
                <a16:creationId xmlns:a16="http://schemas.microsoft.com/office/drawing/2014/main" id="{F74D778F-D413-828F-6714-A5FCD0BC60B3}"/>
              </a:ext>
            </a:extLst>
          </p:cNvPr>
          <p:cNvSpPr/>
          <p:nvPr/>
        </p:nvSpPr>
        <p:spPr>
          <a:xfrm>
            <a:off x="1470988" y="520586"/>
            <a:ext cx="2362190" cy="7997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Tree>
    <p:extLst>
      <p:ext uri="{BB962C8B-B14F-4D97-AF65-F5344CB8AC3E}">
        <p14:creationId xmlns:p14="http://schemas.microsoft.com/office/powerpoint/2010/main" val="41668798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 name="Gruppo 101">
            <a:extLst>
              <a:ext uri="{FF2B5EF4-FFF2-40B4-BE49-F238E27FC236}">
                <a16:creationId xmlns:a16="http://schemas.microsoft.com/office/drawing/2014/main" id="{530B3E83-0DB7-28FD-DEED-2F1D0583FF11}"/>
              </a:ext>
            </a:extLst>
          </p:cNvPr>
          <p:cNvGrpSpPr/>
          <p:nvPr/>
        </p:nvGrpSpPr>
        <p:grpSpPr>
          <a:xfrm>
            <a:off x="128545" y="99421"/>
            <a:ext cx="4028661" cy="8030757"/>
            <a:chOff x="7571921" y="285735"/>
            <a:chExt cx="3820507" cy="7657613"/>
          </a:xfrm>
        </p:grpSpPr>
        <p:grpSp>
          <p:nvGrpSpPr>
            <p:cNvPr id="103" name="Gruppo 102">
              <a:extLst>
                <a:ext uri="{FF2B5EF4-FFF2-40B4-BE49-F238E27FC236}">
                  <a16:creationId xmlns:a16="http://schemas.microsoft.com/office/drawing/2014/main" id="{089CD12F-2E71-B278-AE5F-D3D8272F8885}"/>
                </a:ext>
              </a:extLst>
            </p:cNvPr>
            <p:cNvGrpSpPr/>
            <p:nvPr/>
          </p:nvGrpSpPr>
          <p:grpSpPr>
            <a:xfrm>
              <a:off x="8914630" y="285735"/>
              <a:ext cx="2477798" cy="7657613"/>
              <a:chOff x="6739520" y="83634"/>
              <a:chExt cx="2477798" cy="7657613"/>
            </a:xfrm>
          </p:grpSpPr>
          <p:sp>
            <p:nvSpPr>
              <p:cNvPr id="109" name="Rettangolo con angoli arrotondati 108">
                <a:extLst>
                  <a:ext uri="{FF2B5EF4-FFF2-40B4-BE49-F238E27FC236}">
                    <a16:creationId xmlns:a16="http://schemas.microsoft.com/office/drawing/2014/main" id="{EC404B13-CECF-B655-253E-17C56A641D04}"/>
                  </a:ext>
                </a:extLst>
              </p:cNvPr>
              <p:cNvSpPr/>
              <p:nvPr/>
            </p:nvSpPr>
            <p:spPr>
              <a:xfrm>
                <a:off x="7337503" y="83634"/>
                <a:ext cx="892098" cy="260191"/>
              </a:xfrm>
              <a:prstGeom prst="roundRect">
                <a:avLst/>
              </a:prstGeom>
              <a:solidFill>
                <a:srgbClr val="54E8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INIZIO</a:t>
                </a:r>
              </a:p>
            </p:txBody>
          </p:sp>
          <p:sp>
            <p:nvSpPr>
              <p:cNvPr id="110" name="Rettangolo 109">
                <a:extLst>
                  <a:ext uri="{FF2B5EF4-FFF2-40B4-BE49-F238E27FC236}">
                    <a16:creationId xmlns:a16="http://schemas.microsoft.com/office/drawing/2014/main" id="{EEDB4269-BA01-B04D-5B16-DA292CE43CCB}"/>
                  </a:ext>
                </a:extLst>
              </p:cNvPr>
              <p:cNvSpPr/>
              <p:nvPr/>
            </p:nvSpPr>
            <p:spPr>
              <a:xfrm>
                <a:off x="6739524" y="624943"/>
                <a:ext cx="2065751" cy="43861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Genera la popolazione iniziale</a:t>
                </a:r>
              </a:p>
            </p:txBody>
          </p:sp>
          <p:cxnSp>
            <p:nvCxnSpPr>
              <p:cNvPr id="111" name="Connettore 2 110">
                <a:extLst>
                  <a:ext uri="{FF2B5EF4-FFF2-40B4-BE49-F238E27FC236}">
                    <a16:creationId xmlns:a16="http://schemas.microsoft.com/office/drawing/2014/main" id="{86E64CA4-23B0-E205-B06B-46944AC3EBE5}"/>
                  </a:ext>
                </a:extLst>
              </p:cNvPr>
              <p:cNvCxnSpPr>
                <a:cxnSpLocks/>
              </p:cNvCxnSpPr>
              <p:nvPr/>
            </p:nvCxnSpPr>
            <p:spPr>
              <a:xfrm>
                <a:off x="7783551" y="1063554"/>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2" name="Rettangolo 111">
                <a:extLst>
                  <a:ext uri="{FF2B5EF4-FFF2-40B4-BE49-F238E27FC236}">
                    <a16:creationId xmlns:a16="http://schemas.microsoft.com/office/drawing/2014/main" id="{F1277372-D7FD-1163-ED86-5EDE17D2522C}"/>
                  </a:ext>
                </a:extLst>
              </p:cNvPr>
              <p:cNvSpPr/>
              <p:nvPr/>
            </p:nvSpPr>
            <p:spPr>
              <a:xfrm>
                <a:off x="6750673" y="1340948"/>
                <a:ext cx="2065756"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Selezione con il metodo della Roulette Wheel</a:t>
                </a:r>
              </a:p>
            </p:txBody>
          </p:sp>
          <p:sp>
            <p:nvSpPr>
              <p:cNvPr id="113" name="Rettangolo 112">
                <a:extLst>
                  <a:ext uri="{FF2B5EF4-FFF2-40B4-BE49-F238E27FC236}">
                    <a16:creationId xmlns:a16="http://schemas.microsoft.com/office/drawing/2014/main" id="{C3E6985D-BBD6-4906-60AA-FF7DB28E959E}"/>
                  </a:ext>
                </a:extLst>
              </p:cNvPr>
              <p:cNvSpPr/>
              <p:nvPr/>
            </p:nvSpPr>
            <p:spPr>
              <a:xfrm>
                <a:off x="6739520" y="2221413"/>
                <a:ext cx="2076909" cy="45534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Crossover (Riproduzione) di tipo additivo</a:t>
                </a:r>
              </a:p>
            </p:txBody>
          </p:sp>
          <p:sp>
            <p:nvSpPr>
              <p:cNvPr id="114" name="Rettangolo 113">
                <a:extLst>
                  <a:ext uri="{FF2B5EF4-FFF2-40B4-BE49-F238E27FC236}">
                    <a16:creationId xmlns:a16="http://schemas.microsoft.com/office/drawing/2014/main" id="{8424AAF4-AD10-DB25-D549-59B476042A54}"/>
                  </a:ext>
                </a:extLst>
              </p:cNvPr>
              <p:cNvSpPr/>
              <p:nvPr/>
            </p:nvSpPr>
            <p:spPr>
              <a:xfrm>
                <a:off x="6750670" y="2949498"/>
                <a:ext cx="2065760" cy="39772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Mutazione</a:t>
                </a:r>
              </a:p>
            </p:txBody>
          </p:sp>
          <p:sp>
            <p:nvSpPr>
              <p:cNvPr id="115" name="Rettangolo 114">
                <a:extLst>
                  <a:ext uri="{FF2B5EF4-FFF2-40B4-BE49-F238E27FC236}">
                    <a16:creationId xmlns:a16="http://schemas.microsoft.com/office/drawing/2014/main" id="{FC2FA2DE-1D38-1A6A-65C0-29BFC0B36E66}"/>
                  </a:ext>
                </a:extLst>
              </p:cNvPr>
              <p:cNvSpPr/>
              <p:nvPr/>
            </p:nvSpPr>
            <p:spPr>
              <a:xfrm>
                <a:off x="6750673" y="3624144"/>
                <a:ext cx="2065760"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Ordinamento in base ai valori della fitness</a:t>
                </a:r>
              </a:p>
            </p:txBody>
          </p:sp>
          <p:sp>
            <p:nvSpPr>
              <p:cNvPr id="116" name="Rombo 115">
                <a:extLst>
                  <a:ext uri="{FF2B5EF4-FFF2-40B4-BE49-F238E27FC236}">
                    <a16:creationId xmlns:a16="http://schemas.microsoft.com/office/drawing/2014/main" id="{EEE7899E-7490-A075-8BD4-63A1D522319E}"/>
                  </a:ext>
                </a:extLst>
              </p:cNvPr>
              <p:cNvSpPr/>
              <p:nvPr/>
            </p:nvSpPr>
            <p:spPr>
              <a:xfrm>
                <a:off x="6901909" y="5616388"/>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chemeClr val="tx1"/>
                    </a:solidFill>
                  </a:rPr>
                  <a:t>Raggiunto il numero massimo di iterazioni?</a:t>
                </a:r>
              </a:p>
            </p:txBody>
          </p:sp>
          <p:sp>
            <p:nvSpPr>
              <p:cNvPr id="117" name="Rettangolo con angoli arrotondati 116">
                <a:extLst>
                  <a:ext uri="{FF2B5EF4-FFF2-40B4-BE49-F238E27FC236}">
                    <a16:creationId xmlns:a16="http://schemas.microsoft.com/office/drawing/2014/main" id="{D3B238DC-1356-732E-2A91-67D9F41F3CBD}"/>
                  </a:ext>
                </a:extLst>
              </p:cNvPr>
              <p:cNvSpPr/>
              <p:nvPr/>
            </p:nvSpPr>
            <p:spPr>
              <a:xfrm>
                <a:off x="7337503" y="7481056"/>
                <a:ext cx="892098" cy="26019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FINE</a:t>
                </a:r>
              </a:p>
            </p:txBody>
          </p:sp>
          <p:sp>
            <p:nvSpPr>
              <p:cNvPr id="118" name="Ovale 117">
                <a:extLst>
                  <a:ext uri="{FF2B5EF4-FFF2-40B4-BE49-F238E27FC236}">
                    <a16:creationId xmlns:a16="http://schemas.microsoft.com/office/drawing/2014/main" id="{A3FC2FDE-B5ED-E8D4-E23F-469D949419B2}"/>
                  </a:ext>
                </a:extLst>
              </p:cNvPr>
              <p:cNvSpPr/>
              <p:nvPr/>
            </p:nvSpPr>
            <p:spPr>
              <a:xfrm>
                <a:off x="7711068" y="6888652"/>
                <a:ext cx="122664" cy="12918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19" name="Connettore 2 118">
                <a:extLst>
                  <a:ext uri="{FF2B5EF4-FFF2-40B4-BE49-F238E27FC236}">
                    <a16:creationId xmlns:a16="http://schemas.microsoft.com/office/drawing/2014/main" id="{D8D1DA5A-D648-2234-15B9-1EB9D81D5283}"/>
                  </a:ext>
                </a:extLst>
              </p:cNvPr>
              <p:cNvCxnSpPr>
                <a:cxnSpLocks/>
              </p:cNvCxnSpPr>
              <p:nvPr/>
            </p:nvCxnSpPr>
            <p:spPr>
              <a:xfrm>
                <a:off x="7772400" y="34382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0" name="Connettore 2 119">
                <a:extLst>
                  <a:ext uri="{FF2B5EF4-FFF2-40B4-BE49-F238E27FC236}">
                    <a16:creationId xmlns:a16="http://schemas.microsoft.com/office/drawing/2014/main" id="{54FCC74C-E99F-6C26-3488-526C92C2CDC0}"/>
                  </a:ext>
                </a:extLst>
              </p:cNvPr>
              <p:cNvCxnSpPr>
                <a:cxnSpLocks/>
              </p:cNvCxnSpPr>
              <p:nvPr/>
            </p:nvCxnSpPr>
            <p:spPr>
              <a:xfrm>
                <a:off x="7783552" y="1931963"/>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1" name="Connettore 2 120">
                <a:extLst>
                  <a:ext uri="{FF2B5EF4-FFF2-40B4-BE49-F238E27FC236}">
                    <a16:creationId xmlns:a16="http://schemas.microsoft.com/office/drawing/2014/main" id="{81B1E726-9E46-717E-08DC-B7E46175E863}"/>
                  </a:ext>
                </a:extLst>
              </p:cNvPr>
              <p:cNvCxnSpPr>
                <a:cxnSpLocks/>
              </p:cNvCxnSpPr>
              <p:nvPr/>
            </p:nvCxnSpPr>
            <p:spPr>
              <a:xfrm>
                <a:off x="7783551" y="268185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2" name="Connettore 2 121">
                <a:extLst>
                  <a:ext uri="{FF2B5EF4-FFF2-40B4-BE49-F238E27FC236}">
                    <a16:creationId xmlns:a16="http://schemas.microsoft.com/office/drawing/2014/main" id="{B00EBD99-69EE-6A91-4F8D-BB9E60A24FAC}"/>
                  </a:ext>
                </a:extLst>
              </p:cNvPr>
              <p:cNvCxnSpPr>
                <a:cxnSpLocks/>
              </p:cNvCxnSpPr>
              <p:nvPr/>
            </p:nvCxnSpPr>
            <p:spPr>
              <a:xfrm>
                <a:off x="7783551" y="3350929"/>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3" name="Connettore 2 122">
                <a:extLst>
                  <a:ext uri="{FF2B5EF4-FFF2-40B4-BE49-F238E27FC236}">
                    <a16:creationId xmlns:a16="http://schemas.microsoft.com/office/drawing/2014/main" id="{08FE22C9-9912-4990-BD28-1B51A1951FBB}"/>
                  </a:ext>
                </a:extLst>
              </p:cNvPr>
              <p:cNvCxnSpPr>
                <a:cxnSpLocks/>
              </p:cNvCxnSpPr>
              <p:nvPr/>
            </p:nvCxnSpPr>
            <p:spPr>
              <a:xfrm>
                <a:off x="7783551" y="4231878"/>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4" name="Connettore 2 123">
                <a:extLst>
                  <a:ext uri="{FF2B5EF4-FFF2-40B4-BE49-F238E27FC236}">
                    <a16:creationId xmlns:a16="http://schemas.microsoft.com/office/drawing/2014/main" id="{C1D51DF9-3B5C-02D7-6A88-82D390E8091C}"/>
                  </a:ext>
                </a:extLst>
              </p:cNvPr>
              <p:cNvCxnSpPr>
                <a:cxnSpLocks/>
              </p:cNvCxnSpPr>
              <p:nvPr/>
            </p:nvCxnSpPr>
            <p:spPr>
              <a:xfrm>
                <a:off x="7783551" y="534699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5" name="Connettore 2 124">
                <a:extLst>
                  <a:ext uri="{FF2B5EF4-FFF2-40B4-BE49-F238E27FC236}">
                    <a16:creationId xmlns:a16="http://schemas.microsoft.com/office/drawing/2014/main" id="{E018D865-3AB0-B9FF-0361-C1D8AE00DE9D}"/>
                  </a:ext>
                </a:extLst>
              </p:cNvPr>
              <p:cNvCxnSpPr>
                <a:cxnSpLocks/>
                <a:endCxn id="118" idx="0"/>
              </p:cNvCxnSpPr>
              <p:nvPr/>
            </p:nvCxnSpPr>
            <p:spPr>
              <a:xfrm flipH="1">
                <a:off x="7772400" y="6480703"/>
                <a:ext cx="7433" cy="4079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6" name="Connettore 2 125">
                <a:extLst>
                  <a:ext uri="{FF2B5EF4-FFF2-40B4-BE49-F238E27FC236}">
                    <a16:creationId xmlns:a16="http://schemas.microsoft.com/office/drawing/2014/main" id="{B6E85C39-1FBF-B7A3-2132-8622312535AB}"/>
                  </a:ext>
                </a:extLst>
              </p:cNvPr>
              <p:cNvCxnSpPr>
                <a:cxnSpLocks/>
              </p:cNvCxnSpPr>
              <p:nvPr/>
            </p:nvCxnSpPr>
            <p:spPr>
              <a:xfrm>
                <a:off x="7783551" y="7017841"/>
                <a:ext cx="0" cy="456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7" name="Connettore diritto 126">
                <a:extLst>
                  <a:ext uri="{FF2B5EF4-FFF2-40B4-BE49-F238E27FC236}">
                    <a16:creationId xmlns:a16="http://schemas.microsoft.com/office/drawing/2014/main" id="{FE7619C8-0CA9-8AB1-7BA0-36D9F648C8E1}"/>
                  </a:ext>
                </a:extLst>
              </p:cNvPr>
              <p:cNvCxnSpPr>
                <a:cxnSpLocks/>
              </p:cNvCxnSpPr>
              <p:nvPr/>
            </p:nvCxnSpPr>
            <p:spPr>
              <a:xfrm flipV="1">
                <a:off x="8671605" y="4925109"/>
                <a:ext cx="545713" cy="1"/>
              </a:xfrm>
              <a:prstGeom prst="line">
                <a:avLst/>
              </a:prstGeom>
            </p:spPr>
            <p:style>
              <a:lnRef idx="3">
                <a:schemeClr val="dk1"/>
              </a:lnRef>
              <a:fillRef idx="0">
                <a:schemeClr val="dk1"/>
              </a:fillRef>
              <a:effectRef idx="2">
                <a:schemeClr val="dk1"/>
              </a:effectRef>
              <a:fontRef idx="minor">
                <a:schemeClr val="tx1"/>
              </a:fontRef>
            </p:style>
          </p:cxnSp>
          <p:cxnSp>
            <p:nvCxnSpPr>
              <p:cNvPr id="128" name="Connettore diritto 127">
                <a:extLst>
                  <a:ext uri="{FF2B5EF4-FFF2-40B4-BE49-F238E27FC236}">
                    <a16:creationId xmlns:a16="http://schemas.microsoft.com/office/drawing/2014/main" id="{6881CBBF-3B1F-40DD-EADC-AAA71B7069B7}"/>
                  </a:ext>
                </a:extLst>
              </p:cNvPr>
              <p:cNvCxnSpPr>
                <a:cxnSpLocks/>
              </p:cNvCxnSpPr>
              <p:nvPr/>
            </p:nvCxnSpPr>
            <p:spPr>
              <a:xfrm>
                <a:off x="9210907" y="4925588"/>
                <a:ext cx="0" cy="2027659"/>
              </a:xfrm>
              <a:prstGeom prst="line">
                <a:avLst/>
              </a:prstGeom>
            </p:spPr>
            <p:style>
              <a:lnRef idx="3">
                <a:schemeClr val="dk1"/>
              </a:lnRef>
              <a:fillRef idx="0">
                <a:schemeClr val="dk1"/>
              </a:fillRef>
              <a:effectRef idx="2">
                <a:schemeClr val="dk1"/>
              </a:effectRef>
              <a:fontRef idx="minor">
                <a:schemeClr val="tx1"/>
              </a:fontRef>
            </p:style>
          </p:cxnSp>
          <p:cxnSp>
            <p:nvCxnSpPr>
              <p:cNvPr id="129" name="Connettore 2 128">
                <a:extLst>
                  <a:ext uri="{FF2B5EF4-FFF2-40B4-BE49-F238E27FC236}">
                    <a16:creationId xmlns:a16="http://schemas.microsoft.com/office/drawing/2014/main" id="{7CF6FFDD-2364-F10E-FEF9-D8A1A51479CE}"/>
                  </a:ext>
                </a:extLst>
              </p:cNvPr>
              <p:cNvCxnSpPr>
                <a:cxnSpLocks/>
                <a:endCxn id="118" idx="6"/>
              </p:cNvCxnSpPr>
              <p:nvPr/>
            </p:nvCxnSpPr>
            <p:spPr>
              <a:xfrm flipH="1">
                <a:off x="7833732" y="6953247"/>
                <a:ext cx="137717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0" name="CasellaDiTesto 129">
                <a:extLst>
                  <a:ext uri="{FF2B5EF4-FFF2-40B4-BE49-F238E27FC236}">
                    <a16:creationId xmlns:a16="http://schemas.microsoft.com/office/drawing/2014/main" id="{3F7EF8EC-0108-F54B-76A8-DA7299CF410C}"/>
                  </a:ext>
                </a:extLst>
              </p:cNvPr>
              <p:cNvSpPr txBox="1"/>
              <p:nvPr/>
            </p:nvSpPr>
            <p:spPr>
              <a:xfrm>
                <a:off x="8763964" y="4609229"/>
                <a:ext cx="354584" cy="369332"/>
              </a:xfrm>
              <a:prstGeom prst="rect">
                <a:avLst/>
              </a:prstGeom>
              <a:noFill/>
            </p:spPr>
            <p:txBody>
              <a:bodyPr wrap="none" rtlCol="0">
                <a:spAutoFit/>
              </a:bodyPr>
              <a:lstStyle/>
              <a:p>
                <a:r>
                  <a:rPr lang="it-IT" b="1" dirty="0"/>
                  <a:t>SI</a:t>
                </a:r>
              </a:p>
            </p:txBody>
          </p:sp>
          <p:sp>
            <p:nvSpPr>
              <p:cNvPr id="131" name="CasellaDiTesto 130">
                <a:extLst>
                  <a:ext uri="{FF2B5EF4-FFF2-40B4-BE49-F238E27FC236}">
                    <a16:creationId xmlns:a16="http://schemas.microsoft.com/office/drawing/2014/main" id="{61BBB623-D8C1-4332-8F5E-B82136A625BE}"/>
                  </a:ext>
                </a:extLst>
              </p:cNvPr>
              <p:cNvSpPr txBox="1"/>
              <p:nvPr/>
            </p:nvSpPr>
            <p:spPr>
              <a:xfrm>
                <a:off x="7428968" y="6467266"/>
                <a:ext cx="354584" cy="369332"/>
              </a:xfrm>
              <a:prstGeom prst="rect">
                <a:avLst/>
              </a:prstGeom>
              <a:noFill/>
            </p:spPr>
            <p:txBody>
              <a:bodyPr wrap="none" rtlCol="0">
                <a:spAutoFit/>
              </a:bodyPr>
              <a:lstStyle/>
              <a:p>
                <a:r>
                  <a:rPr lang="it-IT" b="1" dirty="0"/>
                  <a:t>SI</a:t>
                </a:r>
              </a:p>
            </p:txBody>
          </p:sp>
          <p:sp>
            <p:nvSpPr>
              <p:cNvPr id="132" name="CasellaDiTesto 131">
                <a:extLst>
                  <a:ext uri="{FF2B5EF4-FFF2-40B4-BE49-F238E27FC236}">
                    <a16:creationId xmlns:a16="http://schemas.microsoft.com/office/drawing/2014/main" id="{02E06CAE-B043-7CB2-A6A5-5C9EA88515D8}"/>
                  </a:ext>
                </a:extLst>
              </p:cNvPr>
              <p:cNvSpPr txBox="1"/>
              <p:nvPr/>
            </p:nvSpPr>
            <p:spPr>
              <a:xfrm>
                <a:off x="7772398" y="5266686"/>
                <a:ext cx="492443" cy="369332"/>
              </a:xfrm>
              <a:prstGeom prst="rect">
                <a:avLst/>
              </a:prstGeom>
              <a:noFill/>
            </p:spPr>
            <p:txBody>
              <a:bodyPr wrap="none" rtlCol="0">
                <a:spAutoFit/>
              </a:bodyPr>
              <a:lstStyle/>
              <a:p>
                <a:r>
                  <a:rPr lang="it-IT" b="1" dirty="0"/>
                  <a:t>NO</a:t>
                </a:r>
              </a:p>
            </p:txBody>
          </p:sp>
        </p:grpSp>
        <p:sp>
          <p:nvSpPr>
            <p:cNvPr id="104" name="Rombo 103">
              <a:extLst>
                <a:ext uri="{FF2B5EF4-FFF2-40B4-BE49-F238E27FC236}">
                  <a16:creationId xmlns:a16="http://schemas.microsoft.com/office/drawing/2014/main" id="{C21A8CB7-C22B-5796-13E0-08152BA2B889}"/>
                </a:ext>
              </a:extLst>
            </p:cNvPr>
            <p:cNvSpPr/>
            <p:nvPr/>
          </p:nvSpPr>
          <p:spPr>
            <a:xfrm>
              <a:off x="9083430" y="4691844"/>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Criterio di arresto verificato?</a:t>
              </a:r>
            </a:p>
          </p:txBody>
        </p:sp>
        <p:cxnSp>
          <p:nvCxnSpPr>
            <p:cNvPr id="105" name="Connettore diritto 104">
              <a:extLst>
                <a:ext uri="{FF2B5EF4-FFF2-40B4-BE49-F238E27FC236}">
                  <a16:creationId xmlns:a16="http://schemas.microsoft.com/office/drawing/2014/main" id="{E490BA08-8E89-B079-BEDA-5B8266FAA1E6}"/>
                </a:ext>
              </a:extLst>
            </p:cNvPr>
            <p:cNvCxnSpPr>
              <a:cxnSpLocks/>
            </p:cNvCxnSpPr>
            <p:nvPr/>
          </p:nvCxnSpPr>
          <p:spPr>
            <a:xfrm>
              <a:off x="8110099" y="6249235"/>
              <a:ext cx="1004811" cy="0"/>
            </a:xfrm>
            <a:prstGeom prst="line">
              <a:avLst/>
            </a:prstGeom>
          </p:spPr>
          <p:style>
            <a:lnRef idx="3">
              <a:schemeClr val="dk1"/>
            </a:lnRef>
            <a:fillRef idx="0">
              <a:schemeClr val="dk1"/>
            </a:fillRef>
            <a:effectRef idx="2">
              <a:schemeClr val="dk1"/>
            </a:effectRef>
            <a:fontRef idx="minor">
              <a:schemeClr val="tx1"/>
            </a:fontRef>
          </p:style>
        </p:cxnSp>
        <p:cxnSp>
          <p:nvCxnSpPr>
            <p:cNvPr id="106" name="Connettore diritto 105">
              <a:extLst>
                <a:ext uri="{FF2B5EF4-FFF2-40B4-BE49-F238E27FC236}">
                  <a16:creationId xmlns:a16="http://schemas.microsoft.com/office/drawing/2014/main" id="{2C22BCB9-4F74-626E-A782-F0C91E7FE6E2}"/>
                </a:ext>
              </a:extLst>
            </p:cNvPr>
            <p:cNvCxnSpPr>
              <a:cxnSpLocks/>
            </p:cNvCxnSpPr>
            <p:nvPr/>
          </p:nvCxnSpPr>
          <p:spPr>
            <a:xfrm>
              <a:off x="8110099" y="1696720"/>
              <a:ext cx="9701" cy="4552515"/>
            </a:xfrm>
            <a:prstGeom prst="line">
              <a:avLst/>
            </a:prstGeom>
          </p:spPr>
          <p:style>
            <a:lnRef idx="3">
              <a:schemeClr val="dk1"/>
            </a:lnRef>
            <a:fillRef idx="0">
              <a:schemeClr val="dk1"/>
            </a:fillRef>
            <a:effectRef idx="2">
              <a:schemeClr val="dk1"/>
            </a:effectRef>
            <a:fontRef idx="minor">
              <a:schemeClr val="tx1"/>
            </a:fontRef>
          </p:style>
        </p:cxnSp>
        <p:sp>
          <p:nvSpPr>
            <p:cNvPr id="107" name="CasellaDiTesto 106">
              <a:extLst>
                <a:ext uri="{FF2B5EF4-FFF2-40B4-BE49-F238E27FC236}">
                  <a16:creationId xmlns:a16="http://schemas.microsoft.com/office/drawing/2014/main" id="{069FFD7E-C120-632A-9522-33EEE3BAF80D}"/>
                </a:ext>
              </a:extLst>
            </p:cNvPr>
            <p:cNvSpPr txBox="1"/>
            <p:nvPr/>
          </p:nvSpPr>
          <p:spPr>
            <a:xfrm>
              <a:off x="7571921" y="4161372"/>
              <a:ext cx="492443" cy="369332"/>
            </a:xfrm>
            <a:prstGeom prst="rect">
              <a:avLst/>
            </a:prstGeom>
            <a:noFill/>
          </p:spPr>
          <p:txBody>
            <a:bodyPr wrap="none" rtlCol="0">
              <a:spAutoFit/>
            </a:bodyPr>
            <a:lstStyle/>
            <a:p>
              <a:r>
                <a:rPr lang="it-IT" b="1" dirty="0"/>
                <a:t>NO</a:t>
              </a:r>
            </a:p>
          </p:txBody>
        </p:sp>
        <p:cxnSp>
          <p:nvCxnSpPr>
            <p:cNvPr id="108" name="Connettore 2 107">
              <a:extLst>
                <a:ext uri="{FF2B5EF4-FFF2-40B4-BE49-F238E27FC236}">
                  <a16:creationId xmlns:a16="http://schemas.microsoft.com/office/drawing/2014/main" id="{30F5B838-D3F4-1CDB-CA00-53F8E33149F9}"/>
                </a:ext>
              </a:extLst>
            </p:cNvPr>
            <p:cNvCxnSpPr>
              <a:cxnSpLocks/>
            </p:cNvCxnSpPr>
            <p:nvPr/>
          </p:nvCxnSpPr>
          <p:spPr>
            <a:xfrm flipV="1">
              <a:off x="8095914" y="1689901"/>
              <a:ext cx="841022" cy="681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00" name="CasellaDiTesto 99">
            <a:extLst>
              <a:ext uri="{FF2B5EF4-FFF2-40B4-BE49-F238E27FC236}">
                <a16:creationId xmlns:a16="http://schemas.microsoft.com/office/drawing/2014/main" id="{16B7C9CF-4845-4879-F867-0149E63FAA20}"/>
              </a:ext>
            </a:extLst>
          </p:cNvPr>
          <p:cNvSpPr txBox="1"/>
          <p:nvPr/>
        </p:nvSpPr>
        <p:spPr>
          <a:xfrm>
            <a:off x="4405621" y="1545868"/>
            <a:ext cx="9800709" cy="2585323"/>
          </a:xfrm>
          <a:prstGeom prst="rect">
            <a:avLst/>
          </a:prstGeom>
          <a:noFill/>
        </p:spPr>
        <p:txBody>
          <a:bodyPr wrap="square" rtlCol="0">
            <a:spAutoFit/>
          </a:bodyPr>
          <a:lstStyle/>
          <a:p>
            <a:r>
              <a:rPr lang="en-US" dirty="0">
                <a:solidFill>
                  <a:srgbClr val="0000FF"/>
                </a:solidFill>
                <a:latin typeface="Consolas" panose="020B0609020204030204" pitchFamily="49" charset="0"/>
              </a:rPr>
              <a:t>def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roulette_wheel_selection</a:t>
            </a:r>
            <a:r>
              <a:rPr lang="en-US" dirty="0">
                <a:solidFill>
                  <a:srgbClr val="000000"/>
                </a:solidFill>
                <a:latin typeface="Consolas" panose="020B0609020204030204" pitchFamily="49" charset="0"/>
              </a:rPr>
              <a:t>(population, </a:t>
            </a:r>
            <a:r>
              <a:rPr lang="en-US" dirty="0" err="1">
                <a:solidFill>
                  <a:srgbClr val="000000"/>
                </a:solidFill>
                <a:latin typeface="Consolas" panose="020B0609020204030204" pitchFamily="49" charset="0"/>
              </a:rPr>
              <a:t>fitness_values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num_selected</a:t>
            </a:r>
            <a:r>
              <a:rPr lang="en-US" dirty="0">
                <a:solidFill>
                  <a:srgbClr val="000000"/>
                </a:solidFill>
                <a:latin typeface="Consolas" panose="020B0609020204030204" pitchFamily="49" charset="0"/>
              </a:rPr>
              <a:t>):</a:t>
            </a:r>
          </a:p>
          <a:p>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285750" indent="-285750">
              <a:buFontTx/>
              <a:buChar char="-"/>
            </a:pPr>
            <a:r>
              <a:rPr lang="en-US" dirty="0">
                <a:solidFill>
                  <a:srgbClr val="000000"/>
                </a:solidFill>
                <a:latin typeface="Consolas" panose="020B0609020204030204" pitchFamily="49" charset="0"/>
              </a:rPr>
              <a:t>population: </a:t>
            </a:r>
            <a:r>
              <a:rPr lang="it-IT" dirty="0">
                <a:solidFill>
                  <a:srgbClr val="000000"/>
                </a:solidFill>
                <a:latin typeface="Consolas" panose="020B0609020204030204" pitchFamily="49" charset="0"/>
              </a:rPr>
              <a:t>rappresenta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l’insieme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degli</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individui</a:t>
            </a:r>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285750" indent="-285750">
              <a:buFontTx/>
              <a:buChar char="-"/>
            </a:pPr>
            <a:r>
              <a:rPr lang="en-US" dirty="0" err="1">
                <a:solidFill>
                  <a:srgbClr val="000000"/>
                </a:solidFill>
                <a:latin typeface="Consolas" panose="020B0609020204030204" pitchFamily="49" charset="0"/>
              </a:rPr>
              <a:t>fitness_values</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rappresenta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valori</a:t>
            </a:r>
            <a:r>
              <a:rPr lang="en-US" dirty="0">
                <a:solidFill>
                  <a:srgbClr val="000000"/>
                </a:solidFill>
                <a:latin typeface="Consolas" panose="020B0609020204030204" pitchFamily="49" charset="0"/>
              </a:rPr>
              <a:t> di fitness per </a:t>
            </a:r>
            <a:r>
              <a:rPr lang="en-US" dirty="0" err="1">
                <a:solidFill>
                  <a:srgbClr val="000000"/>
                </a:solidFill>
                <a:latin typeface="Consolas" panose="020B0609020204030204" pitchFamily="49" charset="0"/>
              </a:rPr>
              <a:t>ciascun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individuo</a:t>
            </a:r>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285750" indent="-285750">
              <a:buFontTx/>
              <a:buChar char="-"/>
            </a:pPr>
            <a:r>
              <a:rPr lang="en-US" dirty="0" err="1">
                <a:solidFill>
                  <a:srgbClr val="000000"/>
                </a:solidFill>
                <a:latin typeface="Consolas" panose="020B0609020204030204" pitchFamily="49" charset="0"/>
              </a:rPr>
              <a:t>num_selected</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numero</a:t>
            </a:r>
            <a:r>
              <a:rPr lang="en-US" dirty="0">
                <a:solidFill>
                  <a:srgbClr val="000000"/>
                </a:solidFill>
                <a:latin typeface="Consolas" panose="020B0609020204030204" pitchFamily="49" charset="0"/>
              </a:rPr>
              <a:t> di </a:t>
            </a:r>
            <a:r>
              <a:rPr lang="en-US" dirty="0" err="1">
                <a:solidFill>
                  <a:srgbClr val="000000"/>
                </a:solidFill>
                <a:latin typeface="Consolas" panose="020B0609020204030204" pitchFamily="49" charset="0"/>
              </a:rPr>
              <a:t>selezioni</a:t>
            </a:r>
            <a:r>
              <a:rPr lang="en-US" dirty="0">
                <a:solidFill>
                  <a:srgbClr val="000000"/>
                </a:solidFill>
                <a:latin typeface="Consolas" panose="020B0609020204030204" pitchFamily="49" charset="0"/>
              </a:rPr>
              <a:t> da fare (</a:t>
            </a:r>
            <a:r>
              <a:rPr lang="en-US" dirty="0" err="1">
                <a:solidFill>
                  <a:srgbClr val="000000"/>
                </a:solidFill>
                <a:latin typeface="Consolas" panose="020B0609020204030204" pitchFamily="49" charset="0"/>
              </a:rPr>
              <a:t>pari</a:t>
            </a:r>
            <a:r>
              <a:rPr lang="en-US" dirty="0">
                <a:solidFill>
                  <a:srgbClr val="000000"/>
                </a:solidFill>
                <a:latin typeface="Consolas" panose="020B0609020204030204" pitchFamily="49" charset="0"/>
              </a:rPr>
              <a:t> circa </a:t>
            </a:r>
            <a:r>
              <a:rPr lang="en-US" dirty="0" err="1">
                <a:solidFill>
                  <a:srgbClr val="000000"/>
                </a:solidFill>
                <a:latin typeface="Consolas" panose="020B0609020204030204" pitchFamily="49" charset="0"/>
              </a:rPr>
              <a:t>alla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metà</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della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popolazione</a:t>
            </a:r>
            <a:r>
              <a:rPr lang="en-US" dirty="0">
                <a:solidFill>
                  <a:srgbClr val="000000"/>
                </a:solidFill>
                <a:latin typeface="Consolas" panose="020B0609020204030204" pitchFamily="49" charset="0"/>
              </a:rPr>
              <a:t>)</a:t>
            </a:r>
          </a:p>
        </p:txBody>
      </p:sp>
      <p:sp>
        <p:nvSpPr>
          <p:cNvPr id="101" name="Text 0">
            <a:extLst>
              <a:ext uri="{FF2B5EF4-FFF2-40B4-BE49-F238E27FC236}">
                <a16:creationId xmlns:a16="http://schemas.microsoft.com/office/drawing/2014/main" id="{0A6DCA76-C82E-A3B9-357F-42B4C90BF166}"/>
              </a:ext>
            </a:extLst>
          </p:cNvPr>
          <p:cNvSpPr/>
          <p:nvPr/>
        </p:nvSpPr>
        <p:spPr>
          <a:xfrm>
            <a:off x="4295518" y="16991"/>
            <a:ext cx="10039503" cy="724225"/>
          </a:xfrm>
          <a:prstGeom prst="rect">
            <a:avLst/>
          </a:prstGeom>
        </p:spPr>
        <p:txBody>
          <a:bodyPr vert="horz" lIns="91440" tIns="45720" rIns="91440" bIns="45720" rtlCol="0" anchor="b">
            <a:normAutofit fontScale="77500" lnSpcReduction="20000"/>
          </a:bodyPr>
          <a:lstStyle/>
          <a:p>
            <a:pPr>
              <a:lnSpc>
                <a:spcPct val="90000"/>
              </a:lnSpc>
              <a:spcBef>
                <a:spcPct val="0"/>
              </a:spcBef>
              <a:spcAft>
                <a:spcPts val="600"/>
              </a:spcAft>
            </a:pPr>
            <a:r>
              <a:rPr lang="en-US" sz="5300" b="1" dirty="0">
                <a:solidFill>
                  <a:srgbClr val="231971"/>
                </a:solidFill>
                <a:latin typeface="Outfit Extra Bold" pitchFamily="34" charset="0"/>
              </a:rPr>
              <a:t>Flow</a:t>
            </a:r>
            <a:r>
              <a:rPr lang="en-US" sz="6200" b="1" dirty="0"/>
              <a:t> </a:t>
            </a:r>
            <a:r>
              <a:rPr lang="en-US" sz="5300" b="1" dirty="0">
                <a:solidFill>
                  <a:srgbClr val="231971"/>
                </a:solidFill>
                <a:latin typeface="Outfit Extra Bold" pitchFamily="34" charset="0"/>
              </a:rPr>
              <a:t>Chart </a:t>
            </a:r>
            <a:r>
              <a:rPr lang="en-US" sz="5300" b="1" dirty="0" err="1">
                <a:solidFill>
                  <a:srgbClr val="231971"/>
                </a:solidFill>
                <a:latin typeface="Outfit Extra Bold" pitchFamily="34" charset="0"/>
              </a:rPr>
              <a:t>Algoritmo</a:t>
            </a:r>
            <a:r>
              <a:rPr lang="en-US" sz="5300" b="1" dirty="0">
                <a:solidFill>
                  <a:srgbClr val="231971"/>
                </a:solidFill>
                <a:latin typeface="Outfit Extra Bold" pitchFamily="34" charset="0"/>
              </a:rPr>
              <a:t> </a:t>
            </a:r>
            <a:r>
              <a:rPr lang="en-US" sz="5300" b="1" dirty="0" err="1">
                <a:solidFill>
                  <a:srgbClr val="231971"/>
                </a:solidFill>
                <a:latin typeface="Outfit Extra Bold" pitchFamily="34" charset="0"/>
              </a:rPr>
              <a:t>Genetico</a:t>
            </a:r>
            <a:r>
              <a:rPr lang="en-US" sz="5300" b="1" dirty="0">
                <a:solidFill>
                  <a:srgbClr val="231971"/>
                </a:solidFill>
                <a:latin typeface="Outfit Extra Bold" pitchFamily="34" charset="0"/>
              </a:rPr>
              <a:t> : </a:t>
            </a:r>
            <a:r>
              <a:rPr lang="en-US" sz="5300" b="1" dirty="0" err="1">
                <a:solidFill>
                  <a:srgbClr val="231971"/>
                </a:solidFill>
                <a:latin typeface="Outfit Extra Bold" pitchFamily="34" charset="0"/>
              </a:rPr>
              <a:t>Selezione</a:t>
            </a:r>
            <a:endParaRPr lang="en-US" sz="5300" b="1" dirty="0">
              <a:solidFill>
                <a:srgbClr val="231971"/>
              </a:solidFill>
              <a:latin typeface="Outfit Extra Bold" pitchFamily="34" charset="0"/>
            </a:endParaRPr>
          </a:p>
        </p:txBody>
      </p:sp>
      <p:sp>
        <p:nvSpPr>
          <p:cNvPr id="2" name="Text 0">
            <a:extLst>
              <a:ext uri="{FF2B5EF4-FFF2-40B4-BE49-F238E27FC236}">
                <a16:creationId xmlns:a16="http://schemas.microsoft.com/office/drawing/2014/main" id="{044F033C-3B7D-6F06-2BFC-01F941434B2E}"/>
              </a:ext>
            </a:extLst>
          </p:cNvPr>
          <p:cNvSpPr/>
          <p:nvPr/>
        </p:nvSpPr>
        <p:spPr>
          <a:xfrm>
            <a:off x="4295518" y="204531"/>
            <a:ext cx="10039503" cy="987038"/>
          </a:xfrm>
          <a:prstGeom prst="rect">
            <a:avLst/>
          </a:prstGeom>
        </p:spPr>
        <p:txBody>
          <a:bodyPr vert="horz" lIns="91440" tIns="45720" rIns="91440" bIns="45720" rtlCol="0" anchor="b">
            <a:normAutofit/>
          </a:bodyPr>
          <a:lstStyle/>
          <a:p>
            <a:pPr>
              <a:lnSpc>
                <a:spcPct val="90000"/>
              </a:lnSpc>
              <a:spcBef>
                <a:spcPct val="0"/>
              </a:spcBef>
              <a:spcAft>
                <a:spcPts val="600"/>
              </a:spcAft>
            </a:pPr>
            <a:endParaRPr lang="en-US" sz="5300" b="1" dirty="0">
              <a:solidFill>
                <a:srgbClr val="231971"/>
              </a:solidFill>
              <a:latin typeface="Outfit Extra Bold" pitchFamily="34" charset="0"/>
            </a:endParaRPr>
          </a:p>
        </p:txBody>
      </p:sp>
      <p:sp>
        <p:nvSpPr>
          <p:cNvPr id="36" name="Ovale 35">
            <a:extLst>
              <a:ext uri="{FF2B5EF4-FFF2-40B4-BE49-F238E27FC236}">
                <a16:creationId xmlns:a16="http://schemas.microsoft.com/office/drawing/2014/main" id="{60F72609-5F2E-AF39-93AA-F7E4DB2B6F51}"/>
              </a:ext>
            </a:extLst>
          </p:cNvPr>
          <p:cNvSpPr/>
          <p:nvPr/>
        </p:nvSpPr>
        <p:spPr>
          <a:xfrm>
            <a:off x="1467476" y="1341675"/>
            <a:ext cx="2362190" cy="7997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Tree>
    <p:extLst>
      <p:ext uri="{BB962C8B-B14F-4D97-AF65-F5344CB8AC3E}">
        <p14:creationId xmlns:p14="http://schemas.microsoft.com/office/powerpoint/2010/main" val="269182164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0-#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500" fill="hold"/>
                                        <p:tgtEl>
                                          <p:spTgt spid="100"/>
                                        </p:tgtEl>
                                        <p:attrNameLst>
                                          <p:attrName>ppt_x</p:attrName>
                                        </p:attrNameLst>
                                      </p:cBhvr>
                                      <p:tavLst>
                                        <p:tav tm="0">
                                          <p:val>
                                            <p:strVal val="1+#ppt_w/2"/>
                                          </p:val>
                                        </p:tav>
                                        <p:tav tm="100000">
                                          <p:val>
                                            <p:strVal val="#ppt_x"/>
                                          </p:val>
                                        </p:tav>
                                      </p:tavLst>
                                    </p:anim>
                                    <p:anim calcmode="lin" valueType="num">
                                      <p:cBhvr additive="base">
                                        <p:cTn id="14" dur="500" fill="hold"/>
                                        <p:tgtEl>
                                          <p:spTgt spid="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3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 name="Gruppo 101">
            <a:extLst>
              <a:ext uri="{FF2B5EF4-FFF2-40B4-BE49-F238E27FC236}">
                <a16:creationId xmlns:a16="http://schemas.microsoft.com/office/drawing/2014/main" id="{DF5A50D6-9C4F-FBD0-05BE-1DE1FAB080F1}"/>
              </a:ext>
            </a:extLst>
          </p:cNvPr>
          <p:cNvGrpSpPr/>
          <p:nvPr/>
        </p:nvGrpSpPr>
        <p:grpSpPr>
          <a:xfrm>
            <a:off x="128545" y="99421"/>
            <a:ext cx="4028661" cy="8030757"/>
            <a:chOff x="7571921" y="285735"/>
            <a:chExt cx="3820507" cy="7657613"/>
          </a:xfrm>
        </p:grpSpPr>
        <p:grpSp>
          <p:nvGrpSpPr>
            <p:cNvPr id="103" name="Gruppo 102">
              <a:extLst>
                <a:ext uri="{FF2B5EF4-FFF2-40B4-BE49-F238E27FC236}">
                  <a16:creationId xmlns:a16="http://schemas.microsoft.com/office/drawing/2014/main" id="{90D2FAC3-6AAA-E985-8672-5E5EA21D4AD2}"/>
                </a:ext>
              </a:extLst>
            </p:cNvPr>
            <p:cNvGrpSpPr/>
            <p:nvPr/>
          </p:nvGrpSpPr>
          <p:grpSpPr>
            <a:xfrm>
              <a:off x="8914630" y="285735"/>
              <a:ext cx="2477798" cy="7657613"/>
              <a:chOff x="6739520" y="83634"/>
              <a:chExt cx="2477798" cy="7657613"/>
            </a:xfrm>
          </p:grpSpPr>
          <p:sp>
            <p:nvSpPr>
              <p:cNvPr id="109" name="Rettangolo con angoli arrotondati 108">
                <a:extLst>
                  <a:ext uri="{FF2B5EF4-FFF2-40B4-BE49-F238E27FC236}">
                    <a16:creationId xmlns:a16="http://schemas.microsoft.com/office/drawing/2014/main" id="{F1929A8A-C9BD-3970-A8F6-FC2B55D6F8BB}"/>
                  </a:ext>
                </a:extLst>
              </p:cNvPr>
              <p:cNvSpPr/>
              <p:nvPr/>
            </p:nvSpPr>
            <p:spPr>
              <a:xfrm>
                <a:off x="7337503" y="83634"/>
                <a:ext cx="892098" cy="260191"/>
              </a:xfrm>
              <a:prstGeom prst="roundRect">
                <a:avLst/>
              </a:prstGeom>
              <a:solidFill>
                <a:srgbClr val="54E8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INIZIO</a:t>
                </a:r>
              </a:p>
            </p:txBody>
          </p:sp>
          <p:sp>
            <p:nvSpPr>
              <p:cNvPr id="110" name="Rettangolo 109">
                <a:extLst>
                  <a:ext uri="{FF2B5EF4-FFF2-40B4-BE49-F238E27FC236}">
                    <a16:creationId xmlns:a16="http://schemas.microsoft.com/office/drawing/2014/main" id="{633BF5EF-28B6-8106-B6A6-29EE03E4A774}"/>
                  </a:ext>
                </a:extLst>
              </p:cNvPr>
              <p:cNvSpPr/>
              <p:nvPr/>
            </p:nvSpPr>
            <p:spPr>
              <a:xfrm>
                <a:off x="6739524" y="624943"/>
                <a:ext cx="2065751" cy="43861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Genera la popolazione iniziale</a:t>
                </a:r>
              </a:p>
            </p:txBody>
          </p:sp>
          <p:cxnSp>
            <p:nvCxnSpPr>
              <p:cNvPr id="111" name="Connettore 2 110">
                <a:extLst>
                  <a:ext uri="{FF2B5EF4-FFF2-40B4-BE49-F238E27FC236}">
                    <a16:creationId xmlns:a16="http://schemas.microsoft.com/office/drawing/2014/main" id="{32FCD466-4184-BA3B-7791-2D5C2608DEFC}"/>
                  </a:ext>
                </a:extLst>
              </p:cNvPr>
              <p:cNvCxnSpPr>
                <a:cxnSpLocks/>
              </p:cNvCxnSpPr>
              <p:nvPr/>
            </p:nvCxnSpPr>
            <p:spPr>
              <a:xfrm>
                <a:off x="7783551" y="1063554"/>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2" name="Rettangolo 111">
                <a:extLst>
                  <a:ext uri="{FF2B5EF4-FFF2-40B4-BE49-F238E27FC236}">
                    <a16:creationId xmlns:a16="http://schemas.microsoft.com/office/drawing/2014/main" id="{DDA21CF5-110F-0F6F-FCF4-88F190F0AB2B}"/>
                  </a:ext>
                </a:extLst>
              </p:cNvPr>
              <p:cNvSpPr/>
              <p:nvPr/>
            </p:nvSpPr>
            <p:spPr>
              <a:xfrm>
                <a:off x="6750673" y="1340948"/>
                <a:ext cx="2065756"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Selezione con il metodo della Roulette Wheel</a:t>
                </a:r>
              </a:p>
            </p:txBody>
          </p:sp>
          <p:sp>
            <p:nvSpPr>
              <p:cNvPr id="113" name="Rettangolo 112">
                <a:extLst>
                  <a:ext uri="{FF2B5EF4-FFF2-40B4-BE49-F238E27FC236}">
                    <a16:creationId xmlns:a16="http://schemas.microsoft.com/office/drawing/2014/main" id="{7EE8596C-54FC-3C24-F00F-6FC2311CAFA7}"/>
                  </a:ext>
                </a:extLst>
              </p:cNvPr>
              <p:cNvSpPr/>
              <p:nvPr/>
            </p:nvSpPr>
            <p:spPr>
              <a:xfrm>
                <a:off x="6739520" y="2221413"/>
                <a:ext cx="2076909" cy="45534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Crossover (Riproduzione) di tipo additivo</a:t>
                </a:r>
              </a:p>
            </p:txBody>
          </p:sp>
          <p:sp>
            <p:nvSpPr>
              <p:cNvPr id="114" name="Rettangolo 113">
                <a:extLst>
                  <a:ext uri="{FF2B5EF4-FFF2-40B4-BE49-F238E27FC236}">
                    <a16:creationId xmlns:a16="http://schemas.microsoft.com/office/drawing/2014/main" id="{1D502DBE-14FC-A317-7AD7-8DE4DC34F90F}"/>
                  </a:ext>
                </a:extLst>
              </p:cNvPr>
              <p:cNvSpPr/>
              <p:nvPr/>
            </p:nvSpPr>
            <p:spPr>
              <a:xfrm>
                <a:off x="6750670" y="2949498"/>
                <a:ext cx="2065760" cy="39772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Mutazione</a:t>
                </a:r>
              </a:p>
            </p:txBody>
          </p:sp>
          <p:sp>
            <p:nvSpPr>
              <p:cNvPr id="115" name="Rettangolo 114">
                <a:extLst>
                  <a:ext uri="{FF2B5EF4-FFF2-40B4-BE49-F238E27FC236}">
                    <a16:creationId xmlns:a16="http://schemas.microsoft.com/office/drawing/2014/main" id="{7AA241E2-5A97-AB07-5669-9A7031D4C514}"/>
                  </a:ext>
                </a:extLst>
              </p:cNvPr>
              <p:cNvSpPr/>
              <p:nvPr/>
            </p:nvSpPr>
            <p:spPr>
              <a:xfrm>
                <a:off x="6750673" y="3624144"/>
                <a:ext cx="2065760"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Ordinamento in base ai valori della fitness</a:t>
                </a:r>
              </a:p>
            </p:txBody>
          </p:sp>
          <p:sp>
            <p:nvSpPr>
              <p:cNvPr id="116" name="Rombo 115">
                <a:extLst>
                  <a:ext uri="{FF2B5EF4-FFF2-40B4-BE49-F238E27FC236}">
                    <a16:creationId xmlns:a16="http://schemas.microsoft.com/office/drawing/2014/main" id="{6C1F1AA5-94F3-8095-55E3-641C2A3103EF}"/>
                  </a:ext>
                </a:extLst>
              </p:cNvPr>
              <p:cNvSpPr/>
              <p:nvPr/>
            </p:nvSpPr>
            <p:spPr>
              <a:xfrm>
                <a:off x="6901909" y="5616388"/>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chemeClr val="tx1"/>
                    </a:solidFill>
                  </a:rPr>
                  <a:t>Raggiunto il numero massimo di iterazioni?</a:t>
                </a:r>
              </a:p>
            </p:txBody>
          </p:sp>
          <p:sp>
            <p:nvSpPr>
              <p:cNvPr id="117" name="Rettangolo con angoli arrotondati 116">
                <a:extLst>
                  <a:ext uri="{FF2B5EF4-FFF2-40B4-BE49-F238E27FC236}">
                    <a16:creationId xmlns:a16="http://schemas.microsoft.com/office/drawing/2014/main" id="{0786692A-6BB7-09F6-CC46-FB31328BA121}"/>
                  </a:ext>
                </a:extLst>
              </p:cNvPr>
              <p:cNvSpPr/>
              <p:nvPr/>
            </p:nvSpPr>
            <p:spPr>
              <a:xfrm>
                <a:off x="7337503" y="7481056"/>
                <a:ext cx="892098" cy="26019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FINE</a:t>
                </a:r>
              </a:p>
            </p:txBody>
          </p:sp>
          <p:sp>
            <p:nvSpPr>
              <p:cNvPr id="118" name="Ovale 117">
                <a:extLst>
                  <a:ext uri="{FF2B5EF4-FFF2-40B4-BE49-F238E27FC236}">
                    <a16:creationId xmlns:a16="http://schemas.microsoft.com/office/drawing/2014/main" id="{C0B57881-1E07-3FC2-55B5-2757DE9989A9}"/>
                  </a:ext>
                </a:extLst>
              </p:cNvPr>
              <p:cNvSpPr/>
              <p:nvPr/>
            </p:nvSpPr>
            <p:spPr>
              <a:xfrm>
                <a:off x="7711068" y="6888652"/>
                <a:ext cx="122664" cy="12918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19" name="Connettore 2 118">
                <a:extLst>
                  <a:ext uri="{FF2B5EF4-FFF2-40B4-BE49-F238E27FC236}">
                    <a16:creationId xmlns:a16="http://schemas.microsoft.com/office/drawing/2014/main" id="{CDA71A44-0B24-B81C-9C62-32D22F66318D}"/>
                  </a:ext>
                </a:extLst>
              </p:cNvPr>
              <p:cNvCxnSpPr>
                <a:cxnSpLocks/>
              </p:cNvCxnSpPr>
              <p:nvPr/>
            </p:nvCxnSpPr>
            <p:spPr>
              <a:xfrm>
                <a:off x="7772400" y="34382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0" name="Connettore 2 119">
                <a:extLst>
                  <a:ext uri="{FF2B5EF4-FFF2-40B4-BE49-F238E27FC236}">
                    <a16:creationId xmlns:a16="http://schemas.microsoft.com/office/drawing/2014/main" id="{E958F8F1-A812-4A99-E898-91477E82FA66}"/>
                  </a:ext>
                </a:extLst>
              </p:cNvPr>
              <p:cNvCxnSpPr>
                <a:cxnSpLocks/>
              </p:cNvCxnSpPr>
              <p:nvPr/>
            </p:nvCxnSpPr>
            <p:spPr>
              <a:xfrm>
                <a:off x="7783552" y="1931963"/>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1" name="Connettore 2 120">
                <a:extLst>
                  <a:ext uri="{FF2B5EF4-FFF2-40B4-BE49-F238E27FC236}">
                    <a16:creationId xmlns:a16="http://schemas.microsoft.com/office/drawing/2014/main" id="{CF18C79F-FAD4-BB17-995F-1B95895C6E56}"/>
                  </a:ext>
                </a:extLst>
              </p:cNvPr>
              <p:cNvCxnSpPr>
                <a:cxnSpLocks/>
              </p:cNvCxnSpPr>
              <p:nvPr/>
            </p:nvCxnSpPr>
            <p:spPr>
              <a:xfrm>
                <a:off x="7783551" y="268185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2" name="Connettore 2 121">
                <a:extLst>
                  <a:ext uri="{FF2B5EF4-FFF2-40B4-BE49-F238E27FC236}">
                    <a16:creationId xmlns:a16="http://schemas.microsoft.com/office/drawing/2014/main" id="{26CD2CE6-7E7E-33FE-4F23-FE4CD8A37442}"/>
                  </a:ext>
                </a:extLst>
              </p:cNvPr>
              <p:cNvCxnSpPr>
                <a:cxnSpLocks/>
              </p:cNvCxnSpPr>
              <p:nvPr/>
            </p:nvCxnSpPr>
            <p:spPr>
              <a:xfrm>
                <a:off x="7783551" y="3350929"/>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3" name="Connettore 2 122">
                <a:extLst>
                  <a:ext uri="{FF2B5EF4-FFF2-40B4-BE49-F238E27FC236}">
                    <a16:creationId xmlns:a16="http://schemas.microsoft.com/office/drawing/2014/main" id="{91D95587-EE8D-CC84-74BE-068BBC6263D5}"/>
                  </a:ext>
                </a:extLst>
              </p:cNvPr>
              <p:cNvCxnSpPr>
                <a:cxnSpLocks/>
              </p:cNvCxnSpPr>
              <p:nvPr/>
            </p:nvCxnSpPr>
            <p:spPr>
              <a:xfrm>
                <a:off x="7783551" y="4231878"/>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4" name="Connettore 2 123">
                <a:extLst>
                  <a:ext uri="{FF2B5EF4-FFF2-40B4-BE49-F238E27FC236}">
                    <a16:creationId xmlns:a16="http://schemas.microsoft.com/office/drawing/2014/main" id="{45F2E393-7FB0-3DCE-64D6-D73925FE2FF5}"/>
                  </a:ext>
                </a:extLst>
              </p:cNvPr>
              <p:cNvCxnSpPr>
                <a:cxnSpLocks/>
              </p:cNvCxnSpPr>
              <p:nvPr/>
            </p:nvCxnSpPr>
            <p:spPr>
              <a:xfrm>
                <a:off x="7783551" y="534699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5" name="Connettore 2 124">
                <a:extLst>
                  <a:ext uri="{FF2B5EF4-FFF2-40B4-BE49-F238E27FC236}">
                    <a16:creationId xmlns:a16="http://schemas.microsoft.com/office/drawing/2014/main" id="{D5088DDB-8D84-AB8D-8E56-7E4D37BBA94B}"/>
                  </a:ext>
                </a:extLst>
              </p:cNvPr>
              <p:cNvCxnSpPr>
                <a:cxnSpLocks/>
                <a:endCxn id="118" idx="0"/>
              </p:cNvCxnSpPr>
              <p:nvPr/>
            </p:nvCxnSpPr>
            <p:spPr>
              <a:xfrm flipH="1">
                <a:off x="7772400" y="6480703"/>
                <a:ext cx="7433" cy="4079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6" name="Connettore 2 125">
                <a:extLst>
                  <a:ext uri="{FF2B5EF4-FFF2-40B4-BE49-F238E27FC236}">
                    <a16:creationId xmlns:a16="http://schemas.microsoft.com/office/drawing/2014/main" id="{A2709B9A-F489-E8D6-A07B-04B8EF9891A2}"/>
                  </a:ext>
                </a:extLst>
              </p:cNvPr>
              <p:cNvCxnSpPr>
                <a:cxnSpLocks/>
              </p:cNvCxnSpPr>
              <p:nvPr/>
            </p:nvCxnSpPr>
            <p:spPr>
              <a:xfrm>
                <a:off x="7783551" y="7017841"/>
                <a:ext cx="0" cy="456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7" name="Connettore diritto 126">
                <a:extLst>
                  <a:ext uri="{FF2B5EF4-FFF2-40B4-BE49-F238E27FC236}">
                    <a16:creationId xmlns:a16="http://schemas.microsoft.com/office/drawing/2014/main" id="{A553FC2B-E1F9-804F-1C1E-385CE2A04799}"/>
                  </a:ext>
                </a:extLst>
              </p:cNvPr>
              <p:cNvCxnSpPr>
                <a:cxnSpLocks/>
              </p:cNvCxnSpPr>
              <p:nvPr/>
            </p:nvCxnSpPr>
            <p:spPr>
              <a:xfrm flipV="1">
                <a:off x="8671605" y="4925109"/>
                <a:ext cx="545713" cy="1"/>
              </a:xfrm>
              <a:prstGeom prst="line">
                <a:avLst/>
              </a:prstGeom>
            </p:spPr>
            <p:style>
              <a:lnRef idx="3">
                <a:schemeClr val="dk1"/>
              </a:lnRef>
              <a:fillRef idx="0">
                <a:schemeClr val="dk1"/>
              </a:fillRef>
              <a:effectRef idx="2">
                <a:schemeClr val="dk1"/>
              </a:effectRef>
              <a:fontRef idx="minor">
                <a:schemeClr val="tx1"/>
              </a:fontRef>
            </p:style>
          </p:cxnSp>
          <p:cxnSp>
            <p:nvCxnSpPr>
              <p:cNvPr id="128" name="Connettore diritto 127">
                <a:extLst>
                  <a:ext uri="{FF2B5EF4-FFF2-40B4-BE49-F238E27FC236}">
                    <a16:creationId xmlns:a16="http://schemas.microsoft.com/office/drawing/2014/main" id="{7F6FC411-3F96-F5E7-E43F-40B3791AC94B}"/>
                  </a:ext>
                </a:extLst>
              </p:cNvPr>
              <p:cNvCxnSpPr>
                <a:cxnSpLocks/>
              </p:cNvCxnSpPr>
              <p:nvPr/>
            </p:nvCxnSpPr>
            <p:spPr>
              <a:xfrm>
                <a:off x="9210907" y="4925588"/>
                <a:ext cx="0" cy="2027659"/>
              </a:xfrm>
              <a:prstGeom prst="line">
                <a:avLst/>
              </a:prstGeom>
            </p:spPr>
            <p:style>
              <a:lnRef idx="3">
                <a:schemeClr val="dk1"/>
              </a:lnRef>
              <a:fillRef idx="0">
                <a:schemeClr val="dk1"/>
              </a:fillRef>
              <a:effectRef idx="2">
                <a:schemeClr val="dk1"/>
              </a:effectRef>
              <a:fontRef idx="minor">
                <a:schemeClr val="tx1"/>
              </a:fontRef>
            </p:style>
          </p:cxnSp>
          <p:cxnSp>
            <p:nvCxnSpPr>
              <p:cNvPr id="129" name="Connettore 2 128">
                <a:extLst>
                  <a:ext uri="{FF2B5EF4-FFF2-40B4-BE49-F238E27FC236}">
                    <a16:creationId xmlns:a16="http://schemas.microsoft.com/office/drawing/2014/main" id="{298BB7DF-4273-6E6F-4D94-536D4169880C}"/>
                  </a:ext>
                </a:extLst>
              </p:cNvPr>
              <p:cNvCxnSpPr>
                <a:cxnSpLocks/>
                <a:endCxn id="118" idx="6"/>
              </p:cNvCxnSpPr>
              <p:nvPr/>
            </p:nvCxnSpPr>
            <p:spPr>
              <a:xfrm flipH="1">
                <a:off x="7833732" y="6953247"/>
                <a:ext cx="137717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0" name="CasellaDiTesto 129">
                <a:extLst>
                  <a:ext uri="{FF2B5EF4-FFF2-40B4-BE49-F238E27FC236}">
                    <a16:creationId xmlns:a16="http://schemas.microsoft.com/office/drawing/2014/main" id="{66F97700-1C48-64F6-32F5-FFD721BFC0B1}"/>
                  </a:ext>
                </a:extLst>
              </p:cNvPr>
              <p:cNvSpPr txBox="1"/>
              <p:nvPr/>
            </p:nvSpPr>
            <p:spPr>
              <a:xfrm>
                <a:off x="8763964" y="4609229"/>
                <a:ext cx="354584" cy="369332"/>
              </a:xfrm>
              <a:prstGeom prst="rect">
                <a:avLst/>
              </a:prstGeom>
              <a:noFill/>
            </p:spPr>
            <p:txBody>
              <a:bodyPr wrap="none" rtlCol="0">
                <a:spAutoFit/>
              </a:bodyPr>
              <a:lstStyle/>
              <a:p>
                <a:r>
                  <a:rPr lang="it-IT" b="1" dirty="0"/>
                  <a:t>SI</a:t>
                </a:r>
              </a:p>
            </p:txBody>
          </p:sp>
          <p:sp>
            <p:nvSpPr>
              <p:cNvPr id="131" name="CasellaDiTesto 130">
                <a:extLst>
                  <a:ext uri="{FF2B5EF4-FFF2-40B4-BE49-F238E27FC236}">
                    <a16:creationId xmlns:a16="http://schemas.microsoft.com/office/drawing/2014/main" id="{B9DDE1AF-EE07-CC83-AB38-D844E8E12F03}"/>
                  </a:ext>
                </a:extLst>
              </p:cNvPr>
              <p:cNvSpPr txBox="1"/>
              <p:nvPr/>
            </p:nvSpPr>
            <p:spPr>
              <a:xfrm>
                <a:off x="7428968" y="6467266"/>
                <a:ext cx="354584" cy="369332"/>
              </a:xfrm>
              <a:prstGeom prst="rect">
                <a:avLst/>
              </a:prstGeom>
              <a:noFill/>
            </p:spPr>
            <p:txBody>
              <a:bodyPr wrap="none" rtlCol="0">
                <a:spAutoFit/>
              </a:bodyPr>
              <a:lstStyle/>
              <a:p>
                <a:r>
                  <a:rPr lang="it-IT" b="1" dirty="0"/>
                  <a:t>SI</a:t>
                </a:r>
              </a:p>
            </p:txBody>
          </p:sp>
          <p:sp>
            <p:nvSpPr>
              <p:cNvPr id="132" name="CasellaDiTesto 131">
                <a:extLst>
                  <a:ext uri="{FF2B5EF4-FFF2-40B4-BE49-F238E27FC236}">
                    <a16:creationId xmlns:a16="http://schemas.microsoft.com/office/drawing/2014/main" id="{23D15222-DD4C-2636-1660-3E08E9E23B8C}"/>
                  </a:ext>
                </a:extLst>
              </p:cNvPr>
              <p:cNvSpPr txBox="1"/>
              <p:nvPr/>
            </p:nvSpPr>
            <p:spPr>
              <a:xfrm>
                <a:off x="7772398" y="5266686"/>
                <a:ext cx="492443" cy="369332"/>
              </a:xfrm>
              <a:prstGeom prst="rect">
                <a:avLst/>
              </a:prstGeom>
              <a:noFill/>
            </p:spPr>
            <p:txBody>
              <a:bodyPr wrap="none" rtlCol="0">
                <a:spAutoFit/>
              </a:bodyPr>
              <a:lstStyle/>
              <a:p>
                <a:r>
                  <a:rPr lang="it-IT" b="1" dirty="0"/>
                  <a:t>NO</a:t>
                </a:r>
              </a:p>
            </p:txBody>
          </p:sp>
        </p:grpSp>
        <p:sp>
          <p:nvSpPr>
            <p:cNvPr id="104" name="Rombo 103">
              <a:extLst>
                <a:ext uri="{FF2B5EF4-FFF2-40B4-BE49-F238E27FC236}">
                  <a16:creationId xmlns:a16="http://schemas.microsoft.com/office/drawing/2014/main" id="{E5F8FC58-1FCF-2207-22DA-29C32D155F2B}"/>
                </a:ext>
              </a:extLst>
            </p:cNvPr>
            <p:cNvSpPr/>
            <p:nvPr/>
          </p:nvSpPr>
          <p:spPr>
            <a:xfrm>
              <a:off x="9083430" y="4691844"/>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Criterio di arresto verificato?</a:t>
              </a:r>
            </a:p>
          </p:txBody>
        </p:sp>
        <p:cxnSp>
          <p:nvCxnSpPr>
            <p:cNvPr id="105" name="Connettore diritto 104">
              <a:extLst>
                <a:ext uri="{FF2B5EF4-FFF2-40B4-BE49-F238E27FC236}">
                  <a16:creationId xmlns:a16="http://schemas.microsoft.com/office/drawing/2014/main" id="{C2FBCE13-DAFD-26B7-4538-A72850E398DC}"/>
                </a:ext>
              </a:extLst>
            </p:cNvPr>
            <p:cNvCxnSpPr>
              <a:cxnSpLocks/>
            </p:cNvCxnSpPr>
            <p:nvPr/>
          </p:nvCxnSpPr>
          <p:spPr>
            <a:xfrm>
              <a:off x="8110099" y="6249235"/>
              <a:ext cx="1004811" cy="0"/>
            </a:xfrm>
            <a:prstGeom prst="line">
              <a:avLst/>
            </a:prstGeom>
          </p:spPr>
          <p:style>
            <a:lnRef idx="3">
              <a:schemeClr val="dk1"/>
            </a:lnRef>
            <a:fillRef idx="0">
              <a:schemeClr val="dk1"/>
            </a:fillRef>
            <a:effectRef idx="2">
              <a:schemeClr val="dk1"/>
            </a:effectRef>
            <a:fontRef idx="minor">
              <a:schemeClr val="tx1"/>
            </a:fontRef>
          </p:style>
        </p:cxnSp>
        <p:cxnSp>
          <p:nvCxnSpPr>
            <p:cNvPr id="106" name="Connettore diritto 105">
              <a:extLst>
                <a:ext uri="{FF2B5EF4-FFF2-40B4-BE49-F238E27FC236}">
                  <a16:creationId xmlns:a16="http://schemas.microsoft.com/office/drawing/2014/main" id="{4210F940-10F2-51D6-2E40-1F6821F57D33}"/>
                </a:ext>
              </a:extLst>
            </p:cNvPr>
            <p:cNvCxnSpPr>
              <a:cxnSpLocks/>
            </p:cNvCxnSpPr>
            <p:nvPr/>
          </p:nvCxnSpPr>
          <p:spPr>
            <a:xfrm>
              <a:off x="8110099" y="1696720"/>
              <a:ext cx="9701" cy="4552515"/>
            </a:xfrm>
            <a:prstGeom prst="line">
              <a:avLst/>
            </a:prstGeom>
          </p:spPr>
          <p:style>
            <a:lnRef idx="3">
              <a:schemeClr val="dk1"/>
            </a:lnRef>
            <a:fillRef idx="0">
              <a:schemeClr val="dk1"/>
            </a:fillRef>
            <a:effectRef idx="2">
              <a:schemeClr val="dk1"/>
            </a:effectRef>
            <a:fontRef idx="minor">
              <a:schemeClr val="tx1"/>
            </a:fontRef>
          </p:style>
        </p:cxnSp>
        <p:sp>
          <p:nvSpPr>
            <p:cNvPr id="107" name="CasellaDiTesto 106">
              <a:extLst>
                <a:ext uri="{FF2B5EF4-FFF2-40B4-BE49-F238E27FC236}">
                  <a16:creationId xmlns:a16="http://schemas.microsoft.com/office/drawing/2014/main" id="{D9582E2B-552C-A6C3-C8E6-7E90992E0BB2}"/>
                </a:ext>
              </a:extLst>
            </p:cNvPr>
            <p:cNvSpPr txBox="1"/>
            <p:nvPr/>
          </p:nvSpPr>
          <p:spPr>
            <a:xfrm>
              <a:off x="7571921" y="4161372"/>
              <a:ext cx="492443" cy="369332"/>
            </a:xfrm>
            <a:prstGeom prst="rect">
              <a:avLst/>
            </a:prstGeom>
            <a:noFill/>
          </p:spPr>
          <p:txBody>
            <a:bodyPr wrap="none" rtlCol="0">
              <a:spAutoFit/>
            </a:bodyPr>
            <a:lstStyle/>
            <a:p>
              <a:r>
                <a:rPr lang="it-IT" b="1" dirty="0"/>
                <a:t>NO</a:t>
              </a:r>
            </a:p>
          </p:txBody>
        </p:sp>
        <p:cxnSp>
          <p:nvCxnSpPr>
            <p:cNvPr id="108" name="Connettore 2 107">
              <a:extLst>
                <a:ext uri="{FF2B5EF4-FFF2-40B4-BE49-F238E27FC236}">
                  <a16:creationId xmlns:a16="http://schemas.microsoft.com/office/drawing/2014/main" id="{22F3F384-6544-0933-0D38-B59F37650B0B}"/>
                </a:ext>
              </a:extLst>
            </p:cNvPr>
            <p:cNvCxnSpPr>
              <a:cxnSpLocks/>
            </p:cNvCxnSpPr>
            <p:nvPr/>
          </p:nvCxnSpPr>
          <p:spPr>
            <a:xfrm flipV="1">
              <a:off x="8095914" y="1689901"/>
              <a:ext cx="841022" cy="681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36" name="Ovale 35">
            <a:extLst>
              <a:ext uri="{FF2B5EF4-FFF2-40B4-BE49-F238E27FC236}">
                <a16:creationId xmlns:a16="http://schemas.microsoft.com/office/drawing/2014/main" id="{40F1038B-029E-3F8A-BB7D-539E7A31F5AA}"/>
              </a:ext>
            </a:extLst>
          </p:cNvPr>
          <p:cNvSpPr/>
          <p:nvPr/>
        </p:nvSpPr>
        <p:spPr>
          <a:xfrm>
            <a:off x="1452467" y="2198512"/>
            <a:ext cx="2362190" cy="7997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0" name="CasellaDiTesto 99">
            <a:extLst>
              <a:ext uri="{FF2B5EF4-FFF2-40B4-BE49-F238E27FC236}">
                <a16:creationId xmlns:a16="http://schemas.microsoft.com/office/drawing/2014/main" id="{3AC4CD5D-C298-1842-B068-3F7F3763A529}"/>
              </a:ext>
            </a:extLst>
          </p:cNvPr>
          <p:cNvSpPr txBox="1"/>
          <p:nvPr/>
        </p:nvSpPr>
        <p:spPr>
          <a:xfrm>
            <a:off x="4405621" y="1545868"/>
            <a:ext cx="9800709" cy="3970318"/>
          </a:xfrm>
          <a:prstGeom prst="rect">
            <a:avLst/>
          </a:prstGeom>
          <a:noFill/>
        </p:spPr>
        <p:txBody>
          <a:bodyPr wrap="square" rtlCol="0">
            <a:spAutoFit/>
          </a:bodyPr>
          <a:lstStyle/>
          <a:p>
            <a:r>
              <a:rPr lang="en-US" dirty="0">
                <a:solidFill>
                  <a:srgbClr val="0000FF"/>
                </a:solidFill>
                <a:latin typeface="Consolas" panose="020B0609020204030204" pitchFamily="49" charset="0"/>
              </a:rPr>
              <a:t>def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crossover_onepoint_with_validation</a:t>
            </a:r>
            <a:r>
              <a:rPr lang="en-US" dirty="0">
                <a:solidFill>
                  <a:srgbClr val="000000"/>
                </a:solidFill>
                <a:latin typeface="Consolas" panose="020B0609020204030204" pitchFamily="49" charset="0"/>
              </a:rPr>
              <a:t>(parent1, parent2, graph, </a:t>
            </a:r>
            <a:r>
              <a:rPr lang="en-US" dirty="0" err="1">
                <a:solidFill>
                  <a:srgbClr val="000000"/>
                </a:solidFill>
                <a:latin typeface="Consolas" panose="020B0609020204030204" pitchFamily="49" charset="0"/>
              </a:rPr>
              <a:t>autonomia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battery_threshold</a:t>
            </a:r>
            <a:r>
              <a:rPr lang="en-US" dirty="0">
                <a:solidFill>
                  <a:srgbClr val="000000"/>
                </a:solidFill>
                <a:latin typeface="Consolas" panose="020B0609020204030204" pitchFamily="49" charset="0"/>
              </a:rPr>
              <a:t>):</a:t>
            </a:r>
          </a:p>
          <a:p>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285750" indent="-285750">
              <a:buFontTx/>
              <a:buChar char="-"/>
            </a:pPr>
            <a:r>
              <a:rPr lang="en-US" dirty="0">
                <a:solidFill>
                  <a:srgbClr val="000000"/>
                </a:solidFill>
                <a:latin typeface="Consolas" panose="020B0609020204030204" pitchFamily="49" charset="0"/>
              </a:rPr>
              <a:t>parent1: </a:t>
            </a:r>
            <a:r>
              <a:rPr lang="it-IT" dirty="0">
                <a:solidFill>
                  <a:srgbClr val="000000"/>
                </a:solidFill>
                <a:latin typeface="Consolas" panose="020B0609020204030204" pitchFamily="49" charset="0"/>
              </a:rPr>
              <a:t>rappresenta</a:t>
            </a:r>
            <a:r>
              <a:rPr lang="en-US" dirty="0">
                <a:solidFill>
                  <a:srgbClr val="000000"/>
                </a:solidFill>
                <a:latin typeface="Consolas" panose="020B0609020204030204" pitchFamily="49" charset="0"/>
              </a:rPr>
              <a:t> il genitore1</a:t>
            </a:r>
          </a:p>
          <a:p>
            <a:endParaRPr lang="en-US" dirty="0">
              <a:solidFill>
                <a:srgbClr val="000000"/>
              </a:solidFill>
              <a:latin typeface="Consolas" panose="020B0609020204030204" pitchFamily="49" charset="0"/>
            </a:endParaRPr>
          </a:p>
          <a:p>
            <a:pPr marL="285750" indent="-285750">
              <a:buFontTx/>
              <a:buChar char="-"/>
            </a:pPr>
            <a:r>
              <a:rPr lang="en-US" dirty="0">
                <a:solidFill>
                  <a:srgbClr val="000000"/>
                </a:solidFill>
                <a:latin typeface="Consolas" panose="020B0609020204030204" pitchFamily="49" charset="0"/>
              </a:rPr>
              <a:t>Parent2: </a:t>
            </a:r>
            <a:r>
              <a:rPr lang="en-US" dirty="0" err="1">
                <a:solidFill>
                  <a:srgbClr val="000000"/>
                </a:solidFill>
                <a:latin typeface="Consolas" panose="020B0609020204030204" pitchFamily="49" charset="0"/>
              </a:rPr>
              <a:t>rappresenta</a:t>
            </a:r>
            <a:r>
              <a:rPr lang="en-US" dirty="0">
                <a:solidFill>
                  <a:srgbClr val="000000"/>
                </a:solidFill>
                <a:latin typeface="Consolas" panose="020B0609020204030204" pitchFamily="49" charset="0"/>
              </a:rPr>
              <a:t> il genitore2</a:t>
            </a:r>
          </a:p>
          <a:p>
            <a:endParaRPr lang="en-US" dirty="0">
              <a:solidFill>
                <a:srgbClr val="000000"/>
              </a:solidFill>
              <a:latin typeface="Consolas" panose="020B0609020204030204" pitchFamily="49" charset="0"/>
            </a:endParaRPr>
          </a:p>
          <a:p>
            <a:pPr marL="285750" indent="-285750">
              <a:buFontTx/>
              <a:buChar char="-"/>
            </a:pPr>
            <a:r>
              <a:rPr lang="en-US" dirty="0">
                <a:solidFill>
                  <a:srgbClr val="000000"/>
                </a:solidFill>
                <a:latin typeface="Consolas" panose="020B0609020204030204" pitchFamily="49" charset="0"/>
              </a:rPr>
              <a:t>Graph: </a:t>
            </a:r>
            <a:r>
              <a:rPr lang="en-US" dirty="0" err="1">
                <a:solidFill>
                  <a:srgbClr val="000000"/>
                </a:solidFill>
                <a:latin typeface="Consolas" panose="020B0609020204030204" pitchFamily="49" charset="0"/>
              </a:rPr>
              <a:t>contiene</a:t>
            </a:r>
            <a:r>
              <a:rPr lang="en-US" dirty="0">
                <a:solidFill>
                  <a:srgbClr val="000000"/>
                </a:solidFill>
                <a:latin typeface="Consolas" panose="020B0609020204030204" pitchFamily="49" charset="0"/>
              </a:rPr>
              <a:t> la rete </a:t>
            </a:r>
            <a:r>
              <a:rPr lang="en-US" dirty="0" err="1">
                <a:solidFill>
                  <a:srgbClr val="000000"/>
                </a:solidFill>
                <a:latin typeface="Consolas" panose="020B0609020204030204" pitchFamily="49" charset="0"/>
              </a:rPr>
              <a:t>stradale</a:t>
            </a:r>
            <a:r>
              <a:rPr lang="en-US" dirty="0">
                <a:solidFill>
                  <a:srgbClr val="000000"/>
                </a:solidFill>
                <a:latin typeface="Consolas" panose="020B0609020204030204" pitchFamily="49" charset="0"/>
              </a:rPr>
              <a:t> con le </a:t>
            </a:r>
            <a:r>
              <a:rPr lang="en-US" dirty="0" err="1">
                <a:solidFill>
                  <a:srgbClr val="000000"/>
                </a:solidFill>
                <a:latin typeface="Consolas" panose="020B0609020204030204" pitchFamily="49" charset="0"/>
              </a:rPr>
              <a:t>stazioni</a:t>
            </a:r>
            <a:r>
              <a:rPr lang="en-US" dirty="0">
                <a:solidFill>
                  <a:srgbClr val="000000"/>
                </a:solidFill>
                <a:latin typeface="Consolas" panose="020B0609020204030204" pitchFamily="49" charset="0"/>
              </a:rPr>
              <a:t> di </a:t>
            </a:r>
            <a:r>
              <a:rPr lang="en-US" dirty="0" err="1">
                <a:solidFill>
                  <a:srgbClr val="000000"/>
                </a:solidFill>
                <a:latin typeface="Consolas" panose="020B0609020204030204" pitchFamily="49" charset="0"/>
              </a:rPr>
              <a:t>ricarica</a:t>
            </a:r>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285750" indent="-285750">
              <a:buFontTx/>
              <a:buChar char="-"/>
            </a:pPr>
            <a:r>
              <a:rPr lang="en-US" dirty="0" err="1">
                <a:solidFill>
                  <a:srgbClr val="000000"/>
                </a:solidFill>
                <a:latin typeface="Consolas" panose="020B0609020204030204" pitchFamily="49" charset="0"/>
              </a:rPr>
              <a:t>Autonomia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rappresenta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l’autonomia</a:t>
            </a:r>
            <a:r>
              <a:rPr lang="en-US" dirty="0">
                <a:solidFill>
                  <a:srgbClr val="000000"/>
                </a:solidFill>
                <a:latin typeface="Consolas" panose="020B0609020204030204" pitchFamily="49" charset="0"/>
              </a:rPr>
              <a:t> del </a:t>
            </a:r>
            <a:r>
              <a:rPr lang="en-US" dirty="0" err="1">
                <a:solidFill>
                  <a:srgbClr val="000000"/>
                </a:solidFill>
                <a:latin typeface="Consolas" panose="020B0609020204030204" pitchFamily="49" charset="0"/>
              </a:rPr>
              <a:t>veicolo</a:t>
            </a:r>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285750" indent="-285750">
              <a:buFontTx/>
              <a:buChar char="-"/>
            </a:pPr>
            <a:r>
              <a:rPr lang="en-US" dirty="0" err="1">
                <a:solidFill>
                  <a:srgbClr val="000000"/>
                </a:solidFill>
                <a:latin typeface="Consolas" panose="020B0609020204030204" pitchFamily="49" charset="0"/>
              </a:rPr>
              <a:t>battery_threshold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rappresenta</a:t>
            </a:r>
            <a:r>
              <a:rPr lang="en-US" dirty="0">
                <a:solidFill>
                  <a:srgbClr val="000000"/>
                </a:solidFill>
                <a:latin typeface="Consolas" panose="020B0609020204030204" pitchFamily="49" charset="0"/>
              </a:rPr>
              <a:t> la </a:t>
            </a:r>
            <a:r>
              <a:rPr lang="en-US" dirty="0" err="1">
                <a:solidFill>
                  <a:srgbClr val="000000"/>
                </a:solidFill>
                <a:latin typeface="Consolas" panose="020B0609020204030204" pitchFamily="49" charset="0"/>
              </a:rPr>
              <a:t>soglia</a:t>
            </a:r>
            <a:r>
              <a:rPr lang="en-US" dirty="0">
                <a:solidFill>
                  <a:srgbClr val="000000"/>
                </a:solidFill>
                <a:latin typeface="Consolas" panose="020B0609020204030204" pitchFamily="49" charset="0"/>
              </a:rPr>
              <a:t> di </a:t>
            </a:r>
            <a:r>
              <a:rPr lang="en-US" dirty="0" err="1">
                <a:solidFill>
                  <a:srgbClr val="000000"/>
                </a:solidFill>
                <a:latin typeface="Consolas" panose="020B0609020204030204" pitchFamily="49" charset="0"/>
              </a:rPr>
              <a:t>batteria</a:t>
            </a:r>
            <a:r>
              <a:rPr lang="en-US" dirty="0">
                <a:solidFill>
                  <a:srgbClr val="000000"/>
                </a:solidFill>
                <a:latin typeface="Consolas" panose="020B0609020204030204" pitchFamily="49" charset="0"/>
              </a:rPr>
              <a:t> minima, </a:t>
            </a:r>
            <a:r>
              <a:rPr lang="en-US" dirty="0" err="1">
                <a:solidFill>
                  <a:srgbClr val="000000"/>
                </a:solidFill>
                <a:latin typeface="Consolas" panose="020B0609020204030204" pitchFamily="49" charset="0"/>
              </a:rPr>
              <a:t>oltre</a:t>
            </a:r>
            <a:r>
              <a:rPr lang="en-US" dirty="0">
                <a:solidFill>
                  <a:srgbClr val="000000"/>
                </a:solidFill>
                <a:latin typeface="Consolas" panose="020B0609020204030204" pitchFamily="49" charset="0"/>
              </a:rPr>
              <a:t> la quale </a:t>
            </a:r>
            <a:r>
              <a:rPr lang="en-US" dirty="0" err="1">
                <a:solidFill>
                  <a:srgbClr val="000000"/>
                </a:solidFill>
                <a:latin typeface="Consolas" panose="020B0609020204030204" pitchFamily="49" charset="0"/>
              </a:rPr>
              <a:t>cerca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una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stazione</a:t>
            </a:r>
            <a:r>
              <a:rPr lang="en-US" dirty="0">
                <a:solidFill>
                  <a:srgbClr val="000000"/>
                </a:solidFill>
                <a:latin typeface="Consolas" panose="020B0609020204030204" pitchFamily="49" charset="0"/>
              </a:rPr>
              <a:t> di </a:t>
            </a:r>
            <a:r>
              <a:rPr lang="en-US" dirty="0" err="1">
                <a:solidFill>
                  <a:srgbClr val="000000"/>
                </a:solidFill>
                <a:latin typeface="Consolas" panose="020B0609020204030204" pitchFamily="49" charset="0"/>
              </a:rPr>
              <a:t>ricarica</a:t>
            </a:r>
            <a:endParaRPr lang="en-US" dirty="0">
              <a:solidFill>
                <a:srgbClr val="000000"/>
              </a:solidFill>
              <a:latin typeface="Consolas" panose="020B0609020204030204" pitchFamily="49" charset="0"/>
            </a:endParaRPr>
          </a:p>
        </p:txBody>
      </p:sp>
      <p:sp>
        <p:nvSpPr>
          <p:cNvPr id="101" name="Text 0">
            <a:extLst>
              <a:ext uri="{FF2B5EF4-FFF2-40B4-BE49-F238E27FC236}">
                <a16:creationId xmlns:a16="http://schemas.microsoft.com/office/drawing/2014/main" id="{07ED42B1-A52C-DE17-762A-63A8FB864B1D}"/>
              </a:ext>
            </a:extLst>
          </p:cNvPr>
          <p:cNvSpPr/>
          <p:nvPr/>
        </p:nvSpPr>
        <p:spPr>
          <a:xfrm>
            <a:off x="4286223" y="0"/>
            <a:ext cx="10039503" cy="717532"/>
          </a:xfrm>
          <a:prstGeom prst="rect">
            <a:avLst/>
          </a:prstGeom>
        </p:spPr>
        <p:txBody>
          <a:bodyPr vert="horz" lIns="91440" tIns="45720" rIns="91440" bIns="45720" rtlCol="0" anchor="b">
            <a:normAutofit fontScale="70000" lnSpcReduction="20000"/>
          </a:bodyPr>
          <a:lstStyle/>
          <a:p>
            <a:pPr>
              <a:lnSpc>
                <a:spcPct val="90000"/>
              </a:lnSpc>
              <a:spcBef>
                <a:spcPct val="0"/>
              </a:spcBef>
              <a:spcAft>
                <a:spcPts val="600"/>
              </a:spcAft>
            </a:pPr>
            <a:r>
              <a:rPr lang="en-US" sz="5300" b="1" dirty="0">
                <a:solidFill>
                  <a:srgbClr val="231971"/>
                </a:solidFill>
                <a:latin typeface="Outfit Extra Bold" pitchFamily="34" charset="0"/>
              </a:rPr>
              <a:t>Flow</a:t>
            </a:r>
            <a:r>
              <a:rPr lang="en-US" sz="6200" b="1" dirty="0"/>
              <a:t> </a:t>
            </a:r>
            <a:r>
              <a:rPr lang="en-US" sz="5300" b="1" dirty="0">
                <a:solidFill>
                  <a:srgbClr val="231971"/>
                </a:solidFill>
                <a:latin typeface="Outfit Extra Bold" pitchFamily="34" charset="0"/>
              </a:rPr>
              <a:t>Chart </a:t>
            </a:r>
            <a:r>
              <a:rPr lang="en-US" sz="5300" b="1" dirty="0" err="1">
                <a:solidFill>
                  <a:srgbClr val="231971"/>
                </a:solidFill>
                <a:latin typeface="Outfit Extra Bold" pitchFamily="34" charset="0"/>
              </a:rPr>
              <a:t>Algoritmo</a:t>
            </a:r>
            <a:r>
              <a:rPr lang="en-US" sz="5300" b="1" dirty="0">
                <a:solidFill>
                  <a:srgbClr val="231971"/>
                </a:solidFill>
                <a:latin typeface="Outfit Extra Bold" pitchFamily="34" charset="0"/>
              </a:rPr>
              <a:t> </a:t>
            </a:r>
            <a:r>
              <a:rPr lang="en-US" sz="5300" b="1" dirty="0" err="1">
                <a:solidFill>
                  <a:srgbClr val="231971"/>
                </a:solidFill>
                <a:latin typeface="Outfit Extra Bold" pitchFamily="34" charset="0"/>
              </a:rPr>
              <a:t>Genetico</a:t>
            </a:r>
            <a:r>
              <a:rPr lang="en-US" sz="5300" b="1" dirty="0">
                <a:solidFill>
                  <a:srgbClr val="231971"/>
                </a:solidFill>
                <a:latin typeface="Outfit Extra Bold" pitchFamily="34" charset="0"/>
              </a:rPr>
              <a:t> : Crossover</a:t>
            </a:r>
          </a:p>
        </p:txBody>
      </p:sp>
    </p:spTree>
    <p:extLst>
      <p:ext uri="{BB962C8B-B14F-4D97-AF65-F5344CB8AC3E}">
        <p14:creationId xmlns:p14="http://schemas.microsoft.com/office/powerpoint/2010/main" val="327558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0-#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500" fill="hold"/>
                                        <p:tgtEl>
                                          <p:spTgt spid="100"/>
                                        </p:tgtEl>
                                        <p:attrNameLst>
                                          <p:attrName>ppt_x</p:attrName>
                                        </p:attrNameLst>
                                      </p:cBhvr>
                                      <p:tavLst>
                                        <p:tav tm="0">
                                          <p:val>
                                            <p:strVal val="1+#ppt_w/2"/>
                                          </p:val>
                                        </p:tav>
                                        <p:tav tm="100000">
                                          <p:val>
                                            <p:strVal val="#ppt_x"/>
                                          </p:val>
                                        </p:tav>
                                      </p:tavLst>
                                    </p:anim>
                                    <p:anim calcmode="lin" valueType="num">
                                      <p:cBhvr additive="base">
                                        <p:cTn id="14" dur="500" fill="hold"/>
                                        <p:tgtEl>
                                          <p:spTgt spid="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10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Gruppo 103">
            <a:extLst>
              <a:ext uri="{FF2B5EF4-FFF2-40B4-BE49-F238E27FC236}">
                <a16:creationId xmlns:a16="http://schemas.microsoft.com/office/drawing/2014/main" id="{A6A36208-536E-BDB9-9DF6-3772FAA249CF}"/>
              </a:ext>
            </a:extLst>
          </p:cNvPr>
          <p:cNvGrpSpPr/>
          <p:nvPr/>
        </p:nvGrpSpPr>
        <p:grpSpPr>
          <a:xfrm>
            <a:off x="128545" y="99421"/>
            <a:ext cx="4028661" cy="8030757"/>
            <a:chOff x="7571921" y="285735"/>
            <a:chExt cx="3820507" cy="7657613"/>
          </a:xfrm>
        </p:grpSpPr>
        <p:grpSp>
          <p:nvGrpSpPr>
            <p:cNvPr id="105" name="Gruppo 104">
              <a:extLst>
                <a:ext uri="{FF2B5EF4-FFF2-40B4-BE49-F238E27FC236}">
                  <a16:creationId xmlns:a16="http://schemas.microsoft.com/office/drawing/2014/main" id="{BFA60864-9BF1-45EE-B3C0-0DA3E72F56F9}"/>
                </a:ext>
              </a:extLst>
            </p:cNvPr>
            <p:cNvGrpSpPr/>
            <p:nvPr/>
          </p:nvGrpSpPr>
          <p:grpSpPr>
            <a:xfrm>
              <a:off x="8914630" y="285735"/>
              <a:ext cx="2477798" cy="7657613"/>
              <a:chOff x="6739520" y="83634"/>
              <a:chExt cx="2477798" cy="7657613"/>
            </a:xfrm>
          </p:grpSpPr>
          <p:sp>
            <p:nvSpPr>
              <p:cNvPr id="111" name="Rettangolo con angoli arrotondati 110">
                <a:extLst>
                  <a:ext uri="{FF2B5EF4-FFF2-40B4-BE49-F238E27FC236}">
                    <a16:creationId xmlns:a16="http://schemas.microsoft.com/office/drawing/2014/main" id="{86274353-D90D-2C3A-214F-4205BA71FCFE}"/>
                  </a:ext>
                </a:extLst>
              </p:cNvPr>
              <p:cNvSpPr/>
              <p:nvPr/>
            </p:nvSpPr>
            <p:spPr>
              <a:xfrm>
                <a:off x="7337503" y="83634"/>
                <a:ext cx="892098" cy="260191"/>
              </a:xfrm>
              <a:prstGeom prst="roundRect">
                <a:avLst/>
              </a:prstGeom>
              <a:solidFill>
                <a:srgbClr val="54E8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INIZIO</a:t>
                </a:r>
              </a:p>
            </p:txBody>
          </p:sp>
          <p:sp>
            <p:nvSpPr>
              <p:cNvPr id="112" name="Rettangolo 111">
                <a:extLst>
                  <a:ext uri="{FF2B5EF4-FFF2-40B4-BE49-F238E27FC236}">
                    <a16:creationId xmlns:a16="http://schemas.microsoft.com/office/drawing/2014/main" id="{BAA577F0-1736-0EAB-5FDE-E383E65DAD4D}"/>
                  </a:ext>
                </a:extLst>
              </p:cNvPr>
              <p:cNvSpPr/>
              <p:nvPr/>
            </p:nvSpPr>
            <p:spPr>
              <a:xfrm>
                <a:off x="6739524" y="624943"/>
                <a:ext cx="2065751" cy="43861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Genera la popolazione iniziale</a:t>
                </a:r>
              </a:p>
            </p:txBody>
          </p:sp>
          <p:cxnSp>
            <p:nvCxnSpPr>
              <p:cNvPr id="113" name="Connettore 2 112">
                <a:extLst>
                  <a:ext uri="{FF2B5EF4-FFF2-40B4-BE49-F238E27FC236}">
                    <a16:creationId xmlns:a16="http://schemas.microsoft.com/office/drawing/2014/main" id="{AFF82277-B9AB-FC43-7E62-3D460DD7902A}"/>
                  </a:ext>
                </a:extLst>
              </p:cNvPr>
              <p:cNvCxnSpPr>
                <a:cxnSpLocks/>
              </p:cNvCxnSpPr>
              <p:nvPr/>
            </p:nvCxnSpPr>
            <p:spPr>
              <a:xfrm>
                <a:off x="7783551" y="1063554"/>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4" name="Rettangolo 113">
                <a:extLst>
                  <a:ext uri="{FF2B5EF4-FFF2-40B4-BE49-F238E27FC236}">
                    <a16:creationId xmlns:a16="http://schemas.microsoft.com/office/drawing/2014/main" id="{3D6936A2-148B-F3C9-6637-CC5060CFBD84}"/>
                  </a:ext>
                </a:extLst>
              </p:cNvPr>
              <p:cNvSpPr/>
              <p:nvPr/>
            </p:nvSpPr>
            <p:spPr>
              <a:xfrm>
                <a:off x="6750673" y="1340948"/>
                <a:ext cx="2065756"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Selezione con il metodo della Roulette Wheel</a:t>
                </a:r>
              </a:p>
            </p:txBody>
          </p:sp>
          <p:sp>
            <p:nvSpPr>
              <p:cNvPr id="115" name="Rettangolo 114">
                <a:extLst>
                  <a:ext uri="{FF2B5EF4-FFF2-40B4-BE49-F238E27FC236}">
                    <a16:creationId xmlns:a16="http://schemas.microsoft.com/office/drawing/2014/main" id="{6A6C2F96-1B89-BBF3-E39A-E07A284E76E8}"/>
                  </a:ext>
                </a:extLst>
              </p:cNvPr>
              <p:cNvSpPr/>
              <p:nvPr/>
            </p:nvSpPr>
            <p:spPr>
              <a:xfrm>
                <a:off x="6739520" y="2221413"/>
                <a:ext cx="2076909" cy="45534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Crossover (Riproduzione) di tipo additivo</a:t>
                </a:r>
              </a:p>
            </p:txBody>
          </p:sp>
          <p:sp>
            <p:nvSpPr>
              <p:cNvPr id="116" name="Rettangolo 115">
                <a:extLst>
                  <a:ext uri="{FF2B5EF4-FFF2-40B4-BE49-F238E27FC236}">
                    <a16:creationId xmlns:a16="http://schemas.microsoft.com/office/drawing/2014/main" id="{4FFECB70-FDBC-49A6-C3E9-668B16A80C4F}"/>
                  </a:ext>
                </a:extLst>
              </p:cNvPr>
              <p:cNvSpPr/>
              <p:nvPr/>
            </p:nvSpPr>
            <p:spPr>
              <a:xfrm>
                <a:off x="6750670" y="2949498"/>
                <a:ext cx="2065760" cy="39772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Mutazione</a:t>
                </a:r>
              </a:p>
            </p:txBody>
          </p:sp>
          <p:sp>
            <p:nvSpPr>
              <p:cNvPr id="117" name="Rettangolo 116">
                <a:extLst>
                  <a:ext uri="{FF2B5EF4-FFF2-40B4-BE49-F238E27FC236}">
                    <a16:creationId xmlns:a16="http://schemas.microsoft.com/office/drawing/2014/main" id="{598723C1-FFA1-EA0B-D468-D6AD3EEB0B1B}"/>
                  </a:ext>
                </a:extLst>
              </p:cNvPr>
              <p:cNvSpPr/>
              <p:nvPr/>
            </p:nvSpPr>
            <p:spPr>
              <a:xfrm>
                <a:off x="6750673" y="3624144"/>
                <a:ext cx="2065760"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Ordinamento in base ai valori della fitness</a:t>
                </a:r>
              </a:p>
            </p:txBody>
          </p:sp>
          <p:sp>
            <p:nvSpPr>
              <p:cNvPr id="118" name="Rombo 117">
                <a:extLst>
                  <a:ext uri="{FF2B5EF4-FFF2-40B4-BE49-F238E27FC236}">
                    <a16:creationId xmlns:a16="http://schemas.microsoft.com/office/drawing/2014/main" id="{40C61454-A5A5-6414-ABC8-F1B0739598F5}"/>
                  </a:ext>
                </a:extLst>
              </p:cNvPr>
              <p:cNvSpPr/>
              <p:nvPr/>
            </p:nvSpPr>
            <p:spPr>
              <a:xfrm>
                <a:off x="6901909" y="5616388"/>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chemeClr val="tx1"/>
                    </a:solidFill>
                  </a:rPr>
                  <a:t>Raggiunto il numero massimo di iterazioni?</a:t>
                </a:r>
              </a:p>
            </p:txBody>
          </p:sp>
          <p:sp>
            <p:nvSpPr>
              <p:cNvPr id="119" name="Rettangolo con angoli arrotondati 118">
                <a:extLst>
                  <a:ext uri="{FF2B5EF4-FFF2-40B4-BE49-F238E27FC236}">
                    <a16:creationId xmlns:a16="http://schemas.microsoft.com/office/drawing/2014/main" id="{1F975DF3-1AD4-F375-F687-DA1504F08FA5}"/>
                  </a:ext>
                </a:extLst>
              </p:cNvPr>
              <p:cNvSpPr/>
              <p:nvPr/>
            </p:nvSpPr>
            <p:spPr>
              <a:xfrm>
                <a:off x="7337503" y="7481056"/>
                <a:ext cx="892098" cy="26019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FINE</a:t>
                </a:r>
              </a:p>
            </p:txBody>
          </p:sp>
          <p:sp>
            <p:nvSpPr>
              <p:cNvPr id="120" name="Ovale 119">
                <a:extLst>
                  <a:ext uri="{FF2B5EF4-FFF2-40B4-BE49-F238E27FC236}">
                    <a16:creationId xmlns:a16="http://schemas.microsoft.com/office/drawing/2014/main" id="{C62FAEEA-9D32-20FC-84A9-DEE0275E2223}"/>
                  </a:ext>
                </a:extLst>
              </p:cNvPr>
              <p:cNvSpPr/>
              <p:nvPr/>
            </p:nvSpPr>
            <p:spPr>
              <a:xfrm>
                <a:off x="7711068" y="6888652"/>
                <a:ext cx="122664" cy="12918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21" name="Connettore 2 120">
                <a:extLst>
                  <a:ext uri="{FF2B5EF4-FFF2-40B4-BE49-F238E27FC236}">
                    <a16:creationId xmlns:a16="http://schemas.microsoft.com/office/drawing/2014/main" id="{8A10EFC3-AE06-86D7-6D6A-0AD506D47881}"/>
                  </a:ext>
                </a:extLst>
              </p:cNvPr>
              <p:cNvCxnSpPr>
                <a:cxnSpLocks/>
              </p:cNvCxnSpPr>
              <p:nvPr/>
            </p:nvCxnSpPr>
            <p:spPr>
              <a:xfrm>
                <a:off x="7772400" y="34382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2" name="Connettore 2 121">
                <a:extLst>
                  <a:ext uri="{FF2B5EF4-FFF2-40B4-BE49-F238E27FC236}">
                    <a16:creationId xmlns:a16="http://schemas.microsoft.com/office/drawing/2014/main" id="{E686CCC1-04AC-4DB4-A220-D37F4A40AA48}"/>
                  </a:ext>
                </a:extLst>
              </p:cNvPr>
              <p:cNvCxnSpPr>
                <a:cxnSpLocks/>
              </p:cNvCxnSpPr>
              <p:nvPr/>
            </p:nvCxnSpPr>
            <p:spPr>
              <a:xfrm>
                <a:off x="7783552" y="1931963"/>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3" name="Connettore 2 122">
                <a:extLst>
                  <a:ext uri="{FF2B5EF4-FFF2-40B4-BE49-F238E27FC236}">
                    <a16:creationId xmlns:a16="http://schemas.microsoft.com/office/drawing/2014/main" id="{8573008F-9C4F-945A-D24B-FCD1F8FCA2E1}"/>
                  </a:ext>
                </a:extLst>
              </p:cNvPr>
              <p:cNvCxnSpPr>
                <a:cxnSpLocks/>
              </p:cNvCxnSpPr>
              <p:nvPr/>
            </p:nvCxnSpPr>
            <p:spPr>
              <a:xfrm>
                <a:off x="7783551" y="268185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4" name="Connettore 2 123">
                <a:extLst>
                  <a:ext uri="{FF2B5EF4-FFF2-40B4-BE49-F238E27FC236}">
                    <a16:creationId xmlns:a16="http://schemas.microsoft.com/office/drawing/2014/main" id="{2EDB7583-6DD4-57AC-62CC-22EAED883B71}"/>
                  </a:ext>
                </a:extLst>
              </p:cNvPr>
              <p:cNvCxnSpPr>
                <a:cxnSpLocks/>
              </p:cNvCxnSpPr>
              <p:nvPr/>
            </p:nvCxnSpPr>
            <p:spPr>
              <a:xfrm>
                <a:off x="7783551" y="3350929"/>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5" name="Connettore 2 124">
                <a:extLst>
                  <a:ext uri="{FF2B5EF4-FFF2-40B4-BE49-F238E27FC236}">
                    <a16:creationId xmlns:a16="http://schemas.microsoft.com/office/drawing/2014/main" id="{B2CF4D95-4ED8-B462-D084-25220CA540DD}"/>
                  </a:ext>
                </a:extLst>
              </p:cNvPr>
              <p:cNvCxnSpPr>
                <a:cxnSpLocks/>
              </p:cNvCxnSpPr>
              <p:nvPr/>
            </p:nvCxnSpPr>
            <p:spPr>
              <a:xfrm>
                <a:off x="7783551" y="4231878"/>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6" name="Connettore 2 125">
                <a:extLst>
                  <a:ext uri="{FF2B5EF4-FFF2-40B4-BE49-F238E27FC236}">
                    <a16:creationId xmlns:a16="http://schemas.microsoft.com/office/drawing/2014/main" id="{98AF30AD-17E7-6063-7644-A39F194EE99F}"/>
                  </a:ext>
                </a:extLst>
              </p:cNvPr>
              <p:cNvCxnSpPr>
                <a:cxnSpLocks/>
              </p:cNvCxnSpPr>
              <p:nvPr/>
            </p:nvCxnSpPr>
            <p:spPr>
              <a:xfrm>
                <a:off x="7783551" y="534699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7" name="Connettore 2 126">
                <a:extLst>
                  <a:ext uri="{FF2B5EF4-FFF2-40B4-BE49-F238E27FC236}">
                    <a16:creationId xmlns:a16="http://schemas.microsoft.com/office/drawing/2014/main" id="{BAD382FF-FCE5-7918-E5A9-9A428D993E90}"/>
                  </a:ext>
                </a:extLst>
              </p:cNvPr>
              <p:cNvCxnSpPr>
                <a:cxnSpLocks/>
                <a:endCxn id="120" idx="0"/>
              </p:cNvCxnSpPr>
              <p:nvPr/>
            </p:nvCxnSpPr>
            <p:spPr>
              <a:xfrm flipH="1">
                <a:off x="7772400" y="6480703"/>
                <a:ext cx="7433" cy="4079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8" name="Connettore 2 127">
                <a:extLst>
                  <a:ext uri="{FF2B5EF4-FFF2-40B4-BE49-F238E27FC236}">
                    <a16:creationId xmlns:a16="http://schemas.microsoft.com/office/drawing/2014/main" id="{4D78CFD8-436C-65DD-7CD4-01E0B140E9BA}"/>
                  </a:ext>
                </a:extLst>
              </p:cNvPr>
              <p:cNvCxnSpPr>
                <a:cxnSpLocks/>
              </p:cNvCxnSpPr>
              <p:nvPr/>
            </p:nvCxnSpPr>
            <p:spPr>
              <a:xfrm>
                <a:off x="7783551" y="7017841"/>
                <a:ext cx="0" cy="456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9" name="Connettore diritto 128">
                <a:extLst>
                  <a:ext uri="{FF2B5EF4-FFF2-40B4-BE49-F238E27FC236}">
                    <a16:creationId xmlns:a16="http://schemas.microsoft.com/office/drawing/2014/main" id="{B79EB30C-EBED-189C-745C-7F4FA0322064}"/>
                  </a:ext>
                </a:extLst>
              </p:cNvPr>
              <p:cNvCxnSpPr>
                <a:cxnSpLocks/>
              </p:cNvCxnSpPr>
              <p:nvPr/>
            </p:nvCxnSpPr>
            <p:spPr>
              <a:xfrm flipV="1">
                <a:off x="8671605" y="4925109"/>
                <a:ext cx="545713" cy="1"/>
              </a:xfrm>
              <a:prstGeom prst="line">
                <a:avLst/>
              </a:prstGeom>
            </p:spPr>
            <p:style>
              <a:lnRef idx="3">
                <a:schemeClr val="dk1"/>
              </a:lnRef>
              <a:fillRef idx="0">
                <a:schemeClr val="dk1"/>
              </a:fillRef>
              <a:effectRef idx="2">
                <a:schemeClr val="dk1"/>
              </a:effectRef>
              <a:fontRef idx="minor">
                <a:schemeClr val="tx1"/>
              </a:fontRef>
            </p:style>
          </p:cxnSp>
          <p:cxnSp>
            <p:nvCxnSpPr>
              <p:cNvPr id="130" name="Connettore diritto 129">
                <a:extLst>
                  <a:ext uri="{FF2B5EF4-FFF2-40B4-BE49-F238E27FC236}">
                    <a16:creationId xmlns:a16="http://schemas.microsoft.com/office/drawing/2014/main" id="{8125A9F9-BEA6-ACC4-2C84-0210821FE45A}"/>
                  </a:ext>
                </a:extLst>
              </p:cNvPr>
              <p:cNvCxnSpPr>
                <a:cxnSpLocks/>
              </p:cNvCxnSpPr>
              <p:nvPr/>
            </p:nvCxnSpPr>
            <p:spPr>
              <a:xfrm>
                <a:off x="9210907" y="4925588"/>
                <a:ext cx="0" cy="2027659"/>
              </a:xfrm>
              <a:prstGeom prst="line">
                <a:avLst/>
              </a:prstGeom>
            </p:spPr>
            <p:style>
              <a:lnRef idx="3">
                <a:schemeClr val="dk1"/>
              </a:lnRef>
              <a:fillRef idx="0">
                <a:schemeClr val="dk1"/>
              </a:fillRef>
              <a:effectRef idx="2">
                <a:schemeClr val="dk1"/>
              </a:effectRef>
              <a:fontRef idx="minor">
                <a:schemeClr val="tx1"/>
              </a:fontRef>
            </p:style>
          </p:cxnSp>
          <p:cxnSp>
            <p:nvCxnSpPr>
              <p:cNvPr id="131" name="Connettore 2 130">
                <a:extLst>
                  <a:ext uri="{FF2B5EF4-FFF2-40B4-BE49-F238E27FC236}">
                    <a16:creationId xmlns:a16="http://schemas.microsoft.com/office/drawing/2014/main" id="{35ECC565-28AF-8090-E692-D76065AEA7DB}"/>
                  </a:ext>
                </a:extLst>
              </p:cNvPr>
              <p:cNvCxnSpPr>
                <a:cxnSpLocks/>
                <a:endCxn id="120" idx="6"/>
              </p:cNvCxnSpPr>
              <p:nvPr/>
            </p:nvCxnSpPr>
            <p:spPr>
              <a:xfrm flipH="1">
                <a:off x="7833732" y="6953247"/>
                <a:ext cx="137717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2" name="CasellaDiTesto 131">
                <a:extLst>
                  <a:ext uri="{FF2B5EF4-FFF2-40B4-BE49-F238E27FC236}">
                    <a16:creationId xmlns:a16="http://schemas.microsoft.com/office/drawing/2014/main" id="{E6A0FC59-97C6-7D5B-3B94-451439CDA729}"/>
                  </a:ext>
                </a:extLst>
              </p:cNvPr>
              <p:cNvSpPr txBox="1"/>
              <p:nvPr/>
            </p:nvSpPr>
            <p:spPr>
              <a:xfrm>
                <a:off x="8763964" y="4609229"/>
                <a:ext cx="354584" cy="369332"/>
              </a:xfrm>
              <a:prstGeom prst="rect">
                <a:avLst/>
              </a:prstGeom>
              <a:noFill/>
            </p:spPr>
            <p:txBody>
              <a:bodyPr wrap="none" rtlCol="0">
                <a:spAutoFit/>
              </a:bodyPr>
              <a:lstStyle/>
              <a:p>
                <a:r>
                  <a:rPr lang="it-IT" b="1" dirty="0"/>
                  <a:t>SI</a:t>
                </a:r>
              </a:p>
            </p:txBody>
          </p:sp>
          <p:sp>
            <p:nvSpPr>
              <p:cNvPr id="133" name="CasellaDiTesto 132">
                <a:extLst>
                  <a:ext uri="{FF2B5EF4-FFF2-40B4-BE49-F238E27FC236}">
                    <a16:creationId xmlns:a16="http://schemas.microsoft.com/office/drawing/2014/main" id="{9E92E356-FD20-14AA-A181-20E425B29B9A}"/>
                  </a:ext>
                </a:extLst>
              </p:cNvPr>
              <p:cNvSpPr txBox="1"/>
              <p:nvPr/>
            </p:nvSpPr>
            <p:spPr>
              <a:xfrm>
                <a:off x="7428968" y="6467266"/>
                <a:ext cx="354584" cy="369332"/>
              </a:xfrm>
              <a:prstGeom prst="rect">
                <a:avLst/>
              </a:prstGeom>
              <a:noFill/>
            </p:spPr>
            <p:txBody>
              <a:bodyPr wrap="none" rtlCol="0">
                <a:spAutoFit/>
              </a:bodyPr>
              <a:lstStyle/>
              <a:p>
                <a:r>
                  <a:rPr lang="it-IT" b="1" dirty="0"/>
                  <a:t>SI</a:t>
                </a:r>
              </a:p>
            </p:txBody>
          </p:sp>
          <p:sp>
            <p:nvSpPr>
              <p:cNvPr id="134" name="CasellaDiTesto 133">
                <a:extLst>
                  <a:ext uri="{FF2B5EF4-FFF2-40B4-BE49-F238E27FC236}">
                    <a16:creationId xmlns:a16="http://schemas.microsoft.com/office/drawing/2014/main" id="{E6D89B8C-3F27-4E8E-0041-E0F0C972FDCB}"/>
                  </a:ext>
                </a:extLst>
              </p:cNvPr>
              <p:cNvSpPr txBox="1"/>
              <p:nvPr/>
            </p:nvSpPr>
            <p:spPr>
              <a:xfrm>
                <a:off x="7772398" y="5266686"/>
                <a:ext cx="492443" cy="369332"/>
              </a:xfrm>
              <a:prstGeom prst="rect">
                <a:avLst/>
              </a:prstGeom>
              <a:noFill/>
            </p:spPr>
            <p:txBody>
              <a:bodyPr wrap="none" rtlCol="0">
                <a:spAutoFit/>
              </a:bodyPr>
              <a:lstStyle/>
              <a:p>
                <a:r>
                  <a:rPr lang="it-IT" b="1" dirty="0"/>
                  <a:t>NO</a:t>
                </a:r>
              </a:p>
            </p:txBody>
          </p:sp>
        </p:grpSp>
        <p:sp>
          <p:nvSpPr>
            <p:cNvPr id="106" name="Rombo 105">
              <a:extLst>
                <a:ext uri="{FF2B5EF4-FFF2-40B4-BE49-F238E27FC236}">
                  <a16:creationId xmlns:a16="http://schemas.microsoft.com/office/drawing/2014/main" id="{5314C8DC-2259-F132-84A8-12852E4A7F7C}"/>
                </a:ext>
              </a:extLst>
            </p:cNvPr>
            <p:cNvSpPr/>
            <p:nvPr/>
          </p:nvSpPr>
          <p:spPr>
            <a:xfrm>
              <a:off x="9083430" y="4691844"/>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Criterio di arresto verificato?</a:t>
              </a:r>
            </a:p>
          </p:txBody>
        </p:sp>
        <p:cxnSp>
          <p:nvCxnSpPr>
            <p:cNvPr id="107" name="Connettore diritto 106">
              <a:extLst>
                <a:ext uri="{FF2B5EF4-FFF2-40B4-BE49-F238E27FC236}">
                  <a16:creationId xmlns:a16="http://schemas.microsoft.com/office/drawing/2014/main" id="{47405C1A-8C66-7D2F-8324-082BD7F55B7D}"/>
                </a:ext>
              </a:extLst>
            </p:cNvPr>
            <p:cNvCxnSpPr>
              <a:cxnSpLocks/>
            </p:cNvCxnSpPr>
            <p:nvPr/>
          </p:nvCxnSpPr>
          <p:spPr>
            <a:xfrm>
              <a:off x="8110099" y="6249235"/>
              <a:ext cx="1004811" cy="0"/>
            </a:xfrm>
            <a:prstGeom prst="line">
              <a:avLst/>
            </a:prstGeom>
          </p:spPr>
          <p:style>
            <a:lnRef idx="3">
              <a:schemeClr val="dk1"/>
            </a:lnRef>
            <a:fillRef idx="0">
              <a:schemeClr val="dk1"/>
            </a:fillRef>
            <a:effectRef idx="2">
              <a:schemeClr val="dk1"/>
            </a:effectRef>
            <a:fontRef idx="minor">
              <a:schemeClr val="tx1"/>
            </a:fontRef>
          </p:style>
        </p:cxnSp>
        <p:cxnSp>
          <p:nvCxnSpPr>
            <p:cNvPr id="108" name="Connettore diritto 107">
              <a:extLst>
                <a:ext uri="{FF2B5EF4-FFF2-40B4-BE49-F238E27FC236}">
                  <a16:creationId xmlns:a16="http://schemas.microsoft.com/office/drawing/2014/main" id="{25292CB4-B485-B984-B43D-374B4529DD0C}"/>
                </a:ext>
              </a:extLst>
            </p:cNvPr>
            <p:cNvCxnSpPr>
              <a:cxnSpLocks/>
            </p:cNvCxnSpPr>
            <p:nvPr/>
          </p:nvCxnSpPr>
          <p:spPr>
            <a:xfrm>
              <a:off x="8110099" y="1696720"/>
              <a:ext cx="9701" cy="4552515"/>
            </a:xfrm>
            <a:prstGeom prst="line">
              <a:avLst/>
            </a:prstGeom>
          </p:spPr>
          <p:style>
            <a:lnRef idx="3">
              <a:schemeClr val="dk1"/>
            </a:lnRef>
            <a:fillRef idx="0">
              <a:schemeClr val="dk1"/>
            </a:fillRef>
            <a:effectRef idx="2">
              <a:schemeClr val="dk1"/>
            </a:effectRef>
            <a:fontRef idx="minor">
              <a:schemeClr val="tx1"/>
            </a:fontRef>
          </p:style>
        </p:cxnSp>
        <p:sp>
          <p:nvSpPr>
            <p:cNvPr id="109" name="CasellaDiTesto 108">
              <a:extLst>
                <a:ext uri="{FF2B5EF4-FFF2-40B4-BE49-F238E27FC236}">
                  <a16:creationId xmlns:a16="http://schemas.microsoft.com/office/drawing/2014/main" id="{11B845D0-3388-24AD-3679-BAD5C0A19AB7}"/>
                </a:ext>
              </a:extLst>
            </p:cNvPr>
            <p:cNvSpPr txBox="1"/>
            <p:nvPr/>
          </p:nvSpPr>
          <p:spPr>
            <a:xfrm>
              <a:off x="7571921" y="4161372"/>
              <a:ext cx="492443" cy="369332"/>
            </a:xfrm>
            <a:prstGeom prst="rect">
              <a:avLst/>
            </a:prstGeom>
            <a:noFill/>
          </p:spPr>
          <p:txBody>
            <a:bodyPr wrap="none" rtlCol="0">
              <a:spAutoFit/>
            </a:bodyPr>
            <a:lstStyle/>
            <a:p>
              <a:r>
                <a:rPr lang="it-IT" b="1" dirty="0"/>
                <a:t>NO</a:t>
              </a:r>
            </a:p>
          </p:txBody>
        </p:sp>
        <p:cxnSp>
          <p:nvCxnSpPr>
            <p:cNvPr id="110" name="Connettore 2 109">
              <a:extLst>
                <a:ext uri="{FF2B5EF4-FFF2-40B4-BE49-F238E27FC236}">
                  <a16:creationId xmlns:a16="http://schemas.microsoft.com/office/drawing/2014/main" id="{F0046058-5B52-49DC-A450-6655228064E2}"/>
                </a:ext>
              </a:extLst>
            </p:cNvPr>
            <p:cNvCxnSpPr>
              <a:cxnSpLocks/>
            </p:cNvCxnSpPr>
            <p:nvPr/>
          </p:nvCxnSpPr>
          <p:spPr>
            <a:xfrm flipV="1">
              <a:off x="8095914" y="1689901"/>
              <a:ext cx="841022" cy="681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02" name="CasellaDiTesto 101">
            <a:extLst>
              <a:ext uri="{FF2B5EF4-FFF2-40B4-BE49-F238E27FC236}">
                <a16:creationId xmlns:a16="http://schemas.microsoft.com/office/drawing/2014/main" id="{B22A6D88-70D1-CA11-EF48-FC2056E56F91}"/>
              </a:ext>
            </a:extLst>
          </p:cNvPr>
          <p:cNvSpPr txBox="1"/>
          <p:nvPr/>
        </p:nvSpPr>
        <p:spPr>
          <a:xfrm>
            <a:off x="4405621" y="1545868"/>
            <a:ext cx="9800709" cy="2585323"/>
          </a:xfrm>
          <a:prstGeom prst="rect">
            <a:avLst/>
          </a:prstGeom>
          <a:noFill/>
        </p:spPr>
        <p:txBody>
          <a:bodyPr wrap="square" rtlCol="0">
            <a:spAutoFit/>
          </a:bodyPr>
          <a:lstStyle/>
          <a:p>
            <a:r>
              <a:rPr lang="en-US" dirty="0">
                <a:solidFill>
                  <a:srgbClr val="0000FF"/>
                </a:solidFill>
                <a:latin typeface="Consolas" panose="020B0609020204030204" pitchFamily="49" charset="0"/>
              </a:rPr>
              <a:t>def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mutuation</a:t>
            </a:r>
            <a:r>
              <a:rPr lang="en-US" dirty="0">
                <a:solidFill>
                  <a:srgbClr val="000000"/>
                </a:solidFill>
                <a:latin typeface="Consolas" panose="020B0609020204030204" pitchFamily="49" charset="0"/>
              </a:rPr>
              <a:t>(graph, path, </a:t>
            </a:r>
            <a:r>
              <a:rPr lang="en-US" dirty="0" err="1">
                <a:solidFill>
                  <a:srgbClr val="000000"/>
                </a:solidFill>
                <a:latin typeface="Consolas" panose="020B0609020204030204" pitchFamily="49" charset="0"/>
              </a:rPr>
              <a:t>autonomia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battery_threshold</a:t>
            </a:r>
            <a:r>
              <a:rPr lang="en-US" dirty="0">
                <a:solidFill>
                  <a:srgbClr val="000000"/>
                </a:solidFill>
                <a:latin typeface="Consolas" panose="020B0609020204030204" pitchFamily="49" charset="0"/>
              </a:rPr>
              <a:t>):</a:t>
            </a:r>
          </a:p>
          <a:p>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285750" indent="-285750">
              <a:buFontTx/>
              <a:buChar char="-"/>
            </a:pPr>
            <a:r>
              <a:rPr lang="en-US" dirty="0">
                <a:solidFill>
                  <a:srgbClr val="000000"/>
                </a:solidFill>
                <a:latin typeface="Consolas" panose="020B0609020204030204" pitchFamily="49" charset="0"/>
              </a:rPr>
              <a:t>Graph: </a:t>
            </a:r>
            <a:r>
              <a:rPr lang="en-US" dirty="0" err="1">
                <a:solidFill>
                  <a:srgbClr val="000000"/>
                </a:solidFill>
                <a:latin typeface="Consolas" panose="020B0609020204030204" pitchFamily="49" charset="0"/>
              </a:rPr>
              <a:t>contiene</a:t>
            </a:r>
            <a:r>
              <a:rPr lang="en-US" dirty="0">
                <a:solidFill>
                  <a:srgbClr val="000000"/>
                </a:solidFill>
                <a:latin typeface="Consolas" panose="020B0609020204030204" pitchFamily="49" charset="0"/>
              </a:rPr>
              <a:t> la rete </a:t>
            </a:r>
            <a:r>
              <a:rPr lang="en-US" dirty="0" err="1">
                <a:solidFill>
                  <a:srgbClr val="000000"/>
                </a:solidFill>
                <a:latin typeface="Consolas" panose="020B0609020204030204" pitchFamily="49" charset="0"/>
              </a:rPr>
              <a:t>stradale</a:t>
            </a:r>
            <a:r>
              <a:rPr lang="en-US" dirty="0">
                <a:solidFill>
                  <a:srgbClr val="000000"/>
                </a:solidFill>
                <a:latin typeface="Consolas" panose="020B0609020204030204" pitchFamily="49" charset="0"/>
              </a:rPr>
              <a:t> con le </a:t>
            </a:r>
            <a:r>
              <a:rPr lang="en-US" dirty="0" err="1">
                <a:solidFill>
                  <a:srgbClr val="000000"/>
                </a:solidFill>
                <a:latin typeface="Consolas" panose="020B0609020204030204" pitchFamily="49" charset="0"/>
              </a:rPr>
              <a:t>stazioni</a:t>
            </a:r>
            <a:r>
              <a:rPr lang="en-US" dirty="0">
                <a:solidFill>
                  <a:srgbClr val="000000"/>
                </a:solidFill>
                <a:latin typeface="Consolas" panose="020B0609020204030204" pitchFamily="49" charset="0"/>
              </a:rPr>
              <a:t> di </a:t>
            </a:r>
            <a:r>
              <a:rPr lang="en-US" dirty="0" err="1">
                <a:solidFill>
                  <a:srgbClr val="000000"/>
                </a:solidFill>
                <a:latin typeface="Consolas" panose="020B0609020204030204" pitchFamily="49" charset="0"/>
              </a:rPr>
              <a:t>ricarica</a:t>
            </a:r>
            <a:endParaRPr lang="en-US" dirty="0">
              <a:solidFill>
                <a:srgbClr val="000000"/>
              </a:solidFill>
              <a:latin typeface="Consolas" panose="020B0609020204030204" pitchFamily="49" charset="0"/>
            </a:endParaRPr>
          </a:p>
          <a:p>
            <a:pPr marL="285750" indent="-285750">
              <a:buFontTx/>
              <a:buChar char="-"/>
            </a:pP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Path: </a:t>
            </a:r>
            <a:r>
              <a:rPr lang="en-US" dirty="0" err="1">
                <a:solidFill>
                  <a:srgbClr val="000000"/>
                </a:solidFill>
                <a:latin typeface="Consolas" panose="020B0609020204030204" pitchFamily="49" charset="0"/>
              </a:rPr>
              <a:t>percorso</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trovato</a:t>
            </a:r>
            <a:r>
              <a:rPr lang="en-US" dirty="0">
                <a:solidFill>
                  <a:srgbClr val="000000"/>
                </a:solidFill>
                <a:latin typeface="Consolas" panose="020B0609020204030204" pitchFamily="49" charset="0"/>
              </a:rPr>
              <a:t> a </a:t>
            </a:r>
            <a:r>
              <a:rPr lang="en-US" dirty="0" err="1">
                <a:solidFill>
                  <a:srgbClr val="000000"/>
                </a:solidFill>
                <a:latin typeface="Consolas" panose="020B0609020204030204" pitchFamily="49" charset="0"/>
              </a:rPr>
              <a:t>seguito</a:t>
            </a:r>
            <a:r>
              <a:rPr lang="en-US" dirty="0">
                <a:solidFill>
                  <a:srgbClr val="000000"/>
                </a:solidFill>
                <a:latin typeface="Consolas" panose="020B0609020204030204" pitchFamily="49" charset="0"/>
              </a:rPr>
              <a:t> del Crossover</a:t>
            </a:r>
          </a:p>
          <a:p>
            <a:endParaRPr lang="en-US" dirty="0">
              <a:solidFill>
                <a:srgbClr val="000000"/>
              </a:solidFill>
              <a:latin typeface="Consolas" panose="020B0609020204030204" pitchFamily="49" charset="0"/>
            </a:endParaRPr>
          </a:p>
          <a:p>
            <a:pPr marL="285750" indent="-285750">
              <a:buFontTx/>
              <a:buChar char="-"/>
            </a:pPr>
            <a:r>
              <a:rPr lang="en-US" dirty="0" err="1">
                <a:solidFill>
                  <a:srgbClr val="000000"/>
                </a:solidFill>
                <a:latin typeface="Consolas" panose="020B0609020204030204" pitchFamily="49" charset="0"/>
              </a:rPr>
              <a:t>battery_threshold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rappresenta</a:t>
            </a:r>
            <a:r>
              <a:rPr lang="en-US" dirty="0">
                <a:solidFill>
                  <a:srgbClr val="000000"/>
                </a:solidFill>
                <a:latin typeface="Consolas" panose="020B0609020204030204" pitchFamily="49" charset="0"/>
              </a:rPr>
              <a:t> la </a:t>
            </a:r>
            <a:r>
              <a:rPr lang="en-US" dirty="0" err="1">
                <a:solidFill>
                  <a:srgbClr val="000000"/>
                </a:solidFill>
                <a:latin typeface="Consolas" panose="020B0609020204030204" pitchFamily="49" charset="0"/>
              </a:rPr>
              <a:t>soglia</a:t>
            </a:r>
            <a:r>
              <a:rPr lang="en-US" dirty="0">
                <a:solidFill>
                  <a:srgbClr val="000000"/>
                </a:solidFill>
                <a:latin typeface="Consolas" panose="020B0609020204030204" pitchFamily="49" charset="0"/>
              </a:rPr>
              <a:t> di </a:t>
            </a:r>
            <a:r>
              <a:rPr lang="en-US" dirty="0" err="1">
                <a:solidFill>
                  <a:srgbClr val="000000"/>
                </a:solidFill>
                <a:latin typeface="Consolas" panose="020B0609020204030204" pitchFamily="49" charset="0"/>
              </a:rPr>
              <a:t>batteria</a:t>
            </a:r>
            <a:r>
              <a:rPr lang="en-US" dirty="0">
                <a:solidFill>
                  <a:srgbClr val="000000"/>
                </a:solidFill>
                <a:latin typeface="Consolas" panose="020B0609020204030204" pitchFamily="49" charset="0"/>
              </a:rPr>
              <a:t> minima, </a:t>
            </a:r>
            <a:r>
              <a:rPr lang="en-US" dirty="0" err="1">
                <a:solidFill>
                  <a:srgbClr val="000000"/>
                </a:solidFill>
                <a:latin typeface="Consolas" panose="020B0609020204030204" pitchFamily="49" charset="0"/>
              </a:rPr>
              <a:t>oltre</a:t>
            </a:r>
            <a:r>
              <a:rPr lang="en-US" dirty="0">
                <a:solidFill>
                  <a:srgbClr val="000000"/>
                </a:solidFill>
                <a:latin typeface="Consolas" panose="020B0609020204030204" pitchFamily="49" charset="0"/>
              </a:rPr>
              <a:t> la quale </a:t>
            </a:r>
            <a:r>
              <a:rPr lang="en-US" dirty="0" err="1">
                <a:solidFill>
                  <a:srgbClr val="000000"/>
                </a:solidFill>
                <a:latin typeface="Consolas" panose="020B0609020204030204" pitchFamily="49" charset="0"/>
              </a:rPr>
              <a:t>cerca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una</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stazione</a:t>
            </a:r>
            <a:r>
              <a:rPr lang="en-US" dirty="0">
                <a:solidFill>
                  <a:srgbClr val="000000"/>
                </a:solidFill>
                <a:latin typeface="Consolas" panose="020B0609020204030204" pitchFamily="49" charset="0"/>
              </a:rPr>
              <a:t> di </a:t>
            </a:r>
            <a:r>
              <a:rPr lang="en-US" dirty="0" err="1">
                <a:solidFill>
                  <a:srgbClr val="000000"/>
                </a:solidFill>
                <a:latin typeface="Consolas" panose="020B0609020204030204" pitchFamily="49" charset="0"/>
              </a:rPr>
              <a:t>ricarica</a:t>
            </a:r>
            <a:endParaRPr lang="en-US" dirty="0">
              <a:solidFill>
                <a:srgbClr val="000000"/>
              </a:solidFill>
              <a:latin typeface="Consolas" panose="020B0609020204030204" pitchFamily="49" charset="0"/>
            </a:endParaRPr>
          </a:p>
        </p:txBody>
      </p:sp>
      <p:sp>
        <p:nvSpPr>
          <p:cNvPr id="36" name="Ovale 35">
            <a:extLst>
              <a:ext uri="{FF2B5EF4-FFF2-40B4-BE49-F238E27FC236}">
                <a16:creationId xmlns:a16="http://schemas.microsoft.com/office/drawing/2014/main" id="{691CEED6-6AA9-09B9-867F-BD610CACD2B0}"/>
              </a:ext>
            </a:extLst>
          </p:cNvPr>
          <p:cNvSpPr/>
          <p:nvPr/>
        </p:nvSpPr>
        <p:spPr>
          <a:xfrm>
            <a:off x="1467308" y="3024046"/>
            <a:ext cx="2362188" cy="61828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3" name="Text 0">
            <a:extLst>
              <a:ext uri="{FF2B5EF4-FFF2-40B4-BE49-F238E27FC236}">
                <a16:creationId xmlns:a16="http://schemas.microsoft.com/office/drawing/2014/main" id="{83B9EC30-B69E-F5C3-A5E9-F9692545BDF9}"/>
              </a:ext>
            </a:extLst>
          </p:cNvPr>
          <p:cNvSpPr/>
          <p:nvPr/>
        </p:nvSpPr>
        <p:spPr>
          <a:xfrm>
            <a:off x="4295296" y="-4925"/>
            <a:ext cx="10039503" cy="663744"/>
          </a:xfrm>
          <a:prstGeom prst="rect">
            <a:avLst/>
          </a:prstGeom>
        </p:spPr>
        <p:txBody>
          <a:bodyPr vert="horz" lIns="91440" tIns="45720" rIns="91440" bIns="45720" rtlCol="0" anchor="b">
            <a:normAutofit fontScale="70000" lnSpcReduction="20000"/>
          </a:bodyPr>
          <a:lstStyle/>
          <a:p>
            <a:pPr>
              <a:lnSpc>
                <a:spcPct val="90000"/>
              </a:lnSpc>
              <a:spcBef>
                <a:spcPct val="0"/>
              </a:spcBef>
              <a:spcAft>
                <a:spcPts val="600"/>
              </a:spcAft>
            </a:pPr>
            <a:r>
              <a:rPr lang="en-US" sz="5300" b="1" dirty="0">
                <a:solidFill>
                  <a:srgbClr val="231971"/>
                </a:solidFill>
                <a:latin typeface="Outfit Extra Bold" pitchFamily="34" charset="0"/>
              </a:rPr>
              <a:t>Flow</a:t>
            </a:r>
            <a:r>
              <a:rPr lang="en-US" sz="6200" b="1" kern="1200" dirty="0">
                <a:solidFill>
                  <a:schemeClr val="tx1"/>
                </a:solidFill>
                <a:latin typeface="+mj-lt"/>
                <a:ea typeface="+mj-ea"/>
                <a:cs typeface="+mj-cs"/>
              </a:rPr>
              <a:t> </a:t>
            </a:r>
            <a:r>
              <a:rPr lang="en-US" sz="5300" b="1" dirty="0">
                <a:solidFill>
                  <a:srgbClr val="231971"/>
                </a:solidFill>
                <a:latin typeface="Outfit Extra Bold" pitchFamily="34" charset="0"/>
              </a:rPr>
              <a:t>Chart </a:t>
            </a:r>
            <a:r>
              <a:rPr lang="en-US" sz="5300" b="1" dirty="0" err="1">
                <a:solidFill>
                  <a:srgbClr val="231971"/>
                </a:solidFill>
                <a:latin typeface="Outfit Extra Bold" pitchFamily="34" charset="0"/>
              </a:rPr>
              <a:t>Algoritmo</a:t>
            </a:r>
            <a:r>
              <a:rPr lang="en-US" sz="5300" b="1" dirty="0">
                <a:solidFill>
                  <a:srgbClr val="231971"/>
                </a:solidFill>
                <a:latin typeface="Outfit Extra Bold" pitchFamily="34" charset="0"/>
              </a:rPr>
              <a:t> </a:t>
            </a:r>
            <a:r>
              <a:rPr lang="en-US" sz="5300" b="1" dirty="0" err="1">
                <a:solidFill>
                  <a:srgbClr val="231971"/>
                </a:solidFill>
                <a:latin typeface="Outfit Extra Bold" pitchFamily="34" charset="0"/>
              </a:rPr>
              <a:t>Genetico</a:t>
            </a:r>
            <a:r>
              <a:rPr lang="en-US" sz="5300" b="1" dirty="0">
                <a:solidFill>
                  <a:srgbClr val="231971"/>
                </a:solidFill>
                <a:latin typeface="Outfit Extra Bold" pitchFamily="34" charset="0"/>
              </a:rPr>
              <a:t> : </a:t>
            </a:r>
            <a:r>
              <a:rPr lang="en-US" sz="5300" b="1" dirty="0" err="1">
                <a:solidFill>
                  <a:srgbClr val="231971"/>
                </a:solidFill>
                <a:latin typeface="Outfit Extra Bold" pitchFamily="34" charset="0"/>
              </a:rPr>
              <a:t>Mutazione</a:t>
            </a:r>
            <a:endParaRPr lang="en-US" sz="5300" b="1" dirty="0">
              <a:solidFill>
                <a:srgbClr val="231971"/>
              </a:solidFill>
              <a:latin typeface="Outfit Extra Bold" pitchFamily="34" charset="0"/>
            </a:endParaRPr>
          </a:p>
        </p:txBody>
      </p:sp>
    </p:spTree>
    <p:extLst>
      <p:ext uri="{BB962C8B-B14F-4D97-AF65-F5344CB8AC3E}">
        <p14:creationId xmlns:p14="http://schemas.microsoft.com/office/powerpoint/2010/main" val="400716327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0-#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2"/>
                                        </p:tgtEl>
                                        <p:attrNameLst>
                                          <p:attrName>style.visibility</p:attrName>
                                        </p:attrNameLst>
                                      </p:cBhvr>
                                      <p:to>
                                        <p:strVal val="visible"/>
                                      </p:to>
                                    </p:set>
                                    <p:anim calcmode="lin" valueType="num">
                                      <p:cBhvr additive="base">
                                        <p:cTn id="13" dur="500" fill="hold"/>
                                        <p:tgtEl>
                                          <p:spTgt spid="102"/>
                                        </p:tgtEl>
                                        <p:attrNameLst>
                                          <p:attrName>ppt_x</p:attrName>
                                        </p:attrNameLst>
                                      </p:cBhvr>
                                      <p:tavLst>
                                        <p:tav tm="0">
                                          <p:val>
                                            <p:strVal val="1+#ppt_w/2"/>
                                          </p:val>
                                        </p:tav>
                                        <p:tav tm="100000">
                                          <p:val>
                                            <p:strVal val="#ppt_x"/>
                                          </p:val>
                                        </p:tav>
                                      </p:tavLst>
                                    </p:anim>
                                    <p:anim calcmode="lin" valueType="num">
                                      <p:cBhvr additive="base">
                                        <p:cTn id="14" dur="500" fill="hold"/>
                                        <p:tgtEl>
                                          <p:spTgt spid="1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3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ruppo 66">
            <a:extLst>
              <a:ext uri="{FF2B5EF4-FFF2-40B4-BE49-F238E27FC236}">
                <a16:creationId xmlns:a16="http://schemas.microsoft.com/office/drawing/2014/main" id="{F876ADA2-E122-27B8-293A-786855607658}"/>
              </a:ext>
            </a:extLst>
          </p:cNvPr>
          <p:cNvGrpSpPr/>
          <p:nvPr/>
        </p:nvGrpSpPr>
        <p:grpSpPr>
          <a:xfrm>
            <a:off x="128545" y="99421"/>
            <a:ext cx="4028661" cy="8030757"/>
            <a:chOff x="7571921" y="285735"/>
            <a:chExt cx="3820507" cy="7657613"/>
          </a:xfrm>
        </p:grpSpPr>
        <p:grpSp>
          <p:nvGrpSpPr>
            <p:cNvPr id="68" name="Gruppo 67">
              <a:extLst>
                <a:ext uri="{FF2B5EF4-FFF2-40B4-BE49-F238E27FC236}">
                  <a16:creationId xmlns:a16="http://schemas.microsoft.com/office/drawing/2014/main" id="{3A57CE65-F0C5-4075-13A4-DE3F74F8E6A3}"/>
                </a:ext>
              </a:extLst>
            </p:cNvPr>
            <p:cNvGrpSpPr/>
            <p:nvPr/>
          </p:nvGrpSpPr>
          <p:grpSpPr>
            <a:xfrm>
              <a:off x="8914630" y="285735"/>
              <a:ext cx="2477798" cy="7657613"/>
              <a:chOff x="6739520" y="83634"/>
              <a:chExt cx="2477798" cy="7657613"/>
            </a:xfrm>
          </p:grpSpPr>
          <p:sp>
            <p:nvSpPr>
              <p:cNvPr id="74" name="Rettangolo con angoli arrotondati 73">
                <a:extLst>
                  <a:ext uri="{FF2B5EF4-FFF2-40B4-BE49-F238E27FC236}">
                    <a16:creationId xmlns:a16="http://schemas.microsoft.com/office/drawing/2014/main" id="{E2DC5894-7473-A346-B85D-9155129F2CA8}"/>
                  </a:ext>
                </a:extLst>
              </p:cNvPr>
              <p:cNvSpPr/>
              <p:nvPr/>
            </p:nvSpPr>
            <p:spPr>
              <a:xfrm>
                <a:off x="7337503" y="83634"/>
                <a:ext cx="892098" cy="260191"/>
              </a:xfrm>
              <a:prstGeom prst="roundRect">
                <a:avLst/>
              </a:prstGeom>
              <a:solidFill>
                <a:srgbClr val="54E8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INIZIO</a:t>
                </a:r>
              </a:p>
            </p:txBody>
          </p:sp>
          <p:sp>
            <p:nvSpPr>
              <p:cNvPr id="75" name="Rettangolo 74">
                <a:extLst>
                  <a:ext uri="{FF2B5EF4-FFF2-40B4-BE49-F238E27FC236}">
                    <a16:creationId xmlns:a16="http://schemas.microsoft.com/office/drawing/2014/main" id="{AE46567D-CA79-73A6-B0D9-88998C7ADEC7}"/>
                  </a:ext>
                </a:extLst>
              </p:cNvPr>
              <p:cNvSpPr/>
              <p:nvPr/>
            </p:nvSpPr>
            <p:spPr>
              <a:xfrm>
                <a:off x="6739524" y="624943"/>
                <a:ext cx="2065751" cy="43861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Genera la popolazione iniziale</a:t>
                </a:r>
              </a:p>
            </p:txBody>
          </p:sp>
          <p:cxnSp>
            <p:nvCxnSpPr>
              <p:cNvPr id="76" name="Connettore 2 75">
                <a:extLst>
                  <a:ext uri="{FF2B5EF4-FFF2-40B4-BE49-F238E27FC236}">
                    <a16:creationId xmlns:a16="http://schemas.microsoft.com/office/drawing/2014/main" id="{A423923F-082C-EBC3-0AC0-D324AA487D6D}"/>
                  </a:ext>
                </a:extLst>
              </p:cNvPr>
              <p:cNvCxnSpPr>
                <a:cxnSpLocks/>
              </p:cNvCxnSpPr>
              <p:nvPr/>
            </p:nvCxnSpPr>
            <p:spPr>
              <a:xfrm>
                <a:off x="7783551" y="1063554"/>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Rettangolo 76">
                <a:extLst>
                  <a:ext uri="{FF2B5EF4-FFF2-40B4-BE49-F238E27FC236}">
                    <a16:creationId xmlns:a16="http://schemas.microsoft.com/office/drawing/2014/main" id="{900956E0-7401-DF94-BDB2-0DFAA0045AB7}"/>
                  </a:ext>
                </a:extLst>
              </p:cNvPr>
              <p:cNvSpPr/>
              <p:nvPr/>
            </p:nvSpPr>
            <p:spPr>
              <a:xfrm>
                <a:off x="6750673" y="1340948"/>
                <a:ext cx="2065756"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Selezione con il metodo della Roulette Wheel</a:t>
                </a:r>
              </a:p>
            </p:txBody>
          </p:sp>
          <p:sp>
            <p:nvSpPr>
              <p:cNvPr id="78" name="Rettangolo 77">
                <a:extLst>
                  <a:ext uri="{FF2B5EF4-FFF2-40B4-BE49-F238E27FC236}">
                    <a16:creationId xmlns:a16="http://schemas.microsoft.com/office/drawing/2014/main" id="{9CA834DC-F67A-491A-33AE-5E850CBE7699}"/>
                  </a:ext>
                </a:extLst>
              </p:cNvPr>
              <p:cNvSpPr/>
              <p:nvPr/>
            </p:nvSpPr>
            <p:spPr>
              <a:xfrm>
                <a:off x="6739520" y="2221413"/>
                <a:ext cx="2076909" cy="45534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Crossover </a:t>
                </a:r>
                <a:r>
                  <a:rPr lang="it-IT" sz="1200">
                    <a:solidFill>
                      <a:schemeClr val="tx1"/>
                    </a:solidFill>
                  </a:rPr>
                  <a:t>(Riproduzione) </a:t>
                </a:r>
                <a:r>
                  <a:rPr lang="it-IT" sz="1200" dirty="0">
                    <a:solidFill>
                      <a:schemeClr val="tx1"/>
                    </a:solidFill>
                  </a:rPr>
                  <a:t>di tipo additivo</a:t>
                </a:r>
              </a:p>
            </p:txBody>
          </p:sp>
          <p:sp>
            <p:nvSpPr>
              <p:cNvPr id="79" name="Rettangolo 78">
                <a:extLst>
                  <a:ext uri="{FF2B5EF4-FFF2-40B4-BE49-F238E27FC236}">
                    <a16:creationId xmlns:a16="http://schemas.microsoft.com/office/drawing/2014/main" id="{16A08797-7FE4-CA32-964B-BA7C539A5BD9}"/>
                  </a:ext>
                </a:extLst>
              </p:cNvPr>
              <p:cNvSpPr/>
              <p:nvPr/>
            </p:nvSpPr>
            <p:spPr>
              <a:xfrm>
                <a:off x="6750670" y="2949498"/>
                <a:ext cx="2065760" cy="39772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Mutazione</a:t>
                </a:r>
              </a:p>
            </p:txBody>
          </p:sp>
          <p:sp>
            <p:nvSpPr>
              <p:cNvPr id="80" name="Rettangolo 79">
                <a:extLst>
                  <a:ext uri="{FF2B5EF4-FFF2-40B4-BE49-F238E27FC236}">
                    <a16:creationId xmlns:a16="http://schemas.microsoft.com/office/drawing/2014/main" id="{9AE52B1E-D010-41B2-8651-F51AE8CB4605}"/>
                  </a:ext>
                </a:extLst>
              </p:cNvPr>
              <p:cNvSpPr/>
              <p:nvPr/>
            </p:nvSpPr>
            <p:spPr>
              <a:xfrm>
                <a:off x="6750673" y="3624144"/>
                <a:ext cx="2065760"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Ordinamento in base ai valori della fitness</a:t>
                </a:r>
              </a:p>
            </p:txBody>
          </p:sp>
          <p:sp>
            <p:nvSpPr>
              <p:cNvPr id="81" name="Rombo 80">
                <a:extLst>
                  <a:ext uri="{FF2B5EF4-FFF2-40B4-BE49-F238E27FC236}">
                    <a16:creationId xmlns:a16="http://schemas.microsoft.com/office/drawing/2014/main" id="{B898C44C-157F-5374-E63B-2829E9A1A4B5}"/>
                  </a:ext>
                </a:extLst>
              </p:cNvPr>
              <p:cNvSpPr/>
              <p:nvPr/>
            </p:nvSpPr>
            <p:spPr>
              <a:xfrm>
                <a:off x="6901909" y="5616388"/>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chemeClr val="tx1"/>
                    </a:solidFill>
                  </a:rPr>
                  <a:t>Raggiunto il numero massimo di iterazioni?</a:t>
                </a:r>
              </a:p>
            </p:txBody>
          </p:sp>
          <p:sp>
            <p:nvSpPr>
              <p:cNvPr id="82" name="Rettangolo con angoli arrotondati 81">
                <a:extLst>
                  <a:ext uri="{FF2B5EF4-FFF2-40B4-BE49-F238E27FC236}">
                    <a16:creationId xmlns:a16="http://schemas.microsoft.com/office/drawing/2014/main" id="{0307A395-FB13-D032-1ECF-DF4020421488}"/>
                  </a:ext>
                </a:extLst>
              </p:cNvPr>
              <p:cNvSpPr/>
              <p:nvPr/>
            </p:nvSpPr>
            <p:spPr>
              <a:xfrm>
                <a:off x="7337503" y="7481056"/>
                <a:ext cx="892098" cy="26019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FINE</a:t>
                </a:r>
              </a:p>
            </p:txBody>
          </p:sp>
          <p:sp>
            <p:nvSpPr>
              <p:cNvPr id="83" name="Ovale 82">
                <a:extLst>
                  <a:ext uri="{FF2B5EF4-FFF2-40B4-BE49-F238E27FC236}">
                    <a16:creationId xmlns:a16="http://schemas.microsoft.com/office/drawing/2014/main" id="{0097F503-DACF-1578-5BF0-A0973A2205D0}"/>
                  </a:ext>
                </a:extLst>
              </p:cNvPr>
              <p:cNvSpPr/>
              <p:nvPr/>
            </p:nvSpPr>
            <p:spPr>
              <a:xfrm>
                <a:off x="7711068" y="6888652"/>
                <a:ext cx="122664" cy="12918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84" name="Connettore 2 83">
                <a:extLst>
                  <a:ext uri="{FF2B5EF4-FFF2-40B4-BE49-F238E27FC236}">
                    <a16:creationId xmlns:a16="http://schemas.microsoft.com/office/drawing/2014/main" id="{80B1CA5E-18BC-67CC-1BAD-BD13092DEDB8}"/>
                  </a:ext>
                </a:extLst>
              </p:cNvPr>
              <p:cNvCxnSpPr>
                <a:cxnSpLocks/>
              </p:cNvCxnSpPr>
              <p:nvPr/>
            </p:nvCxnSpPr>
            <p:spPr>
              <a:xfrm>
                <a:off x="7772400" y="34382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5" name="Connettore 2 84">
                <a:extLst>
                  <a:ext uri="{FF2B5EF4-FFF2-40B4-BE49-F238E27FC236}">
                    <a16:creationId xmlns:a16="http://schemas.microsoft.com/office/drawing/2014/main" id="{9C417FFF-6781-D1A2-B791-0785DCBB69C3}"/>
                  </a:ext>
                </a:extLst>
              </p:cNvPr>
              <p:cNvCxnSpPr>
                <a:cxnSpLocks/>
              </p:cNvCxnSpPr>
              <p:nvPr/>
            </p:nvCxnSpPr>
            <p:spPr>
              <a:xfrm>
                <a:off x="7783552" y="1931963"/>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6" name="Connettore 2 85">
                <a:extLst>
                  <a:ext uri="{FF2B5EF4-FFF2-40B4-BE49-F238E27FC236}">
                    <a16:creationId xmlns:a16="http://schemas.microsoft.com/office/drawing/2014/main" id="{1A7FE6EF-E819-572B-778C-71CE74EEC07D}"/>
                  </a:ext>
                </a:extLst>
              </p:cNvPr>
              <p:cNvCxnSpPr>
                <a:cxnSpLocks/>
              </p:cNvCxnSpPr>
              <p:nvPr/>
            </p:nvCxnSpPr>
            <p:spPr>
              <a:xfrm>
                <a:off x="7783551" y="268185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7" name="Connettore 2 86">
                <a:extLst>
                  <a:ext uri="{FF2B5EF4-FFF2-40B4-BE49-F238E27FC236}">
                    <a16:creationId xmlns:a16="http://schemas.microsoft.com/office/drawing/2014/main" id="{5771AE92-47D7-C2C4-D02A-24FE1BEF285B}"/>
                  </a:ext>
                </a:extLst>
              </p:cNvPr>
              <p:cNvCxnSpPr>
                <a:cxnSpLocks/>
              </p:cNvCxnSpPr>
              <p:nvPr/>
            </p:nvCxnSpPr>
            <p:spPr>
              <a:xfrm>
                <a:off x="7783551" y="3350929"/>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8" name="Connettore 2 87">
                <a:extLst>
                  <a:ext uri="{FF2B5EF4-FFF2-40B4-BE49-F238E27FC236}">
                    <a16:creationId xmlns:a16="http://schemas.microsoft.com/office/drawing/2014/main" id="{021C563F-EC5C-6ADA-0C5F-BBCAA812D3E1}"/>
                  </a:ext>
                </a:extLst>
              </p:cNvPr>
              <p:cNvCxnSpPr>
                <a:cxnSpLocks/>
              </p:cNvCxnSpPr>
              <p:nvPr/>
            </p:nvCxnSpPr>
            <p:spPr>
              <a:xfrm>
                <a:off x="7783551" y="4231878"/>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9" name="Connettore 2 88">
                <a:extLst>
                  <a:ext uri="{FF2B5EF4-FFF2-40B4-BE49-F238E27FC236}">
                    <a16:creationId xmlns:a16="http://schemas.microsoft.com/office/drawing/2014/main" id="{0E2899D1-C9B9-B9FD-B76D-F323224813E3}"/>
                  </a:ext>
                </a:extLst>
              </p:cNvPr>
              <p:cNvCxnSpPr>
                <a:cxnSpLocks/>
              </p:cNvCxnSpPr>
              <p:nvPr/>
            </p:nvCxnSpPr>
            <p:spPr>
              <a:xfrm>
                <a:off x="7783551" y="534699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0" name="Connettore 2 89">
                <a:extLst>
                  <a:ext uri="{FF2B5EF4-FFF2-40B4-BE49-F238E27FC236}">
                    <a16:creationId xmlns:a16="http://schemas.microsoft.com/office/drawing/2014/main" id="{46188C59-C7F2-F317-FBBB-56D6DAA94069}"/>
                  </a:ext>
                </a:extLst>
              </p:cNvPr>
              <p:cNvCxnSpPr>
                <a:cxnSpLocks/>
                <a:endCxn id="83" idx="0"/>
              </p:cNvCxnSpPr>
              <p:nvPr/>
            </p:nvCxnSpPr>
            <p:spPr>
              <a:xfrm flipH="1">
                <a:off x="7772400" y="6480703"/>
                <a:ext cx="7433" cy="4079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1" name="Connettore 2 90">
                <a:extLst>
                  <a:ext uri="{FF2B5EF4-FFF2-40B4-BE49-F238E27FC236}">
                    <a16:creationId xmlns:a16="http://schemas.microsoft.com/office/drawing/2014/main" id="{23733F77-90AB-BA72-CF6A-513C3CA1870E}"/>
                  </a:ext>
                </a:extLst>
              </p:cNvPr>
              <p:cNvCxnSpPr>
                <a:cxnSpLocks/>
              </p:cNvCxnSpPr>
              <p:nvPr/>
            </p:nvCxnSpPr>
            <p:spPr>
              <a:xfrm>
                <a:off x="7783551" y="7017841"/>
                <a:ext cx="0" cy="456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2" name="Connettore diritto 91">
                <a:extLst>
                  <a:ext uri="{FF2B5EF4-FFF2-40B4-BE49-F238E27FC236}">
                    <a16:creationId xmlns:a16="http://schemas.microsoft.com/office/drawing/2014/main" id="{F99DBEC9-C542-D49D-98BB-F0205BA7B36B}"/>
                  </a:ext>
                </a:extLst>
              </p:cNvPr>
              <p:cNvCxnSpPr>
                <a:cxnSpLocks/>
              </p:cNvCxnSpPr>
              <p:nvPr/>
            </p:nvCxnSpPr>
            <p:spPr>
              <a:xfrm flipV="1">
                <a:off x="8671605" y="4925109"/>
                <a:ext cx="545713" cy="1"/>
              </a:xfrm>
              <a:prstGeom prst="line">
                <a:avLst/>
              </a:prstGeom>
            </p:spPr>
            <p:style>
              <a:lnRef idx="3">
                <a:schemeClr val="dk1"/>
              </a:lnRef>
              <a:fillRef idx="0">
                <a:schemeClr val="dk1"/>
              </a:fillRef>
              <a:effectRef idx="2">
                <a:schemeClr val="dk1"/>
              </a:effectRef>
              <a:fontRef idx="minor">
                <a:schemeClr val="tx1"/>
              </a:fontRef>
            </p:style>
          </p:cxnSp>
          <p:cxnSp>
            <p:nvCxnSpPr>
              <p:cNvPr id="93" name="Connettore diritto 92">
                <a:extLst>
                  <a:ext uri="{FF2B5EF4-FFF2-40B4-BE49-F238E27FC236}">
                    <a16:creationId xmlns:a16="http://schemas.microsoft.com/office/drawing/2014/main" id="{E7D84F1F-33F6-1B47-372B-D896940AC87D}"/>
                  </a:ext>
                </a:extLst>
              </p:cNvPr>
              <p:cNvCxnSpPr>
                <a:cxnSpLocks/>
              </p:cNvCxnSpPr>
              <p:nvPr/>
            </p:nvCxnSpPr>
            <p:spPr>
              <a:xfrm>
                <a:off x="9210907" y="4925588"/>
                <a:ext cx="0" cy="2027659"/>
              </a:xfrm>
              <a:prstGeom prst="line">
                <a:avLst/>
              </a:prstGeom>
            </p:spPr>
            <p:style>
              <a:lnRef idx="3">
                <a:schemeClr val="dk1"/>
              </a:lnRef>
              <a:fillRef idx="0">
                <a:schemeClr val="dk1"/>
              </a:fillRef>
              <a:effectRef idx="2">
                <a:schemeClr val="dk1"/>
              </a:effectRef>
              <a:fontRef idx="minor">
                <a:schemeClr val="tx1"/>
              </a:fontRef>
            </p:style>
          </p:cxnSp>
          <p:cxnSp>
            <p:nvCxnSpPr>
              <p:cNvPr id="94" name="Connettore 2 93">
                <a:extLst>
                  <a:ext uri="{FF2B5EF4-FFF2-40B4-BE49-F238E27FC236}">
                    <a16:creationId xmlns:a16="http://schemas.microsoft.com/office/drawing/2014/main" id="{E20FAF1F-C7A0-EAAA-54DB-F221964D21FD}"/>
                  </a:ext>
                </a:extLst>
              </p:cNvPr>
              <p:cNvCxnSpPr>
                <a:cxnSpLocks/>
                <a:endCxn id="83" idx="6"/>
              </p:cNvCxnSpPr>
              <p:nvPr/>
            </p:nvCxnSpPr>
            <p:spPr>
              <a:xfrm flipH="1">
                <a:off x="7833732" y="6953247"/>
                <a:ext cx="137717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5" name="CasellaDiTesto 94">
                <a:extLst>
                  <a:ext uri="{FF2B5EF4-FFF2-40B4-BE49-F238E27FC236}">
                    <a16:creationId xmlns:a16="http://schemas.microsoft.com/office/drawing/2014/main" id="{2898F745-611A-BB0E-1ABE-3A6B819C3737}"/>
                  </a:ext>
                </a:extLst>
              </p:cNvPr>
              <p:cNvSpPr txBox="1"/>
              <p:nvPr/>
            </p:nvSpPr>
            <p:spPr>
              <a:xfrm>
                <a:off x="8763964" y="4609229"/>
                <a:ext cx="354584" cy="369332"/>
              </a:xfrm>
              <a:prstGeom prst="rect">
                <a:avLst/>
              </a:prstGeom>
              <a:noFill/>
            </p:spPr>
            <p:txBody>
              <a:bodyPr wrap="none" rtlCol="0">
                <a:spAutoFit/>
              </a:bodyPr>
              <a:lstStyle/>
              <a:p>
                <a:r>
                  <a:rPr lang="it-IT" b="1" dirty="0"/>
                  <a:t>SI</a:t>
                </a:r>
              </a:p>
            </p:txBody>
          </p:sp>
          <p:sp>
            <p:nvSpPr>
              <p:cNvPr id="96" name="CasellaDiTesto 95">
                <a:extLst>
                  <a:ext uri="{FF2B5EF4-FFF2-40B4-BE49-F238E27FC236}">
                    <a16:creationId xmlns:a16="http://schemas.microsoft.com/office/drawing/2014/main" id="{B8DC9B3D-C19B-BF8C-C647-E4D3EF7BBCAF}"/>
                  </a:ext>
                </a:extLst>
              </p:cNvPr>
              <p:cNvSpPr txBox="1"/>
              <p:nvPr/>
            </p:nvSpPr>
            <p:spPr>
              <a:xfrm>
                <a:off x="7428968" y="6467266"/>
                <a:ext cx="354584" cy="369332"/>
              </a:xfrm>
              <a:prstGeom prst="rect">
                <a:avLst/>
              </a:prstGeom>
              <a:noFill/>
            </p:spPr>
            <p:txBody>
              <a:bodyPr wrap="none" rtlCol="0">
                <a:spAutoFit/>
              </a:bodyPr>
              <a:lstStyle/>
              <a:p>
                <a:r>
                  <a:rPr lang="it-IT" b="1" dirty="0"/>
                  <a:t>SI</a:t>
                </a:r>
              </a:p>
            </p:txBody>
          </p:sp>
          <p:sp>
            <p:nvSpPr>
              <p:cNvPr id="97" name="CasellaDiTesto 96">
                <a:extLst>
                  <a:ext uri="{FF2B5EF4-FFF2-40B4-BE49-F238E27FC236}">
                    <a16:creationId xmlns:a16="http://schemas.microsoft.com/office/drawing/2014/main" id="{5386D2DF-14CD-F53B-9881-F7C7A2797B93}"/>
                  </a:ext>
                </a:extLst>
              </p:cNvPr>
              <p:cNvSpPr txBox="1"/>
              <p:nvPr/>
            </p:nvSpPr>
            <p:spPr>
              <a:xfrm>
                <a:off x="7772398" y="5266686"/>
                <a:ext cx="492443" cy="369332"/>
              </a:xfrm>
              <a:prstGeom prst="rect">
                <a:avLst/>
              </a:prstGeom>
              <a:noFill/>
            </p:spPr>
            <p:txBody>
              <a:bodyPr wrap="none" rtlCol="0">
                <a:spAutoFit/>
              </a:bodyPr>
              <a:lstStyle/>
              <a:p>
                <a:r>
                  <a:rPr lang="it-IT" b="1" dirty="0"/>
                  <a:t>NO</a:t>
                </a:r>
              </a:p>
            </p:txBody>
          </p:sp>
        </p:grpSp>
        <p:sp>
          <p:nvSpPr>
            <p:cNvPr id="69" name="Rombo 68">
              <a:extLst>
                <a:ext uri="{FF2B5EF4-FFF2-40B4-BE49-F238E27FC236}">
                  <a16:creationId xmlns:a16="http://schemas.microsoft.com/office/drawing/2014/main" id="{922CD865-2DD9-EFEC-69B6-D4BD9535919A}"/>
                </a:ext>
              </a:extLst>
            </p:cNvPr>
            <p:cNvSpPr/>
            <p:nvPr/>
          </p:nvSpPr>
          <p:spPr>
            <a:xfrm>
              <a:off x="9083430" y="4691844"/>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Criterio di arresto verificato?</a:t>
              </a:r>
            </a:p>
          </p:txBody>
        </p:sp>
        <p:cxnSp>
          <p:nvCxnSpPr>
            <p:cNvPr id="70" name="Connettore diritto 69">
              <a:extLst>
                <a:ext uri="{FF2B5EF4-FFF2-40B4-BE49-F238E27FC236}">
                  <a16:creationId xmlns:a16="http://schemas.microsoft.com/office/drawing/2014/main" id="{5B575847-6AE4-0DDD-5195-2A14FAE7D787}"/>
                </a:ext>
              </a:extLst>
            </p:cNvPr>
            <p:cNvCxnSpPr>
              <a:cxnSpLocks/>
            </p:cNvCxnSpPr>
            <p:nvPr/>
          </p:nvCxnSpPr>
          <p:spPr>
            <a:xfrm>
              <a:off x="8110099" y="6249235"/>
              <a:ext cx="1004811" cy="0"/>
            </a:xfrm>
            <a:prstGeom prst="line">
              <a:avLst/>
            </a:prstGeom>
          </p:spPr>
          <p:style>
            <a:lnRef idx="3">
              <a:schemeClr val="dk1"/>
            </a:lnRef>
            <a:fillRef idx="0">
              <a:schemeClr val="dk1"/>
            </a:fillRef>
            <a:effectRef idx="2">
              <a:schemeClr val="dk1"/>
            </a:effectRef>
            <a:fontRef idx="minor">
              <a:schemeClr val="tx1"/>
            </a:fontRef>
          </p:style>
        </p:cxnSp>
        <p:cxnSp>
          <p:nvCxnSpPr>
            <p:cNvPr id="71" name="Connettore diritto 70">
              <a:extLst>
                <a:ext uri="{FF2B5EF4-FFF2-40B4-BE49-F238E27FC236}">
                  <a16:creationId xmlns:a16="http://schemas.microsoft.com/office/drawing/2014/main" id="{9DCA0CCF-8C2D-3F54-0B38-530F3C9ACF9C}"/>
                </a:ext>
              </a:extLst>
            </p:cNvPr>
            <p:cNvCxnSpPr>
              <a:cxnSpLocks/>
            </p:cNvCxnSpPr>
            <p:nvPr/>
          </p:nvCxnSpPr>
          <p:spPr>
            <a:xfrm>
              <a:off x="8110099" y="1696720"/>
              <a:ext cx="9701" cy="4552515"/>
            </a:xfrm>
            <a:prstGeom prst="line">
              <a:avLst/>
            </a:prstGeom>
          </p:spPr>
          <p:style>
            <a:lnRef idx="3">
              <a:schemeClr val="dk1"/>
            </a:lnRef>
            <a:fillRef idx="0">
              <a:schemeClr val="dk1"/>
            </a:fillRef>
            <a:effectRef idx="2">
              <a:schemeClr val="dk1"/>
            </a:effectRef>
            <a:fontRef idx="minor">
              <a:schemeClr val="tx1"/>
            </a:fontRef>
          </p:style>
        </p:cxnSp>
        <p:sp>
          <p:nvSpPr>
            <p:cNvPr id="72" name="CasellaDiTesto 71">
              <a:extLst>
                <a:ext uri="{FF2B5EF4-FFF2-40B4-BE49-F238E27FC236}">
                  <a16:creationId xmlns:a16="http://schemas.microsoft.com/office/drawing/2014/main" id="{9C82554D-1BEA-7EB8-DA53-F6174AA68C77}"/>
                </a:ext>
              </a:extLst>
            </p:cNvPr>
            <p:cNvSpPr txBox="1"/>
            <p:nvPr/>
          </p:nvSpPr>
          <p:spPr>
            <a:xfrm>
              <a:off x="7571921" y="4161372"/>
              <a:ext cx="492443" cy="369332"/>
            </a:xfrm>
            <a:prstGeom prst="rect">
              <a:avLst/>
            </a:prstGeom>
            <a:noFill/>
          </p:spPr>
          <p:txBody>
            <a:bodyPr wrap="none" rtlCol="0">
              <a:spAutoFit/>
            </a:bodyPr>
            <a:lstStyle/>
            <a:p>
              <a:r>
                <a:rPr lang="it-IT" b="1" dirty="0"/>
                <a:t>NO</a:t>
              </a:r>
            </a:p>
          </p:txBody>
        </p:sp>
        <p:cxnSp>
          <p:nvCxnSpPr>
            <p:cNvPr id="73" name="Connettore 2 72">
              <a:extLst>
                <a:ext uri="{FF2B5EF4-FFF2-40B4-BE49-F238E27FC236}">
                  <a16:creationId xmlns:a16="http://schemas.microsoft.com/office/drawing/2014/main" id="{8FC119E1-BB12-CB88-D319-12A12CE2A3AF}"/>
                </a:ext>
              </a:extLst>
            </p:cNvPr>
            <p:cNvCxnSpPr>
              <a:cxnSpLocks/>
            </p:cNvCxnSpPr>
            <p:nvPr/>
          </p:nvCxnSpPr>
          <p:spPr>
            <a:xfrm flipV="1">
              <a:off x="8095914" y="1689901"/>
              <a:ext cx="841022" cy="681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36" name="Ovale 35">
            <a:extLst>
              <a:ext uri="{FF2B5EF4-FFF2-40B4-BE49-F238E27FC236}">
                <a16:creationId xmlns:a16="http://schemas.microsoft.com/office/drawing/2014/main" id="{2122C2ED-F0A7-5F43-8612-D609DAB4C769}"/>
              </a:ext>
            </a:extLst>
          </p:cNvPr>
          <p:cNvSpPr/>
          <p:nvPr/>
        </p:nvSpPr>
        <p:spPr>
          <a:xfrm>
            <a:off x="1517142" y="3714145"/>
            <a:ext cx="2362190" cy="7997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65" name="CasellaDiTesto 64">
            <a:extLst>
              <a:ext uri="{FF2B5EF4-FFF2-40B4-BE49-F238E27FC236}">
                <a16:creationId xmlns:a16="http://schemas.microsoft.com/office/drawing/2014/main" id="{F38C9AA7-F248-17FB-E065-3D499CEEEA48}"/>
              </a:ext>
            </a:extLst>
          </p:cNvPr>
          <p:cNvSpPr txBox="1"/>
          <p:nvPr/>
        </p:nvSpPr>
        <p:spPr>
          <a:xfrm>
            <a:off x="4405621" y="1545868"/>
            <a:ext cx="9800709" cy="646331"/>
          </a:xfrm>
          <a:prstGeom prst="rect">
            <a:avLst/>
          </a:prstGeom>
          <a:noFill/>
        </p:spPr>
        <p:txBody>
          <a:bodyPr wrap="square" rtlCol="0">
            <a:spAutoFit/>
          </a:bodyPr>
          <a:lstStyle/>
          <a:p>
            <a:r>
              <a:rPr lang="en-US" dirty="0" err="1">
                <a:solidFill>
                  <a:srgbClr val="000000"/>
                </a:solidFill>
                <a:latin typeface="Consolas" panose="020B0609020204030204" pitchFamily="49" charset="0"/>
              </a:rPr>
              <a:t>sorted_individuals</a:t>
            </a:r>
            <a:r>
              <a:rPr lang="en-US" dirty="0">
                <a:solidFill>
                  <a:srgbClr val="000000"/>
                </a:solidFill>
                <a:latin typeface="Consolas" panose="020B0609020204030204" pitchFamily="49" charset="0"/>
              </a:rPr>
              <a:t> = sorted(</a:t>
            </a:r>
            <a:r>
              <a:rPr lang="en-US" dirty="0" err="1">
                <a:solidFill>
                  <a:srgbClr val="000000"/>
                </a:solidFill>
                <a:latin typeface="Consolas" panose="020B0609020204030204" pitchFamily="49" charset="0"/>
              </a:rPr>
              <a:t>all_individuals.items</a:t>
            </a:r>
            <a:r>
              <a:rPr lang="en-US" dirty="0">
                <a:solidFill>
                  <a:srgbClr val="000000"/>
                </a:solidFill>
                <a:latin typeface="Consolas" panose="020B0609020204030204" pitchFamily="49" charset="0"/>
              </a:rPr>
              <a:t>(), key=</a:t>
            </a:r>
            <a:r>
              <a:rPr lang="en-US" dirty="0">
                <a:solidFill>
                  <a:srgbClr val="0000FF"/>
                </a:solidFill>
                <a:latin typeface="Consolas" panose="020B0609020204030204" pitchFamily="49" charset="0"/>
              </a:rPr>
              <a:t>lambda</a:t>
            </a:r>
            <a:r>
              <a:rPr lang="en-US" dirty="0">
                <a:solidFill>
                  <a:srgbClr val="000000"/>
                </a:solidFill>
                <a:latin typeface="Consolas" panose="020B0609020204030204" pitchFamily="49" charset="0"/>
              </a:rPr>
              <a:t> x: x[</a:t>
            </a:r>
            <a:r>
              <a:rPr lang="en-US" dirty="0">
                <a:solidFill>
                  <a:srgbClr val="098658"/>
                </a:solidFill>
                <a:latin typeface="Consolas" panose="020B0609020204030204" pitchFamily="49" charset="0"/>
              </a:rPr>
              <a:t>1</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endParaRPr lang="en-US" dirty="0">
              <a:solidFill>
                <a:srgbClr val="000000"/>
              </a:solidFill>
              <a:latin typeface="Consolas" panose="020B0609020204030204" pitchFamily="49" charset="0"/>
            </a:endParaRPr>
          </a:p>
        </p:txBody>
      </p:sp>
      <p:sp>
        <p:nvSpPr>
          <p:cNvPr id="66" name="Text 0">
            <a:extLst>
              <a:ext uri="{FF2B5EF4-FFF2-40B4-BE49-F238E27FC236}">
                <a16:creationId xmlns:a16="http://schemas.microsoft.com/office/drawing/2014/main" id="{FE349122-0F4E-DC8F-C52E-0DAC9579C46B}"/>
              </a:ext>
            </a:extLst>
          </p:cNvPr>
          <p:cNvSpPr/>
          <p:nvPr/>
        </p:nvSpPr>
        <p:spPr>
          <a:xfrm>
            <a:off x="4405621" y="24741"/>
            <a:ext cx="10039503" cy="646331"/>
          </a:xfrm>
          <a:prstGeom prst="rect">
            <a:avLst/>
          </a:prstGeom>
        </p:spPr>
        <p:txBody>
          <a:bodyPr vert="horz" lIns="91440" tIns="45720" rIns="91440" bIns="45720" rtlCol="0" anchor="b">
            <a:normAutofit fontScale="70000" lnSpcReduction="20000"/>
          </a:bodyPr>
          <a:lstStyle/>
          <a:p>
            <a:pPr>
              <a:lnSpc>
                <a:spcPct val="90000"/>
              </a:lnSpc>
              <a:spcBef>
                <a:spcPct val="0"/>
              </a:spcBef>
              <a:spcAft>
                <a:spcPts val="600"/>
              </a:spcAft>
            </a:pPr>
            <a:r>
              <a:rPr lang="en-US" sz="5300" b="1" dirty="0">
                <a:solidFill>
                  <a:srgbClr val="231971"/>
                </a:solidFill>
                <a:latin typeface="Outfit Extra Bold" pitchFamily="34" charset="0"/>
              </a:rPr>
              <a:t>Flow</a:t>
            </a:r>
            <a:r>
              <a:rPr lang="en-US" sz="6200" b="1" kern="1200" dirty="0">
                <a:solidFill>
                  <a:schemeClr val="tx1"/>
                </a:solidFill>
                <a:latin typeface="+mj-lt"/>
                <a:ea typeface="+mj-ea"/>
                <a:cs typeface="+mj-cs"/>
              </a:rPr>
              <a:t> </a:t>
            </a:r>
            <a:r>
              <a:rPr lang="en-US" sz="5300" b="1" dirty="0">
                <a:solidFill>
                  <a:srgbClr val="231971"/>
                </a:solidFill>
                <a:latin typeface="Outfit Extra Bold" pitchFamily="34" charset="0"/>
              </a:rPr>
              <a:t>Chart </a:t>
            </a:r>
            <a:r>
              <a:rPr lang="en-US" sz="5300" b="1" dirty="0" err="1">
                <a:solidFill>
                  <a:srgbClr val="231971"/>
                </a:solidFill>
                <a:latin typeface="Outfit Extra Bold" pitchFamily="34" charset="0"/>
              </a:rPr>
              <a:t>Algoritmo</a:t>
            </a:r>
            <a:r>
              <a:rPr lang="en-US" sz="5300" b="1" dirty="0">
                <a:solidFill>
                  <a:srgbClr val="231971"/>
                </a:solidFill>
                <a:latin typeface="Outfit Extra Bold" pitchFamily="34" charset="0"/>
              </a:rPr>
              <a:t> </a:t>
            </a:r>
            <a:r>
              <a:rPr lang="en-US" sz="5300" b="1" dirty="0" err="1">
                <a:solidFill>
                  <a:srgbClr val="231971"/>
                </a:solidFill>
                <a:latin typeface="Outfit Extra Bold" pitchFamily="34" charset="0"/>
              </a:rPr>
              <a:t>Genetico</a:t>
            </a:r>
            <a:r>
              <a:rPr lang="en-US" sz="5300" b="1" dirty="0">
                <a:solidFill>
                  <a:srgbClr val="231971"/>
                </a:solidFill>
                <a:latin typeface="Outfit Extra Bold" pitchFamily="34" charset="0"/>
              </a:rPr>
              <a:t> : </a:t>
            </a:r>
            <a:r>
              <a:rPr lang="en-US" sz="5300" b="1" dirty="0" err="1">
                <a:solidFill>
                  <a:srgbClr val="231971"/>
                </a:solidFill>
                <a:latin typeface="Outfit Extra Bold" pitchFamily="34" charset="0"/>
              </a:rPr>
              <a:t>Ordinamento</a:t>
            </a:r>
            <a:endParaRPr lang="en-US" sz="5300" b="1" dirty="0">
              <a:solidFill>
                <a:srgbClr val="231971"/>
              </a:solidFill>
              <a:latin typeface="Outfit Extra Bold" pitchFamily="34" charset="0"/>
            </a:endParaRPr>
          </a:p>
        </p:txBody>
      </p:sp>
    </p:spTree>
    <p:extLst>
      <p:ext uri="{BB962C8B-B14F-4D97-AF65-F5344CB8AC3E}">
        <p14:creationId xmlns:p14="http://schemas.microsoft.com/office/powerpoint/2010/main" val="184423759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0-#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5"/>
                                        </p:tgtEl>
                                        <p:attrNameLst>
                                          <p:attrName>style.visibility</p:attrName>
                                        </p:attrNameLst>
                                      </p:cBhvr>
                                      <p:to>
                                        <p:strVal val="visible"/>
                                      </p:to>
                                    </p:set>
                                    <p:anim calcmode="lin" valueType="num">
                                      <p:cBhvr additive="base">
                                        <p:cTn id="13" dur="500" fill="hold"/>
                                        <p:tgtEl>
                                          <p:spTgt spid="65"/>
                                        </p:tgtEl>
                                        <p:attrNameLst>
                                          <p:attrName>ppt_x</p:attrName>
                                        </p:attrNameLst>
                                      </p:cBhvr>
                                      <p:tavLst>
                                        <p:tav tm="0">
                                          <p:val>
                                            <p:strVal val="1+#ppt_w/2"/>
                                          </p:val>
                                        </p:tav>
                                        <p:tav tm="100000">
                                          <p:val>
                                            <p:strVal val="#ppt_x"/>
                                          </p:val>
                                        </p:tav>
                                      </p:tavLst>
                                    </p:anim>
                                    <p:anim calcmode="lin" valueType="num">
                                      <p:cBhvr additive="base">
                                        <p:cTn id="14" dur="500" fill="hold"/>
                                        <p:tgtEl>
                                          <p:spTgt spid="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65"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104" name="Gruppo 103">
            <a:extLst>
              <a:ext uri="{FF2B5EF4-FFF2-40B4-BE49-F238E27FC236}">
                <a16:creationId xmlns:a16="http://schemas.microsoft.com/office/drawing/2014/main" id="{371E31A2-8BA7-C60F-64EF-5715FF19E86F}"/>
              </a:ext>
            </a:extLst>
          </p:cNvPr>
          <p:cNvGrpSpPr/>
          <p:nvPr/>
        </p:nvGrpSpPr>
        <p:grpSpPr>
          <a:xfrm>
            <a:off x="128545" y="99421"/>
            <a:ext cx="4028661" cy="8030757"/>
            <a:chOff x="7571921" y="285735"/>
            <a:chExt cx="3820507" cy="7657613"/>
          </a:xfrm>
        </p:grpSpPr>
        <p:grpSp>
          <p:nvGrpSpPr>
            <p:cNvPr id="105" name="Gruppo 104">
              <a:extLst>
                <a:ext uri="{FF2B5EF4-FFF2-40B4-BE49-F238E27FC236}">
                  <a16:creationId xmlns:a16="http://schemas.microsoft.com/office/drawing/2014/main" id="{8617F366-8537-9FD1-362A-2DE270214018}"/>
                </a:ext>
              </a:extLst>
            </p:cNvPr>
            <p:cNvGrpSpPr/>
            <p:nvPr/>
          </p:nvGrpSpPr>
          <p:grpSpPr>
            <a:xfrm>
              <a:off x="8914630" y="285735"/>
              <a:ext cx="2477798" cy="7657613"/>
              <a:chOff x="6739520" y="83634"/>
              <a:chExt cx="2477798" cy="7657613"/>
            </a:xfrm>
          </p:grpSpPr>
          <p:sp>
            <p:nvSpPr>
              <p:cNvPr id="111" name="Rettangolo con angoli arrotondati 110">
                <a:extLst>
                  <a:ext uri="{FF2B5EF4-FFF2-40B4-BE49-F238E27FC236}">
                    <a16:creationId xmlns:a16="http://schemas.microsoft.com/office/drawing/2014/main" id="{AAF1168F-1FF7-1F83-3019-C06936C61E59}"/>
                  </a:ext>
                </a:extLst>
              </p:cNvPr>
              <p:cNvSpPr/>
              <p:nvPr/>
            </p:nvSpPr>
            <p:spPr>
              <a:xfrm>
                <a:off x="7337503" y="83634"/>
                <a:ext cx="892098" cy="260191"/>
              </a:xfrm>
              <a:prstGeom prst="roundRect">
                <a:avLst/>
              </a:prstGeom>
              <a:solidFill>
                <a:srgbClr val="54E8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INIZIO</a:t>
                </a:r>
              </a:p>
            </p:txBody>
          </p:sp>
          <p:sp>
            <p:nvSpPr>
              <p:cNvPr id="112" name="Rettangolo 111">
                <a:extLst>
                  <a:ext uri="{FF2B5EF4-FFF2-40B4-BE49-F238E27FC236}">
                    <a16:creationId xmlns:a16="http://schemas.microsoft.com/office/drawing/2014/main" id="{5F86E050-8A1D-3D7C-E65E-CFE2F2BD593B}"/>
                  </a:ext>
                </a:extLst>
              </p:cNvPr>
              <p:cNvSpPr/>
              <p:nvPr/>
            </p:nvSpPr>
            <p:spPr>
              <a:xfrm>
                <a:off x="6739524" y="624943"/>
                <a:ext cx="2065751" cy="43861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Genera la popolazione iniziale</a:t>
                </a:r>
              </a:p>
            </p:txBody>
          </p:sp>
          <p:cxnSp>
            <p:nvCxnSpPr>
              <p:cNvPr id="113" name="Connettore 2 112">
                <a:extLst>
                  <a:ext uri="{FF2B5EF4-FFF2-40B4-BE49-F238E27FC236}">
                    <a16:creationId xmlns:a16="http://schemas.microsoft.com/office/drawing/2014/main" id="{2C053F7D-7D5E-A3F1-1526-FF9D7C4AD814}"/>
                  </a:ext>
                </a:extLst>
              </p:cNvPr>
              <p:cNvCxnSpPr>
                <a:cxnSpLocks/>
              </p:cNvCxnSpPr>
              <p:nvPr/>
            </p:nvCxnSpPr>
            <p:spPr>
              <a:xfrm>
                <a:off x="7783551" y="1063554"/>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4" name="Rettangolo 113">
                <a:extLst>
                  <a:ext uri="{FF2B5EF4-FFF2-40B4-BE49-F238E27FC236}">
                    <a16:creationId xmlns:a16="http://schemas.microsoft.com/office/drawing/2014/main" id="{365413D9-EC32-173F-27C9-8059E8BD459F}"/>
                  </a:ext>
                </a:extLst>
              </p:cNvPr>
              <p:cNvSpPr/>
              <p:nvPr/>
            </p:nvSpPr>
            <p:spPr>
              <a:xfrm>
                <a:off x="6750673" y="1340948"/>
                <a:ext cx="2065756"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Selezione con il metodo della Roulette Wheel</a:t>
                </a:r>
              </a:p>
            </p:txBody>
          </p:sp>
          <p:sp>
            <p:nvSpPr>
              <p:cNvPr id="115" name="Rettangolo 114">
                <a:extLst>
                  <a:ext uri="{FF2B5EF4-FFF2-40B4-BE49-F238E27FC236}">
                    <a16:creationId xmlns:a16="http://schemas.microsoft.com/office/drawing/2014/main" id="{CDC83C3D-D0BF-C4D1-2E0B-AF9374E710FA}"/>
                  </a:ext>
                </a:extLst>
              </p:cNvPr>
              <p:cNvSpPr/>
              <p:nvPr/>
            </p:nvSpPr>
            <p:spPr>
              <a:xfrm>
                <a:off x="6739520" y="2221413"/>
                <a:ext cx="2076909" cy="45534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Crossover (Ricombinazione) di tipo additivo</a:t>
                </a:r>
              </a:p>
            </p:txBody>
          </p:sp>
          <p:sp>
            <p:nvSpPr>
              <p:cNvPr id="116" name="Rettangolo 115">
                <a:extLst>
                  <a:ext uri="{FF2B5EF4-FFF2-40B4-BE49-F238E27FC236}">
                    <a16:creationId xmlns:a16="http://schemas.microsoft.com/office/drawing/2014/main" id="{4F7CA694-3171-B82C-9092-0E06447E4F32}"/>
                  </a:ext>
                </a:extLst>
              </p:cNvPr>
              <p:cNvSpPr/>
              <p:nvPr/>
            </p:nvSpPr>
            <p:spPr>
              <a:xfrm>
                <a:off x="6750670" y="2949498"/>
                <a:ext cx="2065760" cy="39772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Mutazione</a:t>
                </a:r>
              </a:p>
            </p:txBody>
          </p:sp>
          <p:sp>
            <p:nvSpPr>
              <p:cNvPr id="117" name="Rettangolo 116">
                <a:extLst>
                  <a:ext uri="{FF2B5EF4-FFF2-40B4-BE49-F238E27FC236}">
                    <a16:creationId xmlns:a16="http://schemas.microsoft.com/office/drawing/2014/main" id="{3777501B-8CF9-FD63-8222-02933FB4F9E1}"/>
                  </a:ext>
                </a:extLst>
              </p:cNvPr>
              <p:cNvSpPr/>
              <p:nvPr/>
            </p:nvSpPr>
            <p:spPr>
              <a:xfrm>
                <a:off x="6750673" y="3624144"/>
                <a:ext cx="2065760" cy="5910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Ordinamento in base ai valori della fitness</a:t>
                </a:r>
              </a:p>
            </p:txBody>
          </p:sp>
          <p:sp>
            <p:nvSpPr>
              <p:cNvPr id="118" name="Rombo 117">
                <a:extLst>
                  <a:ext uri="{FF2B5EF4-FFF2-40B4-BE49-F238E27FC236}">
                    <a16:creationId xmlns:a16="http://schemas.microsoft.com/office/drawing/2014/main" id="{E8A36F54-5D50-3BBF-CE98-1BDC5FD164E8}"/>
                  </a:ext>
                </a:extLst>
              </p:cNvPr>
              <p:cNvSpPr/>
              <p:nvPr/>
            </p:nvSpPr>
            <p:spPr>
              <a:xfrm>
                <a:off x="6901909" y="5616388"/>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chemeClr val="tx1"/>
                    </a:solidFill>
                  </a:rPr>
                  <a:t>Raggiunto il numero massimo di iterazioni?</a:t>
                </a:r>
              </a:p>
            </p:txBody>
          </p:sp>
          <p:sp>
            <p:nvSpPr>
              <p:cNvPr id="119" name="Rettangolo con angoli arrotondati 118">
                <a:extLst>
                  <a:ext uri="{FF2B5EF4-FFF2-40B4-BE49-F238E27FC236}">
                    <a16:creationId xmlns:a16="http://schemas.microsoft.com/office/drawing/2014/main" id="{9F5ECE90-87CC-9D61-181E-478D83125B70}"/>
                  </a:ext>
                </a:extLst>
              </p:cNvPr>
              <p:cNvSpPr/>
              <p:nvPr/>
            </p:nvSpPr>
            <p:spPr>
              <a:xfrm>
                <a:off x="7337503" y="7481056"/>
                <a:ext cx="892098" cy="26019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FINE</a:t>
                </a:r>
              </a:p>
            </p:txBody>
          </p:sp>
          <p:sp>
            <p:nvSpPr>
              <p:cNvPr id="120" name="Ovale 119">
                <a:extLst>
                  <a:ext uri="{FF2B5EF4-FFF2-40B4-BE49-F238E27FC236}">
                    <a16:creationId xmlns:a16="http://schemas.microsoft.com/office/drawing/2014/main" id="{FA969874-D10C-31A2-0F20-6EE1B3EAAFB2}"/>
                  </a:ext>
                </a:extLst>
              </p:cNvPr>
              <p:cNvSpPr/>
              <p:nvPr/>
            </p:nvSpPr>
            <p:spPr>
              <a:xfrm>
                <a:off x="7711068" y="6888652"/>
                <a:ext cx="122664" cy="12918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21" name="Connettore 2 120">
                <a:extLst>
                  <a:ext uri="{FF2B5EF4-FFF2-40B4-BE49-F238E27FC236}">
                    <a16:creationId xmlns:a16="http://schemas.microsoft.com/office/drawing/2014/main" id="{07AD89DD-D62E-22C7-A2CA-C6C67782BD12}"/>
                  </a:ext>
                </a:extLst>
              </p:cNvPr>
              <p:cNvCxnSpPr>
                <a:cxnSpLocks/>
              </p:cNvCxnSpPr>
              <p:nvPr/>
            </p:nvCxnSpPr>
            <p:spPr>
              <a:xfrm>
                <a:off x="7772400" y="34382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2" name="Connettore 2 121">
                <a:extLst>
                  <a:ext uri="{FF2B5EF4-FFF2-40B4-BE49-F238E27FC236}">
                    <a16:creationId xmlns:a16="http://schemas.microsoft.com/office/drawing/2014/main" id="{CDE4340B-8EF0-E417-9519-9365224244F0}"/>
                  </a:ext>
                </a:extLst>
              </p:cNvPr>
              <p:cNvCxnSpPr>
                <a:cxnSpLocks/>
              </p:cNvCxnSpPr>
              <p:nvPr/>
            </p:nvCxnSpPr>
            <p:spPr>
              <a:xfrm>
                <a:off x="7783552" y="1931963"/>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3" name="Connettore 2 122">
                <a:extLst>
                  <a:ext uri="{FF2B5EF4-FFF2-40B4-BE49-F238E27FC236}">
                    <a16:creationId xmlns:a16="http://schemas.microsoft.com/office/drawing/2014/main" id="{2EBA2B03-067E-DEE6-3469-47A14D66FEF3}"/>
                  </a:ext>
                </a:extLst>
              </p:cNvPr>
              <p:cNvCxnSpPr>
                <a:cxnSpLocks/>
              </p:cNvCxnSpPr>
              <p:nvPr/>
            </p:nvCxnSpPr>
            <p:spPr>
              <a:xfrm>
                <a:off x="7783551" y="268185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4" name="Connettore 2 123">
                <a:extLst>
                  <a:ext uri="{FF2B5EF4-FFF2-40B4-BE49-F238E27FC236}">
                    <a16:creationId xmlns:a16="http://schemas.microsoft.com/office/drawing/2014/main" id="{DDB590B7-7283-AFBC-AE7F-80878B2C17A6}"/>
                  </a:ext>
                </a:extLst>
              </p:cNvPr>
              <p:cNvCxnSpPr>
                <a:cxnSpLocks/>
              </p:cNvCxnSpPr>
              <p:nvPr/>
            </p:nvCxnSpPr>
            <p:spPr>
              <a:xfrm>
                <a:off x="7783551" y="3350929"/>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5" name="Connettore 2 124">
                <a:extLst>
                  <a:ext uri="{FF2B5EF4-FFF2-40B4-BE49-F238E27FC236}">
                    <a16:creationId xmlns:a16="http://schemas.microsoft.com/office/drawing/2014/main" id="{0321E4D6-E1F8-DA0E-5D93-C6AF4353FEC4}"/>
                  </a:ext>
                </a:extLst>
              </p:cNvPr>
              <p:cNvCxnSpPr>
                <a:cxnSpLocks/>
              </p:cNvCxnSpPr>
              <p:nvPr/>
            </p:nvCxnSpPr>
            <p:spPr>
              <a:xfrm>
                <a:off x="7783551" y="4231878"/>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6" name="Connettore 2 125">
                <a:extLst>
                  <a:ext uri="{FF2B5EF4-FFF2-40B4-BE49-F238E27FC236}">
                    <a16:creationId xmlns:a16="http://schemas.microsoft.com/office/drawing/2014/main" id="{18924FCC-4E5B-326E-087D-2060262223EA}"/>
                  </a:ext>
                </a:extLst>
              </p:cNvPr>
              <p:cNvCxnSpPr>
                <a:cxnSpLocks/>
              </p:cNvCxnSpPr>
              <p:nvPr/>
            </p:nvCxnSpPr>
            <p:spPr>
              <a:xfrm>
                <a:off x="7783551" y="5346995"/>
                <a:ext cx="0" cy="2732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7" name="Connettore 2 126">
                <a:extLst>
                  <a:ext uri="{FF2B5EF4-FFF2-40B4-BE49-F238E27FC236}">
                    <a16:creationId xmlns:a16="http://schemas.microsoft.com/office/drawing/2014/main" id="{E61B822F-228C-A6A3-E720-CFE303CB6E4A}"/>
                  </a:ext>
                </a:extLst>
              </p:cNvPr>
              <p:cNvCxnSpPr>
                <a:cxnSpLocks/>
                <a:endCxn id="120" idx="0"/>
              </p:cNvCxnSpPr>
              <p:nvPr/>
            </p:nvCxnSpPr>
            <p:spPr>
              <a:xfrm flipH="1">
                <a:off x="7772400" y="6480703"/>
                <a:ext cx="7433" cy="4079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8" name="Connettore 2 127">
                <a:extLst>
                  <a:ext uri="{FF2B5EF4-FFF2-40B4-BE49-F238E27FC236}">
                    <a16:creationId xmlns:a16="http://schemas.microsoft.com/office/drawing/2014/main" id="{1EC27666-C0E4-1518-0CAC-086894146162}"/>
                  </a:ext>
                </a:extLst>
              </p:cNvPr>
              <p:cNvCxnSpPr>
                <a:cxnSpLocks/>
              </p:cNvCxnSpPr>
              <p:nvPr/>
            </p:nvCxnSpPr>
            <p:spPr>
              <a:xfrm>
                <a:off x="7783551" y="7017841"/>
                <a:ext cx="0" cy="456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9" name="Connettore diritto 128">
                <a:extLst>
                  <a:ext uri="{FF2B5EF4-FFF2-40B4-BE49-F238E27FC236}">
                    <a16:creationId xmlns:a16="http://schemas.microsoft.com/office/drawing/2014/main" id="{68282ED6-5EB0-9BC5-2363-6AF1AC707458}"/>
                  </a:ext>
                </a:extLst>
              </p:cNvPr>
              <p:cNvCxnSpPr>
                <a:cxnSpLocks/>
              </p:cNvCxnSpPr>
              <p:nvPr/>
            </p:nvCxnSpPr>
            <p:spPr>
              <a:xfrm flipV="1">
                <a:off x="8671605" y="4925109"/>
                <a:ext cx="545713" cy="1"/>
              </a:xfrm>
              <a:prstGeom prst="line">
                <a:avLst/>
              </a:prstGeom>
            </p:spPr>
            <p:style>
              <a:lnRef idx="3">
                <a:schemeClr val="dk1"/>
              </a:lnRef>
              <a:fillRef idx="0">
                <a:schemeClr val="dk1"/>
              </a:fillRef>
              <a:effectRef idx="2">
                <a:schemeClr val="dk1"/>
              </a:effectRef>
              <a:fontRef idx="minor">
                <a:schemeClr val="tx1"/>
              </a:fontRef>
            </p:style>
          </p:cxnSp>
          <p:cxnSp>
            <p:nvCxnSpPr>
              <p:cNvPr id="130" name="Connettore diritto 129">
                <a:extLst>
                  <a:ext uri="{FF2B5EF4-FFF2-40B4-BE49-F238E27FC236}">
                    <a16:creationId xmlns:a16="http://schemas.microsoft.com/office/drawing/2014/main" id="{3D4DE372-2A3D-65F2-D3F2-710EA535F7E2}"/>
                  </a:ext>
                </a:extLst>
              </p:cNvPr>
              <p:cNvCxnSpPr>
                <a:cxnSpLocks/>
              </p:cNvCxnSpPr>
              <p:nvPr/>
            </p:nvCxnSpPr>
            <p:spPr>
              <a:xfrm>
                <a:off x="9210907" y="4925588"/>
                <a:ext cx="0" cy="2027659"/>
              </a:xfrm>
              <a:prstGeom prst="line">
                <a:avLst/>
              </a:prstGeom>
            </p:spPr>
            <p:style>
              <a:lnRef idx="3">
                <a:schemeClr val="dk1"/>
              </a:lnRef>
              <a:fillRef idx="0">
                <a:schemeClr val="dk1"/>
              </a:fillRef>
              <a:effectRef idx="2">
                <a:schemeClr val="dk1"/>
              </a:effectRef>
              <a:fontRef idx="minor">
                <a:schemeClr val="tx1"/>
              </a:fontRef>
            </p:style>
          </p:cxnSp>
          <p:cxnSp>
            <p:nvCxnSpPr>
              <p:cNvPr id="131" name="Connettore 2 130">
                <a:extLst>
                  <a:ext uri="{FF2B5EF4-FFF2-40B4-BE49-F238E27FC236}">
                    <a16:creationId xmlns:a16="http://schemas.microsoft.com/office/drawing/2014/main" id="{D503052E-5107-757E-C4A9-E250DBEA4308}"/>
                  </a:ext>
                </a:extLst>
              </p:cNvPr>
              <p:cNvCxnSpPr>
                <a:cxnSpLocks/>
                <a:endCxn id="120" idx="6"/>
              </p:cNvCxnSpPr>
              <p:nvPr/>
            </p:nvCxnSpPr>
            <p:spPr>
              <a:xfrm flipH="1">
                <a:off x="7833732" y="6953247"/>
                <a:ext cx="137717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2" name="CasellaDiTesto 131">
                <a:extLst>
                  <a:ext uri="{FF2B5EF4-FFF2-40B4-BE49-F238E27FC236}">
                    <a16:creationId xmlns:a16="http://schemas.microsoft.com/office/drawing/2014/main" id="{88510AC0-49F7-E7D2-C2A4-09AD8F74AB8A}"/>
                  </a:ext>
                </a:extLst>
              </p:cNvPr>
              <p:cNvSpPr txBox="1"/>
              <p:nvPr/>
            </p:nvSpPr>
            <p:spPr>
              <a:xfrm>
                <a:off x="8763964" y="4609229"/>
                <a:ext cx="354584" cy="369332"/>
              </a:xfrm>
              <a:prstGeom prst="rect">
                <a:avLst/>
              </a:prstGeom>
              <a:noFill/>
            </p:spPr>
            <p:txBody>
              <a:bodyPr wrap="none" rtlCol="0">
                <a:spAutoFit/>
              </a:bodyPr>
              <a:lstStyle/>
              <a:p>
                <a:r>
                  <a:rPr lang="it-IT" b="1" dirty="0"/>
                  <a:t>SI</a:t>
                </a:r>
              </a:p>
            </p:txBody>
          </p:sp>
          <p:sp>
            <p:nvSpPr>
              <p:cNvPr id="133" name="CasellaDiTesto 132">
                <a:extLst>
                  <a:ext uri="{FF2B5EF4-FFF2-40B4-BE49-F238E27FC236}">
                    <a16:creationId xmlns:a16="http://schemas.microsoft.com/office/drawing/2014/main" id="{2EBD6567-D950-DDCF-EEB1-5030FC839419}"/>
                  </a:ext>
                </a:extLst>
              </p:cNvPr>
              <p:cNvSpPr txBox="1"/>
              <p:nvPr/>
            </p:nvSpPr>
            <p:spPr>
              <a:xfrm>
                <a:off x="7428968" y="6467266"/>
                <a:ext cx="354584" cy="369332"/>
              </a:xfrm>
              <a:prstGeom prst="rect">
                <a:avLst/>
              </a:prstGeom>
              <a:noFill/>
            </p:spPr>
            <p:txBody>
              <a:bodyPr wrap="none" rtlCol="0">
                <a:spAutoFit/>
              </a:bodyPr>
              <a:lstStyle/>
              <a:p>
                <a:r>
                  <a:rPr lang="it-IT" b="1" dirty="0"/>
                  <a:t>SI</a:t>
                </a:r>
              </a:p>
            </p:txBody>
          </p:sp>
          <p:sp>
            <p:nvSpPr>
              <p:cNvPr id="134" name="CasellaDiTesto 133">
                <a:extLst>
                  <a:ext uri="{FF2B5EF4-FFF2-40B4-BE49-F238E27FC236}">
                    <a16:creationId xmlns:a16="http://schemas.microsoft.com/office/drawing/2014/main" id="{F4E066A4-AFF8-552F-8434-4BEFCD0DA81B}"/>
                  </a:ext>
                </a:extLst>
              </p:cNvPr>
              <p:cNvSpPr txBox="1"/>
              <p:nvPr/>
            </p:nvSpPr>
            <p:spPr>
              <a:xfrm>
                <a:off x="7772398" y="5266686"/>
                <a:ext cx="492443" cy="369332"/>
              </a:xfrm>
              <a:prstGeom prst="rect">
                <a:avLst/>
              </a:prstGeom>
              <a:noFill/>
            </p:spPr>
            <p:txBody>
              <a:bodyPr wrap="none" rtlCol="0">
                <a:spAutoFit/>
              </a:bodyPr>
              <a:lstStyle/>
              <a:p>
                <a:r>
                  <a:rPr lang="it-IT" b="1" dirty="0"/>
                  <a:t>NO</a:t>
                </a:r>
              </a:p>
            </p:txBody>
          </p:sp>
        </p:grpSp>
        <p:sp>
          <p:nvSpPr>
            <p:cNvPr id="106" name="Rombo 105">
              <a:extLst>
                <a:ext uri="{FF2B5EF4-FFF2-40B4-BE49-F238E27FC236}">
                  <a16:creationId xmlns:a16="http://schemas.microsoft.com/office/drawing/2014/main" id="{0C25D72E-5D53-5466-2CA8-6683FA84DAE1}"/>
                </a:ext>
              </a:extLst>
            </p:cNvPr>
            <p:cNvSpPr/>
            <p:nvPr/>
          </p:nvSpPr>
          <p:spPr>
            <a:xfrm>
              <a:off x="9083430" y="4691844"/>
              <a:ext cx="1763285" cy="870733"/>
            </a:xfrm>
            <a:prstGeom prst="diamon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Criterio di arresto verificato?</a:t>
              </a:r>
            </a:p>
          </p:txBody>
        </p:sp>
        <p:cxnSp>
          <p:nvCxnSpPr>
            <p:cNvPr id="107" name="Connettore diritto 106">
              <a:extLst>
                <a:ext uri="{FF2B5EF4-FFF2-40B4-BE49-F238E27FC236}">
                  <a16:creationId xmlns:a16="http://schemas.microsoft.com/office/drawing/2014/main" id="{3AB795A2-8565-1A3E-C11C-0DE41DE29293}"/>
                </a:ext>
              </a:extLst>
            </p:cNvPr>
            <p:cNvCxnSpPr>
              <a:cxnSpLocks/>
            </p:cNvCxnSpPr>
            <p:nvPr/>
          </p:nvCxnSpPr>
          <p:spPr>
            <a:xfrm>
              <a:off x="8110099" y="6249235"/>
              <a:ext cx="1004811" cy="0"/>
            </a:xfrm>
            <a:prstGeom prst="line">
              <a:avLst/>
            </a:prstGeom>
          </p:spPr>
          <p:style>
            <a:lnRef idx="3">
              <a:schemeClr val="dk1"/>
            </a:lnRef>
            <a:fillRef idx="0">
              <a:schemeClr val="dk1"/>
            </a:fillRef>
            <a:effectRef idx="2">
              <a:schemeClr val="dk1"/>
            </a:effectRef>
            <a:fontRef idx="minor">
              <a:schemeClr val="tx1"/>
            </a:fontRef>
          </p:style>
        </p:cxnSp>
        <p:cxnSp>
          <p:nvCxnSpPr>
            <p:cNvPr id="108" name="Connettore diritto 107">
              <a:extLst>
                <a:ext uri="{FF2B5EF4-FFF2-40B4-BE49-F238E27FC236}">
                  <a16:creationId xmlns:a16="http://schemas.microsoft.com/office/drawing/2014/main" id="{1B81FC17-9884-A817-49CC-2C8CDCD1F02E}"/>
                </a:ext>
              </a:extLst>
            </p:cNvPr>
            <p:cNvCxnSpPr>
              <a:cxnSpLocks/>
            </p:cNvCxnSpPr>
            <p:nvPr/>
          </p:nvCxnSpPr>
          <p:spPr>
            <a:xfrm>
              <a:off x="8110099" y="1696720"/>
              <a:ext cx="9701" cy="4552515"/>
            </a:xfrm>
            <a:prstGeom prst="line">
              <a:avLst/>
            </a:prstGeom>
          </p:spPr>
          <p:style>
            <a:lnRef idx="3">
              <a:schemeClr val="dk1"/>
            </a:lnRef>
            <a:fillRef idx="0">
              <a:schemeClr val="dk1"/>
            </a:fillRef>
            <a:effectRef idx="2">
              <a:schemeClr val="dk1"/>
            </a:effectRef>
            <a:fontRef idx="minor">
              <a:schemeClr val="tx1"/>
            </a:fontRef>
          </p:style>
        </p:cxnSp>
        <p:sp>
          <p:nvSpPr>
            <p:cNvPr id="109" name="CasellaDiTesto 108">
              <a:extLst>
                <a:ext uri="{FF2B5EF4-FFF2-40B4-BE49-F238E27FC236}">
                  <a16:creationId xmlns:a16="http://schemas.microsoft.com/office/drawing/2014/main" id="{3A1F0003-47C5-D383-2A2A-AD2DBA97DD0C}"/>
                </a:ext>
              </a:extLst>
            </p:cNvPr>
            <p:cNvSpPr txBox="1"/>
            <p:nvPr/>
          </p:nvSpPr>
          <p:spPr>
            <a:xfrm>
              <a:off x="7571921" y="4161372"/>
              <a:ext cx="492443" cy="369332"/>
            </a:xfrm>
            <a:prstGeom prst="rect">
              <a:avLst/>
            </a:prstGeom>
            <a:noFill/>
          </p:spPr>
          <p:txBody>
            <a:bodyPr wrap="none" rtlCol="0">
              <a:spAutoFit/>
            </a:bodyPr>
            <a:lstStyle/>
            <a:p>
              <a:r>
                <a:rPr lang="it-IT" b="1" dirty="0"/>
                <a:t>NO</a:t>
              </a:r>
            </a:p>
          </p:txBody>
        </p:sp>
        <p:cxnSp>
          <p:nvCxnSpPr>
            <p:cNvPr id="110" name="Connettore 2 109">
              <a:extLst>
                <a:ext uri="{FF2B5EF4-FFF2-40B4-BE49-F238E27FC236}">
                  <a16:creationId xmlns:a16="http://schemas.microsoft.com/office/drawing/2014/main" id="{6F28D8CF-5D84-3901-A561-1A2FB89E0F7B}"/>
                </a:ext>
              </a:extLst>
            </p:cNvPr>
            <p:cNvCxnSpPr>
              <a:cxnSpLocks/>
            </p:cNvCxnSpPr>
            <p:nvPr/>
          </p:nvCxnSpPr>
          <p:spPr>
            <a:xfrm flipV="1">
              <a:off x="8095914" y="1689901"/>
              <a:ext cx="841022" cy="681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36" name="Ovale 35">
            <a:extLst>
              <a:ext uri="{FF2B5EF4-FFF2-40B4-BE49-F238E27FC236}">
                <a16:creationId xmlns:a16="http://schemas.microsoft.com/office/drawing/2014/main" id="{DD59FBFD-1BDB-2937-F3B3-389D62F7F6D0}"/>
              </a:ext>
            </a:extLst>
          </p:cNvPr>
          <p:cNvSpPr/>
          <p:nvPr/>
        </p:nvSpPr>
        <p:spPr>
          <a:xfrm>
            <a:off x="1880434" y="4720205"/>
            <a:ext cx="1521936" cy="93715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2" name="CasellaDiTesto 101">
            <a:extLst>
              <a:ext uri="{FF2B5EF4-FFF2-40B4-BE49-F238E27FC236}">
                <a16:creationId xmlns:a16="http://schemas.microsoft.com/office/drawing/2014/main" id="{CE9353C9-725B-F91F-5C12-2B5541E30DA5}"/>
              </a:ext>
            </a:extLst>
          </p:cNvPr>
          <p:cNvSpPr txBox="1"/>
          <p:nvPr/>
        </p:nvSpPr>
        <p:spPr>
          <a:xfrm>
            <a:off x="4405621" y="1545868"/>
            <a:ext cx="9800709" cy="646331"/>
          </a:xfrm>
          <a:prstGeom prst="rect">
            <a:avLst/>
          </a:prstGeom>
          <a:noFill/>
        </p:spPr>
        <p:txBody>
          <a:bodyPr wrap="square" rtlCol="0">
            <a:spAutoFit/>
          </a:bodyPr>
          <a:lstStyle/>
          <a:p>
            <a:r>
              <a:rPr lang="it-IT" dirty="0"/>
              <a:t>Il criterio di terminazione adottato per l'algoritmo genetico si basa sull'analisi della variazione della funzione di fitness durante le iterazioni.</a:t>
            </a:r>
            <a:endParaRPr lang="en-US" dirty="0">
              <a:solidFill>
                <a:srgbClr val="000000"/>
              </a:solidFill>
              <a:latin typeface="Calibri (Corpo)"/>
            </a:endParaRPr>
          </a:p>
        </p:txBody>
      </p:sp>
      <p:sp>
        <p:nvSpPr>
          <p:cNvPr id="103" name="Text 0">
            <a:extLst>
              <a:ext uri="{FF2B5EF4-FFF2-40B4-BE49-F238E27FC236}">
                <a16:creationId xmlns:a16="http://schemas.microsoft.com/office/drawing/2014/main" id="{141D11A5-BA70-173B-6319-4082EB680289}"/>
              </a:ext>
            </a:extLst>
          </p:cNvPr>
          <p:cNvSpPr/>
          <p:nvPr/>
        </p:nvSpPr>
        <p:spPr>
          <a:xfrm>
            <a:off x="4405621" y="22036"/>
            <a:ext cx="10039503" cy="987038"/>
          </a:xfrm>
          <a:prstGeom prst="rect">
            <a:avLst/>
          </a:prstGeom>
        </p:spPr>
        <p:txBody>
          <a:bodyPr vert="horz" lIns="91440" tIns="45720" rIns="91440" bIns="45720" rtlCol="0" anchor="b">
            <a:normAutofit fontScale="70000" lnSpcReduction="20000"/>
          </a:bodyPr>
          <a:lstStyle/>
          <a:p>
            <a:pPr>
              <a:lnSpc>
                <a:spcPct val="90000"/>
              </a:lnSpc>
              <a:spcBef>
                <a:spcPct val="0"/>
              </a:spcBef>
              <a:spcAft>
                <a:spcPts val="600"/>
              </a:spcAft>
            </a:pPr>
            <a:r>
              <a:rPr lang="en-US" sz="5300" b="1" dirty="0">
                <a:solidFill>
                  <a:srgbClr val="231971"/>
                </a:solidFill>
                <a:latin typeface="Outfit Extra Bold" pitchFamily="34" charset="0"/>
              </a:rPr>
              <a:t>Flow</a:t>
            </a:r>
            <a:r>
              <a:rPr lang="en-US" sz="6200" b="1" kern="1200" dirty="0">
                <a:solidFill>
                  <a:schemeClr val="tx1"/>
                </a:solidFill>
                <a:latin typeface="+mj-lt"/>
                <a:ea typeface="+mj-ea"/>
                <a:cs typeface="+mj-cs"/>
              </a:rPr>
              <a:t> </a:t>
            </a:r>
            <a:r>
              <a:rPr lang="en-US" sz="5300" b="1" dirty="0">
                <a:solidFill>
                  <a:srgbClr val="231971"/>
                </a:solidFill>
                <a:latin typeface="Outfit Extra Bold" pitchFamily="34" charset="0"/>
              </a:rPr>
              <a:t>Chart </a:t>
            </a:r>
            <a:r>
              <a:rPr lang="en-US" sz="5300" b="1" dirty="0" err="1">
                <a:solidFill>
                  <a:srgbClr val="231971"/>
                </a:solidFill>
                <a:latin typeface="Outfit Extra Bold" pitchFamily="34" charset="0"/>
              </a:rPr>
              <a:t>Algoritmo</a:t>
            </a:r>
            <a:r>
              <a:rPr lang="en-US" sz="5300" b="1" dirty="0">
                <a:solidFill>
                  <a:srgbClr val="231971"/>
                </a:solidFill>
                <a:latin typeface="Outfit Extra Bold" pitchFamily="34" charset="0"/>
              </a:rPr>
              <a:t> </a:t>
            </a:r>
            <a:r>
              <a:rPr lang="en-US" sz="5300" b="1" dirty="0" err="1">
                <a:solidFill>
                  <a:srgbClr val="231971"/>
                </a:solidFill>
                <a:latin typeface="Outfit Extra Bold" pitchFamily="34" charset="0"/>
              </a:rPr>
              <a:t>Genetico</a:t>
            </a:r>
            <a:r>
              <a:rPr lang="en-US" sz="5300" b="1" dirty="0">
                <a:solidFill>
                  <a:srgbClr val="231971"/>
                </a:solidFill>
                <a:latin typeface="Outfit Extra Bold" pitchFamily="34" charset="0"/>
              </a:rPr>
              <a:t> : </a:t>
            </a:r>
            <a:r>
              <a:rPr lang="en-US" sz="5300" b="1" dirty="0" err="1">
                <a:solidFill>
                  <a:srgbClr val="231971"/>
                </a:solidFill>
                <a:latin typeface="Outfit Extra Bold" pitchFamily="34" charset="0"/>
              </a:rPr>
              <a:t>Criterio</a:t>
            </a:r>
            <a:r>
              <a:rPr lang="en-US" sz="5300" b="1" dirty="0">
                <a:solidFill>
                  <a:srgbClr val="231971"/>
                </a:solidFill>
                <a:latin typeface="Outfit Extra Bold" pitchFamily="34" charset="0"/>
              </a:rPr>
              <a:t> di </a:t>
            </a:r>
            <a:r>
              <a:rPr lang="en-US" sz="5300" b="1" dirty="0" err="1">
                <a:solidFill>
                  <a:srgbClr val="231971"/>
                </a:solidFill>
                <a:latin typeface="Outfit Extra Bold" pitchFamily="34" charset="0"/>
              </a:rPr>
              <a:t>arresto</a:t>
            </a:r>
            <a:endParaRPr lang="en-US" sz="5300" b="1" dirty="0">
              <a:solidFill>
                <a:srgbClr val="231971"/>
              </a:solidFill>
              <a:latin typeface="Outfit Extra Bold" pitchFamily="34" charset="0"/>
            </a:endParaRPr>
          </a:p>
        </p:txBody>
      </p:sp>
    </p:spTree>
    <p:extLst>
      <p:ext uri="{BB962C8B-B14F-4D97-AF65-F5344CB8AC3E}">
        <p14:creationId xmlns:p14="http://schemas.microsoft.com/office/powerpoint/2010/main" val="1919130645"/>
      </p:ext>
    </p:extLst>
  </p:cSld>
  <p:clrMapOvr>
    <a:overrideClrMapping bg1="lt1" tx1="dk1" bg2="lt2" tx2="dk2" accent1="accent1" accent2="accent2" accent3="accent3" accent4="accent4" accent5="accent5" accent6="accent6" hlink="hlink" folHlink="folHlink"/>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0-#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2"/>
                                        </p:tgtEl>
                                        <p:attrNameLst>
                                          <p:attrName>style.visibility</p:attrName>
                                        </p:attrNameLst>
                                      </p:cBhvr>
                                      <p:to>
                                        <p:strVal val="visible"/>
                                      </p:to>
                                    </p:set>
                                    <p:anim calcmode="lin" valueType="num">
                                      <p:cBhvr additive="base">
                                        <p:cTn id="13" dur="500" fill="hold"/>
                                        <p:tgtEl>
                                          <p:spTgt spid="102"/>
                                        </p:tgtEl>
                                        <p:attrNameLst>
                                          <p:attrName>ppt_x</p:attrName>
                                        </p:attrNameLst>
                                      </p:cBhvr>
                                      <p:tavLst>
                                        <p:tav tm="0">
                                          <p:val>
                                            <p:strVal val="1+#ppt_w/2"/>
                                          </p:val>
                                        </p:tav>
                                        <p:tav tm="100000">
                                          <p:val>
                                            <p:strVal val="#ppt_x"/>
                                          </p:val>
                                        </p:tav>
                                      </p:tavLst>
                                    </p:anim>
                                    <p:anim calcmode="lin" valueType="num">
                                      <p:cBhvr additive="base">
                                        <p:cTn id="14" dur="500" fill="hold"/>
                                        <p:tgtEl>
                                          <p:spTgt spid="1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10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3AA28F-F532-35FD-7E13-D65842E07E95}"/>
              </a:ext>
            </a:extLst>
          </p:cNvPr>
          <p:cNvSpPr/>
          <p:nvPr/>
        </p:nvSpPr>
        <p:spPr>
          <a:xfrm>
            <a:off x="384174" y="413239"/>
            <a:ext cx="8466576" cy="987038"/>
          </a:xfrm>
          <a:prstGeom prst="rect">
            <a:avLst/>
          </a:prstGeom>
        </p:spPr>
        <p:txBody>
          <a:bodyPr vert="horz" lIns="91440" tIns="45720" rIns="91440" bIns="45720" rtlCol="0" anchor="b">
            <a:normAutofit/>
          </a:bodyPr>
          <a:lstStyle/>
          <a:p>
            <a:pPr>
              <a:spcBef>
                <a:spcPct val="0"/>
              </a:spcBef>
              <a:spcAft>
                <a:spcPts val="600"/>
              </a:spcAft>
            </a:pPr>
            <a:r>
              <a:rPr lang="en-US" sz="4400" b="1" dirty="0" err="1">
                <a:solidFill>
                  <a:srgbClr val="231971"/>
                </a:solidFill>
                <a:latin typeface="Outfit Extra Bold" pitchFamily="34" charset="0"/>
              </a:rPr>
              <a:t>Vincolo</a:t>
            </a:r>
            <a:r>
              <a:rPr lang="en-US" sz="4400" b="1" dirty="0">
                <a:solidFill>
                  <a:srgbClr val="231971"/>
                </a:solidFill>
                <a:latin typeface="Outfit Extra Bold" pitchFamily="34" charset="0"/>
              </a:rPr>
              <a:t> del </a:t>
            </a:r>
            <a:r>
              <a:rPr lang="en-US" sz="4400" b="1" dirty="0" err="1">
                <a:solidFill>
                  <a:srgbClr val="231971"/>
                </a:solidFill>
                <a:latin typeface="Outfit Extra Bold" pitchFamily="34" charset="0"/>
              </a:rPr>
              <a:t>costo</a:t>
            </a:r>
            <a:r>
              <a:rPr lang="en-US" sz="4400" b="1" dirty="0">
                <a:solidFill>
                  <a:srgbClr val="231971"/>
                </a:solidFill>
                <a:latin typeface="Outfit Extra Bold" pitchFamily="34" charset="0"/>
              </a:rPr>
              <a:t> </a:t>
            </a:r>
            <a:r>
              <a:rPr lang="en-US" sz="4400" b="1" dirty="0" err="1">
                <a:solidFill>
                  <a:srgbClr val="231971"/>
                </a:solidFill>
                <a:latin typeface="Outfit Extra Bold" pitchFamily="34" charset="0"/>
              </a:rPr>
              <a:t>massimo</a:t>
            </a:r>
            <a:endParaRPr lang="en-US" sz="4400" b="1" dirty="0">
              <a:solidFill>
                <a:srgbClr val="231971"/>
              </a:solidFill>
              <a:latin typeface="Outfit Extra Bold" pitchFamily="34" charset="0"/>
            </a:endParaRPr>
          </a:p>
        </p:txBody>
      </p:sp>
      <p:sp>
        <p:nvSpPr>
          <p:cNvPr id="3" name="CasellaDiTesto 2">
            <a:extLst>
              <a:ext uri="{FF2B5EF4-FFF2-40B4-BE49-F238E27FC236}">
                <a16:creationId xmlns:a16="http://schemas.microsoft.com/office/drawing/2014/main" id="{857C4416-AF5C-C6D1-46E3-668AA1E27E40}"/>
              </a:ext>
            </a:extLst>
          </p:cNvPr>
          <p:cNvSpPr txBox="1"/>
          <p:nvPr/>
        </p:nvSpPr>
        <p:spPr>
          <a:xfrm>
            <a:off x="384175" y="1804415"/>
            <a:ext cx="8150225" cy="3970318"/>
          </a:xfrm>
          <a:prstGeom prst="rect">
            <a:avLst/>
          </a:prstGeom>
          <a:noFill/>
        </p:spPr>
        <p:txBody>
          <a:bodyPr wrap="square">
            <a:spAutoFit/>
          </a:bodyPr>
          <a:lstStyle/>
          <a:p>
            <a:r>
              <a:rPr lang="it-IT" b="0" dirty="0" err="1">
                <a:solidFill>
                  <a:srgbClr val="0000FF"/>
                </a:solidFill>
                <a:effectLst/>
                <a:latin typeface="Consolas" panose="020B0609020204030204" pitchFamily="49" charset="0"/>
              </a:rPr>
              <a:t>def</a:t>
            </a:r>
            <a:r>
              <a:rPr lang="it-IT" b="0" dirty="0">
                <a:solidFill>
                  <a:srgbClr val="000000"/>
                </a:solidFill>
                <a:effectLst/>
                <a:latin typeface="Consolas" panose="020B0609020204030204" pitchFamily="49" charset="0"/>
              </a:rPr>
              <a:t> </a:t>
            </a:r>
            <a:r>
              <a:rPr lang="it-IT" b="0" dirty="0" err="1">
                <a:solidFill>
                  <a:srgbClr val="000000"/>
                </a:solidFill>
                <a:effectLst/>
                <a:latin typeface="Consolas" panose="020B0609020204030204" pitchFamily="49" charset="0"/>
              </a:rPr>
              <a:t>calculate_total_costs</a:t>
            </a:r>
            <a:r>
              <a:rPr lang="it-IT" b="0" dirty="0">
                <a:solidFill>
                  <a:srgbClr val="000000"/>
                </a:solidFill>
                <a:effectLst/>
                <a:latin typeface="Consolas" panose="020B0609020204030204" pitchFamily="49" charset="0"/>
              </a:rPr>
              <a:t>(</a:t>
            </a:r>
            <a:r>
              <a:rPr lang="it-IT" b="0" dirty="0" err="1">
                <a:solidFill>
                  <a:srgbClr val="000000"/>
                </a:solidFill>
                <a:effectLst/>
                <a:latin typeface="Consolas" panose="020B0609020204030204" pitchFamily="49" charset="0"/>
              </a:rPr>
              <a:t>graph</a:t>
            </a:r>
            <a:r>
              <a:rPr lang="it-IT" b="0" dirty="0">
                <a:solidFill>
                  <a:srgbClr val="000000"/>
                </a:solidFill>
                <a:effectLst/>
                <a:latin typeface="Consolas" panose="020B0609020204030204" pitchFamily="49" charset="0"/>
              </a:rPr>
              <a:t>, </a:t>
            </a:r>
            <a:r>
              <a:rPr lang="it-IT" b="0" dirty="0" err="1">
                <a:solidFill>
                  <a:srgbClr val="000000"/>
                </a:solidFill>
                <a:effectLst/>
                <a:latin typeface="Consolas" panose="020B0609020204030204" pitchFamily="49" charset="0"/>
              </a:rPr>
              <a:t>sorted_individuals</a:t>
            </a:r>
            <a:r>
              <a:rPr lang="it-IT" b="0" dirty="0">
                <a:solidFill>
                  <a:srgbClr val="000000"/>
                </a:solidFill>
                <a:effectLst/>
                <a:latin typeface="Consolas" panose="020B0609020204030204" pitchFamily="49" charset="0"/>
              </a:rPr>
              <a:t>, </a:t>
            </a:r>
            <a:r>
              <a:rPr lang="it-IT" b="0" dirty="0" err="1">
                <a:solidFill>
                  <a:srgbClr val="000000"/>
                </a:solidFill>
                <a:effectLst/>
                <a:latin typeface="Consolas" panose="020B0609020204030204" pitchFamily="49" charset="0"/>
              </a:rPr>
              <a:t>costo_pedaggio_al_metro</a:t>
            </a:r>
            <a:r>
              <a:rPr lang="it-IT" b="0" dirty="0">
                <a:solidFill>
                  <a:srgbClr val="000000"/>
                </a:solidFill>
                <a:effectLst/>
                <a:latin typeface="Consolas" panose="020B0609020204030204" pitchFamily="49" charset="0"/>
              </a:rPr>
              <a:t>):</a:t>
            </a:r>
          </a:p>
          <a:p>
            <a:endParaRPr lang="it-IT" dirty="0">
              <a:solidFill>
                <a:srgbClr val="000000"/>
              </a:solidFill>
              <a:latin typeface="Consolas" panose="020B0609020204030204" pitchFamily="49" charset="0"/>
            </a:endParaRPr>
          </a:p>
          <a:p>
            <a:pPr marL="285750" indent="-285750">
              <a:buFontTx/>
              <a:buChar char="-"/>
            </a:pPr>
            <a:r>
              <a:rPr lang="it-IT" b="0" dirty="0" err="1">
                <a:solidFill>
                  <a:srgbClr val="000000"/>
                </a:solidFill>
                <a:effectLst/>
                <a:latin typeface="Consolas" panose="020B0609020204030204" pitchFamily="49" charset="0"/>
              </a:rPr>
              <a:t>graph</a:t>
            </a:r>
            <a:r>
              <a:rPr lang="it-IT"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contiene</a:t>
            </a:r>
            <a:r>
              <a:rPr lang="en-US" b="0" dirty="0">
                <a:solidFill>
                  <a:srgbClr val="000000"/>
                </a:solidFill>
                <a:effectLst/>
                <a:latin typeface="Consolas" panose="020B0609020204030204" pitchFamily="49" charset="0"/>
              </a:rPr>
              <a:t> la rete stradale con le </a:t>
            </a:r>
            <a:r>
              <a:rPr lang="en-US" b="0" dirty="0" err="1">
                <a:solidFill>
                  <a:srgbClr val="000000"/>
                </a:solidFill>
                <a:effectLst/>
                <a:latin typeface="Consolas" panose="020B0609020204030204" pitchFamily="49" charset="0"/>
              </a:rPr>
              <a:t>stazioni</a:t>
            </a:r>
            <a:r>
              <a:rPr lang="en-US" b="0" dirty="0">
                <a:solidFill>
                  <a:srgbClr val="000000"/>
                </a:solidFill>
                <a:effectLst/>
                <a:latin typeface="Consolas" panose="020B0609020204030204" pitchFamily="49" charset="0"/>
              </a:rPr>
              <a:t> di ricarica</a:t>
            </a:r>
          </a:p>
          <a:p>
            <a:pPr marL="285750" indent="-285750">
              <a:buFontTx/>
              <a:buChar char="-"/>
            </a:pPr>
            <a:endParaRPr lang="it-IT" b="0" dirty="0">
              <a:solidFill>
                <a:srgbClr val="000000"/>
              </a:solidFill>
              <a:effectLst/>
              <a:latin typeface="Consolas" panose="020B0609020204030204" pitchFamily="49" charset="0"/>
            </a:endParaRPr>
          </a:p>
          <a:p>
            <a:pPr marL="285750" indent="-285750">
              <a:buFontTx/>
              <a:buChar char="-"/>
            </a:pPr>
            <a:r>
              <a:rPr lang="it-IT" b="0" dirty="0" err="1">
                <a:solidFill>
                  <a:srgbClr val="000000"/>
                </a:solidFill>
                <a:effectLst/>
                <a:latin typeface="Consolas" panose="020B0609020204030204" pitchFamily="49" charset="0"/>
              </a:rPr>
              <a:t>sorted_individuals</a:t>
            </a:r>
            <a:r>
              <a:rPr lang="it-IT" b="0" dirty="0">
                <a:solidFill>
                  <a:srgbClr val="000000"/>
                </a:solidFill>
                <a:effectLst/>
                <a:latin typeface="Consolas" panose="020B0609020204030204" pitchFamily="49" charset="0"/>
              </a:rPr>
              <a:t>: individui ordinati in base al valore della fitness</a:t>
            </a:r>
          </a:p>
          <a:p>
            <a:pPr marL="285750" indent="-285750">
              <a:buFontTx/>
              <a:buChar char="-"/>
            </a:pPr>
            <a:endParaRPr lang="it-IT" b="0" dirty="0">
              <a:solidFill>
                <a:srgbClr val="000000"/>
              </a:solidFill>
              <a:effectLst/>
              <a:latin typeface="Consolas" panose="020B0609020204030204" pitchFamily="49" charset="0"/>
            </a:endParaRPr>
          </a:p>
          <a:p>
            <a:pPr marL="285750" indent="-285750">
              <a:buFontTx/>
              <a:buChar char="-"/>
            </a:pPr>
            <a:r>
              <a:rPr lang="it-IT" b="0" dirty="0" err="1">
                <a:solidFill>
                  <a:srgbClr val="000000"/>
                </a:solidFill>
                <a:effectLst/>
                <a:latin typeface="Consolas" panose="020B0609020204030204" pitchFamily="49" charset="0"/>
              </a:rPr>
              <a:t>costo_pedaggio_al_metro</a:t>
            </a:r>
            <a:r>
              <a:rPr lang="it-IT" b="0" dirty="0">
                <a:solidFill>
                  <a:srgbClr val="000000"/>
                </a:solidFill>
                <a:effectLst/>
                <a:latin typeface="Consolas" panose="020B0609020204030204" pitchFamily="49" charset="0"/>
              </a:rPr>
              <a:t>: espresso in €/m</a:t>
            </a:r>
          </a:p>
          <a:p>
            <a:pPr marL="285750" indent="-285750">
              <a:buFontTx/>
              <a:buChar char="-"/>
            </a:pPr>
            <a:endParaRPr lang="it-IT" dirty="0">
              <a:solidFill>
                <a:srgbClr val="000000"/>
              </a:solidFill>
              <a:latin typeface="Consolas" panose="020B0609020204030204" pitchFamily="49" charset="0"/>
            </a:endParaRPr>
          </a:p>
          <a:p>
            <a:endParaRPr lang="it-IT" b="0" dirty="0">
              <a:solidFill>
                <a:srgbClr val="000000"/>
              </a:solidFill>
              <a:effectLst/>
              <a:latin typeface="Consolas" panose="020B0609020204030204" pitchFamily="49" charset="0"/>
            </a:endParaRPr>
          </a:p>
          <a:p>
            <a:r>
              <a:rPr lang="it-IT" dirty="0">
                <a:solidFill>
                  <a:srgbClr val="000000"/>
                </a:solidFill>
                <a:latin typeface="Calibri (Corpo)"/>
              </a:rPr>
              <a:t>In questo modo, dopo aver inserito un Budget, abbiamo in uscita il primo individuo avente il percorso migliore in base al tempo percorso, ma che rispetti questo il vincolo.</a:t>
            </a:r>
          </a:p>
        </p:txBody>
      </p:sp>
      <p:pic>
        <p:nvPicPr>
          <p:cNvPr id="9" name="Immagine 8" descr="Immagine che contiene testo, vestiti, schermata, Viso umano&#10;&#10;Descrizione generata automaticamente">
            <a:extLst>
              <a:ext uri="{FF2B5EF4-FFF2-40B4-BE49-F238E27FC236}">
                <a16:creationId xmlns:a16="http://schemas.microsoft.com/office/drawing/2014/main" id="{CBD07C49-BC6A-16CF-7318-85E62490DCE4}"/>
              </a:ext>
            </a:extLst>
          </p:cNvPr>
          <p:cNvPicPr>
            <a:picLocks noChangeAspect="1"/>
          </p:cNvPicPr>
          <p:nvPr/>
        </p:nvPicPr>
        <p:blipFill>
          <a:blip r:embed="rId3"/>
          <a:stretch>
            <a:fillRect/>
          </a:stretch>
        </p:blipFill>
        <p:spPr>
          <a:xfrm>
            <a:off x="9302496" y="2071845"/>
            <a:ext cx="4601538" cy="3255936"/>
          </a:xfrm>
          <a:prstGeom prst="rect">
            <a:avLst/>
          </a:prstGeom>
        </p:spPr>
      </p:pic>
    </p:spTree>
    <p:extLst>
      <p:ext uri="{BB962C8B-B14F-4D97-AF65-F5344CB8AC3E}">
        <p14:creationId xmlns:p14="http://schemas.microsoft.com/office/powerpoint/2010/main" val="4062983463"/>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4630398" cy="189114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4627" cy="1890553"/>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4630401" cy="1889173"/>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41E7C832-B045-B894-4DC1-CBC40A0E00B0}"/>
              </a:ext>
            </a:extLst>
          </p:cNvPr>
          <p:cNvSpPr/>
          <p:nvPr/>
        </p:nvSpPr>
        <p:spPr>
          <a:xfrm>
            <a:off x="839655" y="297645"/>
            <a:ext cx="8476465" cy="139104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800" b="1" kern="1200">
                <a:solidFill>
                  <a:srgbClr val="FFFFFF"/>
                </a:solidFill>
                <a:latin typeface="+mj-lt"/>
                <a:ea typeface="+mj-ea"/>
                <a:cs typeface="+mj-cs"/>
              </a:rPr>
              <a:t>Parametri della simulazione</a:t>
            </a:r>
          </a:p>
        </p:txBody>
      </p:sp>
      <p:graphicFrame>
        <p:nvGraphicFramePr>
          <p:cNvPr id="4" name="Tabella 3">
            <a:extLst>
              <a:ext uri="{FF2B5EF4-FFF2-40B4-BE49-F238E27FC236}">
                <a16:creationId xmlns:a16="http://schemas.microsoft.com/office/drawing/2014/main" id="{8FB59C93-4327-7EAB-8711-FCE0E9348F54}"/>
              </a:ext>
            </a:extLst>
          </p:cNvPr>
          <p:cNvGraphicFramePr>
            <a:graphicFrameLocks noGrp="1"/>
          </p:cNvGraphicFramePr>
          <p:nvPr>
            <p:extLst>
              <p:ext uri="{D42A27DB-BD31-4B8C-83A1-F6EECF244321}">
                <p14:modId xmlns:p14="http://schemas.microsoft.com/office/powerpoint/2010/main" val="3264405490"/>
              </p:ext>
            </p:extLst>
          </p:nvPr>
        </p:nvGraphicFramePr>
        <p:xfrm>
          <a:off x="-3" y="3327200"/>
          <a:ext cx="14626339" cy="2396421"/>
        </p:xfrm>
        <a:graphic>
          <a:graphicData uri="http://schemas.openxmlformats.org/drawingml/2006/table">
            <a:tbl>
              <a:tblPr firstRow="1" bandRow="1">
                <a:tableStyleId>{5C22544A-7EE6-4342-B048-85BDC9FD1C3A}</a:tableStyleId>
              </a:tblPr>
              <a:tblGrid>
                <a:gridCol w="1130154">
                  <a:extLst>
                    <a:ext uri="{9D8B030D-6E8A-4147-A177-3AD203B41FA5}">
                      <a16:colId xmlns:a16="http://schemas.microsoft.com/office/drawing/2014/main" val="3010589708"/>
                    </a:ext>
                  </a:extLst>
                </a:gridCol>
                <a:gridCol w="1078787">
                  <a:extLst>
                    <a:ext uri="{9D8B030D-6E8A-4147-A177-3AD203B41FA5}">
                      <a16:colId xmlns:a16="http://schemas.microsoft.com/office/drawing/2014/main" val="1243077644"/>
                    </a:ext>
                  </a:extLst>
                </a:gridCol>
                <a:gridCol w="924674">
                  <a:extLst>
                    <a:ext uri="{9D8B030D-6E8A-4147-A177-3AD203B41FA5}">
                      <a16:colId xmlns:a16="http://schemas.microsoft.com/office/drawing/2014/main" val="1843112285"/>
                    </a:ext>
                  </a:extLst>
                </a:gridCol>
                <a:gridCol w="1171254">
                  <a:extLst>
                    <a:ext uri="{9D8B030D-6E8A-4147-A177-3AD203B41FA5}">
                      <a16:colId xmlns:a16="http://schemas.microsoft.com/office/drawing/2014/main" val="1143227532"/>
                    </a:ext>
                  </a:extLst>
                </a:gridCol>
                <a:gridCol w="1582220">
                  <a:extLst>
                    <a:ext uri="{9D8B030D-6E8A-4147-A177-3AD203B41FA5}">
                      <a16:colId xmlns:a16="http://schemas.microsoft.com/office/drawing/2014/main" val="3251506326"/>
                    </a:ext>
                  </a:extLst>
                </a:gridCol>
                <a:gridCol w="1160980">
                  <a:extLst>
                    <a:ext uri="{9D8B030D-6E8A-4147-A177-3AD203B41FA5}">
                      <a16:colId xmlns:a16="http://schemas.microsoft.com/office/drawing/2014/main" val="4073798000"/>
                    </a:ext>
                  </a:extLst>
                </a:gridCol>
                <a:gridCol w="1325366">
                  <a:extLst>
                    <a:ext uri="{9D8B030D-6E8A-4147-A177-3AD203B41FA5}">
                      <a16:colId xmlns:a16="http://schemas.microsoft.com/office/drawing/2014/main" val="3575705596"/>
                    </a:ext>
                  </a:extLst>
                </a:gridCol>
                <a:gridCol w="1078470">
                  <a:extLst>
                    <a:ext uri="{9D8B030D-6E8A-4147-A177-3AD203B41FA5}">
                      <a16:colId xmlns:a16="http://schemas.microsoft.com/office/drawing/2014/main" val="1349502391"/>
                    </a:ext>
                  </a:extLst>
                </a:gridCol>
                <a:gridCol w="1038007">
                  <a:extLst>
                    <a:ext uri="{9D8B030D-6E8A-4147-A177-3AD203B41FA5}">
                      <a16:colId xmlns:a16="http://schemas.microsoft.com/office/drawing/2014/main" val="1820584814"/>
                    </a:ext>
                  </a:extLst>
                </a:gridCol>
                <a:gridCol w="821932">
                  <a:extLst>
                    <a:ext uri="{9D8B030D-6E8A-4147-A177-3AD203B41FA5}">
                      <a16:colId xmlns:a16="http://schemas.microsoft.com/office/drawing/2014/main" val="2268325847"/>
                    </a:ext>
                  </a:extLst>
                </a:gridCol>
                <a:gridCol w="1294544">
                  <a:extLst>
                    <a:ext uri="{9D8B030D-6E8A-4147-A177-3AD203B41FA5}">
                      <a16:colId xmlns:a16="http://schemas.microsoft.com/office/drawing/2014/main" val="1113584522"/>
                    </a:ext>
                  </a:extLst>
                </a:gridCol>
                <a:gridCol w="1064535">
                  <a:extLst>
                    <a:ext uri="{9D8B030D-6E8A-4147-A177-3AD203B41FA5}">
                      <a16:colId xmlns:a16="http://schemas.microsoft.com/office/drawing/2014/main" val="2318314226"/>
                    </a:ext>
                  </a:extLst>
                </a:gridCol>
                <a:gridCol w="955416">
                  <a:extLst>
                    <a:ext uri="{9D8B030D-6E8A-4147-A177-3AD203B41FA5}">
                      <a16:colId xmlns:a16="http://schemas.microsoft.com/office/drawing/2014/main" val="3096344064"/>
                    </a:ext>
                  </a:extLst>
                </a:gridCol>
              </a:tblGrid>
              <a:tr h="1138509">
                <a:tc>
                  <a:txBody>
                    <a:bodyPr/>
                    <a:lstStyle/>
                    <a:p>
                      <a:pPr algn="ctr"/>
                      <a:r>
                        <a:rPr lang="it-IT" sz="1700" b="1" dirty="0">
                          <a:solidFill>
                            <a:schemeClr val="tx1"/>
                          </a:solidFill>
                        </a:rPr>
                        <a:t>Regione</a:t>
                      </a:r>
                    </a:p>
                  </a:txBody>
                  <a:tcPr marL="83434" marR="83434" marT="41716" marB="41716">
                    <a:lnL>
                      <a:noFill/>
                    </a:lnL>
                    <a:lnR>
                      <a:noFill/>
                    </a:lnR>
                    <a:lnT>
                      <a:noFill/>
                    </a:lnT>
                    <a:lnB w="19050">
                      <a:solidFill>
                        <a:schemeClr val="accent1"/>
                      </a:solidFill>
                    </a:lnB>
                    <a:noFill/>
                  </a:tcPr>
                </a:tc>
                <a:tc>
                  <a:txBody>
                    <a:bodyPr/>
                    <a:lstStyle/>
                    <a:p>
                      <a:pPr algn="ctr"/>
                      <a:r>
                        <a:rPr lang="it-IT" sz="1700" b="1" dirty="0">
                          <a:solidFill>
                            <a:schemeClr val="tx1"/>
                          </a:solidFill>
                        </a:rPr>
                        <a:t>Città di Partenza</a:t>
                      </a:r>
                    </a:p>
                  </a:txBody>
                  <a:tcPr marL="83434" marR="83434" marT="41716" marB="41716">
                    <a:lnL>
                      <a:noFill/>
                    </a:lnL>
                    <a:lnR>
                      <a:noFill/>
                    </a:lnR>
                    <a:lnT>
                      <a:noFill/>
                    </a:lnT>
                    <a:lnB w="19050">
                      <a:solidFill>
                        <a:schemeClr val="accent1"/>
                      </a:solidFill>
                    </a:lnB>
                    <a:noFill/>
                  </a:tcPr>
                </a:tc>
                <a:tc>
                  <a:txBody>
                    <a:bodyPr/>
                    <a:lstStyle/>
                    <a:p>
                      <a:pPr algn="ctr"/>
                      <a:r>
                        <a:rPr lang="it-IT" sz="1700" b="1" dirty="0">
                          <a:solidFill>
                            <a:schemeClr val="tx1"/>
                          </a:solidFill>
                        </a:rPr>
                        <a:t>Città di Arrivo</a:t>
                      </a:r>
                    </a:p>
                  </a:txBody>
                  <a:tcPr marL="83434" marR="83434" marT="41716" marB="41716">
                    <a:lnL>
                      <a:noFill/>
                    </a:lnL>
                    <a:lnR>
                      <a:noFill/>
                    </a:lnR>
                    <a:lnT>
                      <a:noFill/>
                    </a:lnT>
                    <a:lnB w="19050">
                      <a:solidFill>
                        <a:schemeClr val="accent1"/>
                      </a:solidFill>
                    </a:lnB>
                    <a:noFill/>
                  </a:tcPr>
                </a:tc>
                <a:tc>
                  <a:txBody>
                    <a:bodyPr/>
                    <a:lstStyle/>
                    <a:p>
                      <a:pPr algn="ctr"/>
                      <a:r>
                        <a:rPr lang="it-IT" sz="1700" b="1" dirty="0">
                          <a:solidFill>
                            <a:schemeClr val="tx1"/>
                          </a:solidFill>
                        </a:rPr>
                        <a:t>Autonomia</a:t>
                      </a:r>
                    </a:p>
                    <a:p>
                      <a:pPr algn="ctr"/>
                      <a:r>
                        <a:rPr lang="it-IT" sz="1700" b="1" dirty="0">
                          <a:solidFill>
                            <a:schemeClr val="tx1"/>
                          </a:solidFill>
                        </a:rPr>
                        <a:t>[kWh]</a:t>
                      </a:r>
                    </a:p>
                  </a:txBody>
                  <a:tcPr marL="83434" marR="83434" marT="41716" marB="41716">
                    <a:lnL>
                      <a:noFill/>
                    </a:lnL>
                    <a:lnR>
                      <a:noFill/>
                    </a:lnR>
                    <a:lnT>
                      <a:noFill/>
                    </a:lnT>
                    <a:lnB w="19050">
                      <a:solidFill>
                        <a:schemeClr val="accent1"/>
                      </a:solidFill>
                    </a:lnB>
                    <a:noFill/>
                  </a:tcPr>
                </a:tc>
                <a:tc>
                  <a:txBody>
                    <a:bodyPr/>
                    <a:lstStyle/>
                    <a:p>
                      <a:pPr algn="ctr"/>
                      <a:r>
                        <a:rPr lang="it-IT" sz="1700" b="1" dirty="0" err="1">
                          <a:solidFill>
                            <a:schemeClr val="tx1"/>
                          </a:solidFill>
                        </a:rPr>
                        <a:t>Battery</a:t>
                      </a:r>
                      <a:r>
                        <a:rPr lang="it-IT" sz="1700" b="1" dirty="0">
                          <a:solidFill>
                            <a:schemeClr val="tx1"/>
                          </a:solidFill>
                        </a:rPr>
                        <a:t> </a:t>
                      </a:r>
                      <a:r>
                        <a:rPr lang="it-IT" sz="1700" b="1" dirty="0" err="1">
                          <a:solidFill>
                            <a:schemeClr val="tx1"/>
                          </a:solidFill>
                        </a:rPr>
                        <a:t>threshold</a:t>
                      </a:r>
                      <a:endParaRPr lang="it-IT" sz="1700" b="1" dirty="0">
                        <a:solidFill>
                          <a:schemeClr val="tx1"/>
                        </a:solidFill>
                      </a:endParaRPr>
                    </a:p>
                  </a:txBody>
                  <a:tcPr marL="83434" marR="83434" marT="41716" marB="41716">
                    <a:lnL>
                      <a:noFill/>
                    </a:lnL>
                    <a:lnR>
                      <a:noFill/>
                    </a:lnR>
                    <a:lnT>
                      <a:noFill/>
                    </a:lnT>
                    <a:lnB w="19050">
                      <a:solidFill>
                        <a:schemeClr val="accent1"/>
                      </a:solidFill>
                    </a:lnB>
                    <a:noFill/>
                  </a:tcPr>
                </a:tc>
                <a:tc>
                  <a:txBody>
                    <a:bodyPr/>
                    <a:lstStyle/>
                    <a:p>
                      <a:pPr algn="ctr"/>
                      <a:r>
                        <a:rPr lang="it-IT" sz="1700" b="1" dirty="0" err="1">
                          <a:solidFill>
                            <a:schemeClr val="tx1"/>
                          </a:solidFill>
                        </a:rPr>
                        <a:t>Population</a:t>
                      </a:r>
                      <a:r>
                        <a:rPr lang="it-IT" sz="1700" b="1" dirty="0">
                          <a:solidFill>
                            <a:schemeClr val="tx1"/>
                          </a:solidFill>
                        </a:rPr>
                        <a:t> size</a:t>
                      </a:r>
                    </a:p>
                  </a:txBody>
                  <a:tcPr marL="83434" marR="83434" marT="41716" marB="41716">
                    <a:lnL>
                      <a:noFill/>
                    </a:lnL>
                    <a:lnR>
                      <a:noFill/>
                    </a:lnR>
                    <a:lnT>
                      <a:noFill/>
                    </a:lnT>
                    <a:lnB w="19050">
                      <a:solidFill>
                        <a:schemeClr val="accent1"/>
                      </a:solidFill>
                    </a:lnB>
                    <a:noFill/>
                  </a:tcPr>
                </a:tc>
                <a:tc>
                  <a:txBody>
                    <a:bodyPr/>
                    <a:lstStyle/>
                    <a:p>
                      <a:pPr algn="ctr"/>
                      <a:r>
                        <a:rPr lang="it-IT" sz="1700" b="1" dirty="0">
                          <a:solidFill>
                            <a:schemeClr val="tx1"/>
                          </a:solidFill>
                        </a:rPr>
                        <a:t>Numero di generazioni</a:t>
                      </a:r>
                    </a:p>
                  </a:txBody>
                  <a:tcPr marL="83434" marR="83434" marT="41716" marB="41716">
                    <a:lnL>
                      <a:noFill/>
                    </a:lnL>
                    <a:lnR>
                      <a:noFill/>
                    </a:lnR>
                    <a:lnT>
                      <a:noFill/>
                    </a:lnT>
                    <a:lnB w="19050">
                      <a:solidFill>
                        <a:schemeClr val="accent1"/>
                      </a:solidFill>
                    </a:lnB>
                    <a:noFill/>
                  </a:tcPr>
                </a:tc>
                <a:tc>
                  <a:txBody>
                    <a:bodyPr/>
                    <a:lstStyle/>
                    <a:p>
                      <a:pPr algn="ctr"/>
                      <a:r>
                        <a:rPr lang="it-IT" sz="1700" b="1" dirty="0">
                          <a:solidFill>
                            <a:schemeClr val="tx1"/>
                          </a:solidFill>
                        </a:rPr>
                        <a:t>Criterio di arresto</a:t>
                      </a:r>
                    </a:p>
                  </a:txBody>
                  <a:tcPr marL="83434" marR="83434" marT="41716" marB="41716">
                    <a:lnL>
                      <a:noFill/>
                    </a:lnL>
                    <a:lnR>
                      <a:noFill/>
                    </a:lnR>
                    <a:lnT>
                      <a:noFill/>
                    </a:lnT>
                    <a:lnB w="19050">
                      <a:solidFill>
                        <a:schemeClr val="accent1"/>
                      </a:solidFill>
                    </a:lnB>
                    <a:noFill/>
                  </a:tcPr>
                </a:tc>
                <a:tc>
                  <a:txBody>
                    <a:bodyPr/>
                    <a:lstStyle/>
                    <a:p>
                      <a:pPr algn="ctr"/>
                      <a:r>
                        <a:rPr lang="it-IT" sz="1700" b="1" dirty="0">
                          <a:solidFill>
                            <a:schemeClr val="tx1"/>
                          </a:solidFill>
                        </a:rPr>
                        <a:t>Fitness </a:t>
                      </a:r>
                      <a:r>
                        <a:rPr lang="it-IT" sz="1700" b="1" dirty="0" err="1">
                          <a:solidFill>
                            <a:schemeClr val="tx1"/>
                          </a:solidFill>
                        </a:rPr>
                        <a:t>threshold</a:t>
                      </a:r>
                      <a:endParaRPr lang="it-IT" sz="1700" b="1" dirty="0">
                        <a:solidFill>
                          <a:schemeClr val="tx1"/>
                        </a:solidFill>
                      </a:endParaRPr>
                    </a:p>
                    <a:p>
                      <a:pPr algn="ctr"/>
                      <a:r>
                        <a:rPr lang="it-IT" sz="1700" b="1" dirty="0">
                          <a:solidFill>
                            <a:schemeClr val="tx1"/>
                          </a:solidFill>
                        </a:rPr>
                        <a:t>[s]</a:t>
                      </a:r>
                    </a:p>
                  </a:txBody>
                  <a:tcPr marL="83434" marR="83434" marT="41716" marB="41716">
                    <a:lnL>
                      <a:noFill/>
                    </a:lnL>
                    <a:lnR>
                      <a:noFill/>
                    </a:lnR>
                    <a:lnT>
                      <a:noFill/>
                    </a:lnT>
                    <a:lnB w="19050">
                      <a:solidFill>
                        <a:schemeClr val="accent1"/>
                      </a:solidFill>
                    </a:lnB>
                    <a:noFill/>
                  </a:tcPr>
                </a:tc>
                <a:tc>
                  <a:txBody>
                    <a:bodyPr/>
                    <a:lstStyle/>
                    <a:p>
                      <a:pPr algn="ctr"/>
                      <a:r>
                        <a:rPr lang="it-IT" sz="1700" b="1" dirty="0">
                          <a:solidFill>
                            <a:schemeClr val="tx1"/>
                          </a:solidFill>
                        </a:rPr>
                        <a:t>Budget [€]</a:t>
                      </a:r>
                    </a:p>
                  </a:txBody>
                  <a:tcPr marL="83434" marR="83434" marT="41716" marB="41716">
                    <a:lnL>
                      <a:noFill/>
                    </a:lnL>
                    <a:lnR>
                      <a:noFill/>
                    </a:lnR>
                    <a:lnT>
                      <a:noFill/>
                    </a:lnT>
                    <a:lnB w="19050">
                      <a:solidFill>
                        <a:schemeClr val="accent1"/>
                      </a:solidFill>
                    </a:lnB>
                    <a:noFill/>
                  </a:tcPr>
                </a:tc>
                <a:tc>
                  <a:txBody>
                    <a:bodyPr/>
                    <a:lstStyle/>
                    <a:p>
                      <a:pPr algn="ctr"/>
                      <a:r>
                        <a:rPr lang="it-IT" sz="1700" b="1" dirty="0">
                          <a:solidFill>
                            <a:schemeClr val="tx1"/>
                          </a:solidFill>
                        </a:rPr>
                        <a:t>Costo pedaggio al metro [€/m]</a:t>
                      </a:r>
                    </a:p>
                  </a:txBody>
                  <a:tcPr marL="83434" marR="83434" marT="41716" marB="41716">
                    <a:lnL>
                      <a:noFill/>
                    </a:lnL>
                    <a:lnR>
                      <a:noFill/>
                    </a:lnR>
                    <a:lnT>
                      <a:noFill/>
                    </a:lnT>
                    <a:lnB w="19050">
                      <a:solidFill>
                        <a:schemeClr val="accent1"/>
                      </a:solidFill>
                    </a:lnB>
                    <a:noFill/>
                  </a:tcPr>
                </a:tc>
                <a:tc>
                  <a:txBody>
                    <a:bodyPr/>
                    <a:lstStyle/>
                    <a:p>
                      <a:pPr algn="ctr"/>
                      <a:r>
                        <a:rPr lang="it-IT" sz="1700" b="1" dirty="0">
                          <a:solidFill>
                            <a:schemeClr val="tx1"/>
                          </a:solidFill>
                        </a:rPr>
                        <a:t>Costo corrente al kWh</a:t>
                      </a:r>
                    </a:p>
                  </a:txBody>
                  <a:tcPr marL="83434" marR="83434" marT="41716" marB="41716">
                    <a:lnL>
                      <a:noFill/>
                    </a:lnL>
                    <a:lnR>
                      <a:noFill/>
                    </a:lnR>
                    <a:lnT>
                      <a:noFill/>
                    </a:lnT>
                    <a:lnB w="19050" cap="flat" cmpd="sng" algn="ctr">
                      <a:solidFill>
                        <a:schemeClr val="accent1"/>
                      </a:solidFill>
                      <a:prstDash val="solid"/>
                      <a:round/>
                      <a:headEnd type="none" w="med" len="med"/>
                      <a:tailEnd type="none" w="med" len="med"/>
                    </a:lnB>
                    <a:noFill/>
                  </a:tcPr>
                </a:tc>
                <a:tc>
                  <a:txBody>
                    <a:bodyPr/>
                    <a:lstStyle/>
                    <a:p>
                      <a:pPr algn="ctr"/>
                      <a:r>
                        <a:rPr lang="it-IT" sz="1700" b="1" dirty="0">
                          <a:solidFill>
                            <a:schemeClr val="tx1"/>
                          </a:solidFill>
                        </a:rPr>
                        <a:t>Km percorsi al kWh</a:t>
                      </a:r>
                    </a:p>
                  </a:txBody>
                  <a:tcPr marL="83434" marR="83434" marT="41716" marB="41716">
                    <a:lnL>
                      <a:noFill/>
                    </a:lnL>
                    <a:lnR>
                      <a:noFill/>
                    </a:lnR>
                    <a:lnT>
                      <a:noFill/>
                    </a:lnT>
                    <a:lnB w="190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12967942"/>
                  </a:ext>
                </a:extLst>
              </a:tr>
              <a:tr h="6289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700">
                          <a:solidFill>
                            <a:schemeClr val="tx1"/>
                          </a:solidFill>
                        </a:rPr>
                        <a:t>Lombardia</a:t>
                      </a:r>
                    </a:p>
                    <a:p>
                      <a:pPr algn="ctr"/>
                      <a:endParaRPr lang="it-IT" sz="1700">
                        <a:solidFill>
                          <a:schemeClr val="tx1"/>
                        </a:solidFill>
                      </a:endParaRP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a:solidFill>
                            <a:schemeClr val="tx1"/>
                          </a:solidFill>
                        </a:rPr>
                        <a:t>Milano</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a:solidFill>
                            <a:schemeClr val="tx1"/>
                          </a:solidFill>
                        </a:rPr>
                        <a:t>Ponte di Legno</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a:solidFill>
                            <a:schemeClr val="tx1"/>
                          </a:solidFill>
                        </a:rPr>
                        <a:t>10</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a:solidFill>
                            <a:schemeClr val="tx1"/>
                          </a:solidFill>
                        </a:rPr>
                        <a:t>0.3*Autonomia</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a:solidFill>
                            <a:schemeClr val="tx1"/>
                          </a:solidFill>
                        </a:rPr>
                        <a:t>10</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a:solidFill>
                            <a:schemeClr val="tx1"/>
                          </a:solidFill>
                        </a:rPr>
                        <a:t>10</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a:solidFill>
                            <a:schemeClr val="tx1"/>
                          </a:solidFill>
                        </a:rPr>
                        <a:t>5</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a:solidFill>
                            <a:schemeClr val="tx1"/>
                          </a:solidFill>
                        </a:rPr>
                        <a:t>10</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dirty="0">
                          <a:solidFill>
                            <a:schemeClr val="tx1"/>
                          </a:solidFill>
                        </a:rPr>
                        <a:t>60</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a:solidFill>
                            <a:schemeClr val="tx1"/>
                          </a:solidFill>
                        </a:rPr>
                        <a:t>0.0001</a:t>
                      </a:r>
                    </a:p>
                  </a:txBody>
                  <a:tcPr marL="83434" marR="83434" marT="41716" marB="41716">
                    <a:lnL>
                      <a:noFill/>
                    </a:lnL>
                    <a:lnR>
                      <a:noFill/>
                    </a:lnR>
                    <a:lnT w="19050">
                      <a:solidFill>
                        <a:schemeClr val="accent1"/>
                      </a:solidFill>
                    </a:lnT>
                    <a:lnB w="3175">
                      <a:solidFill>
                        <a:schemeClr val="tx1"/>
                      </a:solidFill>
                    </a:lnB>
                    <a:noFill/>
                  </a:tcPr>
                </a:tc>
                <a:tc>
                  <a:txBody>
                    <a:bodyPr/>
                    <a:lstStyle/>
                    <a:p>
                      <a:pPr algn="ctr"/>
                      <a:r>
                        <a:rPr lang="it-IT" sz="1700" dirty="0">
                          <a:solidFill>
                            <a:schemeClr val="tx1"/>
                          </a:solidFill>
                        </a:rPr>
                        <a:t>0.2</a:t>
                      </a:r>
                    </a:p>
                  </a:txBody>
                  <a:tcPr marL="83434" marR="83434" marT="41716" marB="41716">
                    <a:lnL>
                      <a:noFill/>
                    </a:lnL>
                    <a:lnR>
                      <a:noFill/>
                    </a:lnR>
                    <a:lnT w="1905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lang="it-IT" sz="1700" dirty="0">
                          <a:solidFill>
                            <a:schemeClr val="tx1"/>
                          </a:solidFill>
                        </a:rPr>
                        <a:t>10</a:t>
                      </a:r>
                    </a:p>
                  </a:txBody>
                  <a:tcPr marL="83434" marR="83434" marT="41716" marB="41716">
                    <a:lnL>
                      <a:noFill/>
                    </a:lnL>
                    <a:lnR>
                      <a:noFill/>
                    </a:lnR>
                    <a:lnT w="1905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4100220"/>
                  </a:ext>
                </a:extLst>
              </a:tr>
              <a:tr h="6289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700">
                          <a:solidFill>
                            <a:schemeClr val="tx1"/>
                          </a:solidFill>
                        </a:rPr>
                        <a:t>Calabria</a:t>
                      </a:r>
                    </a:p>
                    <a:p>
                      <a:pPr algn="ctr"/>
                      <a:endParaRPr lang="it-IT" sz="1700">
                        <a:solidFill>
                          <a:schemeClr val="tx1"/>
                        </a:solidFill>
                      </a:endParaRP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a:solidFill>
                            <a:schemeClr val="tx1"/>
                          </a:solidFill>
                        </a:rPr>
                        <a:t>Catanzaro</a:t>
                      </a: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a:solidFill>
                            <a:schemeClr val="tx1"/>
                          </a:solidFill>
                        </a:rPr>
                        <a:t>Reggio Calabria</a:t>
                      </a: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a:solidFill>
                            <a:schemeClr val="tx1"/>
                          </a:solidFill>
                        </a:rPr>
                        <a:t>10</a:t>
                      </a:r>
                    </a:p>
                  </a:txBody>
                  <a:tcPr marL="83434" marR="83434" marT="41716" marB="41716">
                    <a:lnL>
                      <a:noFill/>
                    </a:lnL>
                    <a:lnR>
                      <a:noFill/>
                    </a:lnR>
                    <a:lnT w="3175">
                      <a:solidFill>
                        <a:schemeClr val="tx1"/>
                      </a:solidFill>
                    </a:lnT>
                    <a:lnB w="12700">
                      <a:solidFill>
                        <a:schemeClr val="accent1"/>
                      </a:solid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700">
                          <a:solidFill>
                            <a:schemeClr val="tx1"/>
                          </a:solidFill>
                        </a:rPr>
                        <a:t>0.3*Autonomia</a:t>
                      </a:r>
                    </a:p>
                    <a:p>
                      <a:pPr algn="ctr"/>
                      <a:endParaRPr lang="it-IT" sz="1700">
                        <a:solidFill>
                          <a:schemeClr val="tx1"/>
                        </a:solidFill>
                      </a:endParaRP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dirty="0">
                          <a:solidFill>
                            <a:schemeClr val="tx1"/>
                          </a:solidFill>
                        </a:rPr>
                        <a:t>10</a:t>
                      </a: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dirty="0">
                          <a:solidFill>
                            <a:schemeClr val="tx1"/>
                          </a:solidFill>
                        </a:rPr>
                        <a:t>10</a:t>
                      </a: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dirty="0">
                          <a:solidFill>
                            <a:schemeClr val="tx1"/>
                          </a:solidFill>
                        </a:rPr>
                        <a:t>5</a:t>
                      </a: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dirty="0">
                          <a:solidFill>
                            <a:schemeClr val="tx1"/>
                          </a:solidFill>
                        </a:rPr>
                        <a:t>10</a:t>
                      </a: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dirty="0">
                          <a:solidFill>
                            <a:schemeClr val="tx1"/>
                          </a:solidFill>
                        </a:rPr>
                        <a:t>60</a:t>
                      </a: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dirty="0">
                          <a:solidFill>
                            <a:schemeClr val="tx1"/>
                          </a:solidFill>
                        </a:rPr>
                        <a:t>0.0001</a:t>
                      </a:r>
                    </a:p>
                  </a:txBody>
                  <a:tcPr marL="83434" marR="83434" marT="41716" marB="41716">
                    <a:lnL>
                      <a:noFill/>
                    </a:lnL>
                    <a:lnR>
                      <a:noFill/>
                    </a:lnR>
                    <a:lnT w="3175">
                      <a:solidFill>
                        <a:schemeClr val="tx1"/>
                      </a:solidFill>
                    </a:lnT>
                    <a:lnB w="12700">
                      <a:solidFill>
                        <a:schemeClr val="accent1"/>
                      </a:solidFill>
                    </a:lnB>
                    <a:noFill/>
                  </a:tcPr>
                </a:tc>
                <a:tc>
                  <a:txBody>
                    <a:bodyPr/>
                    <a:lstStyle/>
                    <a:p>
                      <a:pPr algn="ctr"/>
                      <a:r>
                        <a:rPr lang="it-IT" sz="1700" dirty="0">
                          <a:solidFill>
                            <a:schemeClr val="tx1"/>
                          </a:solidFill>
                        </a:rPr>
                        <a:t>0.2</a:t>
                      </a:r>
                    </a:p>
                  </a:txBody>
                  <a:tcPr marL="83434" marR="83434" marT="41716" marB="41716">
                    <a:lnL>
                      <a:noFill/>
                    </a:lnL>
                    <a:lnR>
                      <a:noFill/>
                    </a:lnR>
                    <a:lnT w="3175" cap="flat" cmpd="sng" algn="ctr">
                      <a:solidFill>
                        <a:schemeClr val="tx1"/>
                      </a:solidFill>
                      <a:prstDash val="solid"/>
                      <a:round/>
                      <a:headEnd type="none" w="med" len="med"/>
                      <a:tailEnd type="none" w="med" len="med"/>
                    </a:lnT>
                    <a:lnB w="12700">
                      <a:solidFill>
                        <a:schemeClr val="accent1"/>
                      </a:solidFill>
                    </a:lnB>
                    <a:noFill/>
                  </a:tcPr>
                </a:tc>
                <a:tc>
                  <a:txBody>
                    <a:bodyPr/>
                    <a:lstStyle/>
                    <a:p>
                      <a:pPr algn="ctr"/>
                      <a:r>
                        <a:rPr lang="it-IT" sz="1700" dirty="0">
                          <a:solidFill>
                            <a:schemeClr val="tx1"/>
                          </a:solidFill>
                        </a:rPr>
                        <a:t>10</a:t>
                      </a:r>
                    </a:p>
                  </a:txBody>
                  <a:tcPr marL="83434" marR="83434" marT="41716" marB="41716">
                    <a:lnL>
                      <a:noFill/>
                    </a:lnL>
                    <a:lnR>
                      <a:noFill/>
                    </a:lnR>
                    <a:lnT w="3175" cap="flat" cmpd="sng" algn="ctr">
                      <a:solidFill>
                        <a:schemeClr val="tx1"/>
                      </a:solidFill>
                      <a:prstDash val="solid"/>
                      <a:round/>
                      <a:headEnd type="none" w="med" len="med"/>
                      <a:tailEnd type="none" w="med" len="med"/>
                    </a:lnT>
                    <a:lnB w="12700">
                      <a:solidFill>
                        <a:schemeClr val="accent1"/>
                      </a:solidFill>
                    </a:lnB>
                    <a:noFill/>
                  </a:tcPr>
                </a:tc>
                <a:extLst>
                  <a:ext uri="{0D108BD9-81ED-4DB2-BD59-A6C34878D82A}">
                    <a16:rowId xmlns:a16="http://schemas.microsoft.com/office/drawing/2014/main" val="1236902863"/>
                  </a:ext>
                </a:extLst>
              </a:tr>
            </a:tbl>
          </a:graphicData>
        </a:graphic>
      </p:graphicFrame>
      <p:sp>
        <p:nvSpPr>
          <p:cNvPr id="5" name="CasellaDiTesto 4">
            <a:extLst>
              <a:ext uri="{FF2B5EF4-FFF2-40B4-BE49-F238E27FC236}">
                <a16:creationId xmlns:a16="http://schemas.microsoft.com/office/drawing/2014/main" id="{E90E7C8F-D7DC-8803-9EDF-2297A1F32CE6}"/>
              </a:ext>
            </a:extLst>
          </p:cNvPr>
          <p:cNvSpPr txBox="1"/>
          <p:nvPr/>
        </p:nvSpPr>
        <p:spPr>
          <a:xfrm>
            <a:off x="-3" y="2186817"/>
            <a:ext cx="13290687" cy="369332"/>
          </a:xfrm>
          <a:prstGeom prst="rect">
            <a:avLst/>
          </a:prstGeom>
          <a:noFill/>
        </p:spPr>
        <p:txBody>
          <a:bodyPr wrap="square" rtlCol="0">
            <a:spAutoFit/>
          </a:bodyPr>
          <a:lstStyle/>
          <a:p>
            <a:r>
              <a:rPr lang="it-IT" dirty="0"/>
              <a:t>I parametri utilizzati per le simulazioni sono i seguenti:</a:t>
            </a:r>
          </a:p>
        </p:txBody>
      </p:sp>
    </p:spTree>
    <p:extLst>
      <p:ext uri="{BB962C8B-B14F-4D97-AF65-F5344CB8AC3E}">
        <p14:creationId xmlns:p14="http://schemas.microsoft.com/office/powerpoint/2010/main" val="1432458031"/>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E81B8C-310C-964D-A2ED-B750E79C5BBD}"/>
              </a:ext>
            </a:extLst>
          </p:cNvPr>
          <p:cNvSpPr/>
          <p:nvPr/>
        </p:nvSpPr>
        <p:spPr>
          <a:xfrm>
            <a:off x="5521568" y="266286"/>
            <a:ext cx="6166339" cy="861682"/>
          </a:xfrm>
          <a:prstGeom prst="rect">
            <a:avLst/>
          </a:prstGeom>
        </p:spPr>
        <p:txBody>
          <a:bodyPr vert="horz" lIns="91440" tIns="45720" rIns="91440" bIns="45720" rtlCol="0" anchor="b">
            <a:normAutofit fontScale="92500"/>
          </a:bodyPr>
          <a:lstStyle/>
          <a:p>
            <a:pPr>
              <a:lnSpc>
                <a:spcPct val="90000"/>
              </a:lnSpc>
              <a:spcBef>
                <a:spcPct val="0"/>
              </a:spcBef>
              <a:spcAft>
                <a:spcPts val="600"/>
              </a:spcAft>
            </a:pPr>
            <a:r>
              <a:rPr lang="en-US" sz="4400" b="1" dirty="0" err="1">
                <a:solidFill>
                  <a:srgbClr val="231971"/>
                </a:solidFill>
                <a:latin typeface="Outfit Extra Bold" pitchFamily="34" charset="0"/>
              </a:rPr>
              <a:t>Risultati</a:t>
            </a:r>
            <a:r>
              <a:rPr lang="en-US" sz="4400" b="1" dirty="0">
                <a:solidFill>
                  <a:srgbClr val="231971"/>
                </a:solidFill>
                <a:latin typeface="Outfit Extra Bold" pitchFamily="34" charset="0"/>
              </a:rPr>
              <a:t> </a:t>
            </a:r>
            <a:r>
              <a:rPr lang="en-US" sz="4400" b="1" dirty="0" err="1">
                <a:solidFill>
                  <a:srgbClr val="231971"/>
                </a:solidFill>
                <a:latin typeface="Outfit Extra Bold" pitchFamily="34" charset="0"/>
              </a:rPr>
              <a:t>regione</a:t>
            </a:r>
            <a:r>
              <a:rPr lang="en-US" sz="4400" b="1" dirty="0">
                <a:solidFill>
                  <a:srgbClr val="231971"/>
                </a:solidFill>
                <a:latin typeface="Outfit Extra Bold" pitchFamily="34" charset="0"/>
              </a:rPr>
              <a:t> Calabria</a:t>
            </a:r>
          </a:p>
        </p:txBody>
      </p:sp>
      <p:graphicFrame>
        <p:nvGraphicFramePr>
          <p:cNvPr id="3" name="Tabella 3">
            <a:extLst>
              <a:ext uri="{FF2B5EF4-FFF2-40B4-BE49-F238E27FC236}">
                <a16:creationId xmlns:a16="http://schemas.microsoft.com/office/drawing/2014/main" id="{820A5E01-968E-9270-BB6B-5C046E35AB5E}"/>
              </a:ext>
            </a:extLst>
          </p:cNvPr>
          <p:cNvGraphicFramePr>
            <a:graphicFrameLocks noGrp="1"/>
          </p:cNvGraphicFramePr>
          <p:nvPr>
            <p:extLst>
              <p:ext uri="{D42A27DB-BD31-4B8C-83A1-F6EECF244321}">
                <p14:modId xmlns:p14="http://schemas.microsoft.com/office/powerpoint/2010/main" val="2694877408"/>
              </p:ext>
            </p:extLst>
          </p:nvPr>
        </p:nvGraphicFramePr>
        <p:xfrm>
          <a:off x="5662246" y="1569281"/>
          <a:ext cx="8217878" cy="1134168"/>
        </p:xfrm>
        <a:graphic>
          <a:graphicData uri="http://schemas.openxmlformats.org/drawingml/2006/table">
            <a:tbl>
              <a:tblPr firstRow="1" bandRow="1">
                <a:tableStyleId>{5C22544A-7EE6-4342-B048-85BDC9FD1C3A}</a:tableStyleId>
              </a:tblPr>
              <a:tblGrid>
                <a:gridCol w="1518151">
                  <a:extLst>
                    <a:ext uri="{9D8B030D-6E8A-4147-A177-3AD203B41FA5}">
                      <a16:colId xmlns:a16="http://schemas.microsoft.com/office/drawing/2014/main" val="1243077644"/>
                    </a:ext>
                  </a:extLst>
                </a:gridCol>
                <a:gridCol w="1286788">
                  <a:extLst>
                    <a:ext uri="{9D8B030D-6E8A-4147-A177-3AD203B41FA5}">
                      <a16:colId xmlns:a16="http://schemas.microsoft.com/office/drawing/2014/main" val="1843112285"/>
                    </a:ext>
                  </a:extLst>
                </a:gridCol>
                <a:gridCol w="1204353">
                  <a:extLst>
                    <a:ext uri="{9D8B030D-6E8A-4147-A177-3AD203B41FA5}">
                      <a16:colId xmlns:a16="http://schemas.microsoft.com/office/drawing/2014/main" val="1143227532"/>
                    </a:ext>
                  </a:extLst>
                </a:gridCol>
                <a:gridCol w="1635009">
                  <a:extLst>
                    <a:ext uri="{9D8B030D-6E8A-4147-A177-3AD203B41FA5}">
                      <a16:colId xmlns:a16="http://schemas.microsoft.com/office/drawing/2014/main" val="3251506326"/>
                    </a:ext>
                  </a:extLst>
                </a:gridCol>
                <a:gridCol w="989079">
                  <a:extLst>
                    <a:ext uri="{9D8B030D-6E8A-4147-A177-3AD203B41FA5}">
                      <a16:colId xmlns:a16="http://schemas.microsoft.com/office/drawing/2014/main" val="4073798000"/>
                    </a:ext>
                  </a:extLst>
                </a:gridCol>
                <a:gridCol w="1584498">
                  <a:extLst>
                    <a:ext uri="{9D8B030D-6E8A-4147-A177-3AD203B41FA5}">
                      <a16:colId xmlns:a16="http://schemas.microsoft.com/office/drawing/2014/main" val="3575705596"/>
                    </a:ext>
                  </a:extLst>
                </a:gridCol>
              </a:tblGrid>
              <a:tr h="794452">
                <a:tc>
                  <a:txBody>
                    <a:bodyPr/>
                    <a:lstStyle/>
                    <a:p>
                      <a:r>
                        <a:rPr lang="it-IT" sz="1500" b="1" kern="1200" dirty="0">
                          <a:solidFill>
                            <a:schemeClr val="tx1"/>
                          </a:solidFill>
                          <a:latin typeface="+mn-lt"/>
                          <a:ea typeface="+mn-ea"/>
                          <a:cs typeface="+mn-cs"/>
                        </a:rPr>
                        <a:t>Regione</a:t>
                      </a:r>
                    </a:p>
                  </a:txBody>
                  <a:tcPr marL="80248" marR="80248" marT="40124" marB="40124">
                    <a:lnL>
                      <a:noFill/>
                    </a:lnL>
                    <a:lnR>
                      <a:noFill/>
                    </a:lnR>
                    <a:lnT>
                      <a:noFill/>
                    </a:lnT>
                    <a:lnB w="19050">
                      <a:solidFill>
                        <a:schemeClr val="accent1"/>
                      </a:solidFill>
                    </a:lnB>
                    <a:noFill/>
                  </a:tcPr>
                </a:tc>
                <a:tc>
                  <a:txBody>
                    <a:bodyPr/>
                    <a:lstStyle/>
                    <a:p>
                      <a:r>
                        <a:rPr lang="it-IT" sz="1500" b="1" kern="1200" dirty="0">
                          <a:solidFill>
                            <a:schemeClr val="tx1"/>
                          </a:solidFill>
                          <a:latin typeface="+mn-lt"/>
                          <a:ea typeface="+mn-ea"/>
                          <a:cs typeface="+mn-cs"/>
                        </a:rPr>
                        <a:t>Distanza [km]</a:t>
                      </a:r>
                    </a:p>
                  </a:txBody>
                  <a:tcPr marL="80248" marR="80248" marT="40124" marB="40124">
                    <a:lnL>
                      <a:noFill/>
                    </a:lnL>
                    <a:lnR>
                      <a:noFill/>
                    </a:lnR>
                    <a:lnT>
                      <a:noFill/>
                    </a:lnT>
                    <a:lnB w="19050">
                      <a:solidFill>
                        <a:schemeClr val="accent1"/>
                      </a:solidFill>
                    </a:lnB>
                    <a:noFill/>
                  </a:tcPr>
                </a:tc>
                <a:tc>
                  <a:txBody>
                    <a:bodyPr/>
                    <a:lstStyle/>
                    <a:p>
                      <a:r>
                        <a:rPr lang="it-IT" sz="1500" b="1" kern="1200" dirty="0" err="1">
                          <a:solidFill>
                            <a:schemeClr val="tx1"/>
                          </a:solidFill>
                          <a:latin typeface="+mn-lt"/>
                          <a:ea typeface="+mn-ea"/>
                          <a:cs typeface="+mn-cs"/>
                        </a:rPr>
                        <a:t>N_Ricariche</a:t>
                      </a:r>
                      <a:endParaRPr lang="it-IT" sz="1500" b="1" kern="1200" dirty="0">
                        <a:solidFill>
                          <a:schemeClr val="tx1"/>
                        </a:solidFill>
                        <a:latin typeface="+mn-lt"/>
                        <a:ea typeface="+mn-ea"/>
                        <a:cs typeface="+mn-cs"/>
                      </a:endParaRPr>
                    </a:p>
                  </a:txBody>
                  <a:tcPr marL="80248" marR="80248" marT="40124" marB="40124">
                    <a:lnL>
                      <a:noFill/>
                    </a:lnL>
                    <a:lnR>
                      <a:noFill/>
                    </a:lnR>
                    <a:lnT>
                      <a:noFill/>
                    </a:lnT>
                    <a:lnB w="19050">
                      <a:solidFill>
                        <a:schemeClr val="accent1"/>
                      </a:solidFill>
                    </a:lnB>
                    <a:noFill/>
                  </a:tcPr>
                </a:tc>
                <a:tc>
                  <a:txBody>
                    <a:bodyPr/>
                    <a:lstStyle/>
                    <a:p>
                      <a:r>
                        <a:rPr lang="it-IT" sz="1500" b="1" kern="1200" dirty="0">
                          <a:solidFill>
                            <a:schemeClr val="tx1"/>
                          </a:solidFill>
                          <a:latin typeface="+mn-lt"/>
                          <a:ea typeface="+mn-ea"/>
                          <a:cs typeface="+mn-cs"/>
                        </a:rPr>
                        <a:t>Tempo di viaggio [</a:t>
                      </a:r>
                      <a:r>
                        <a:rPr lang="it-IT" sz="1500" b="1" kern="1200" dirty="0" err="1">
                          <a:solidFill>
                            <a:schemeClr val="tx1"/>
                          </a:solidFill>
                          <a:latin typeface="+mn-lt"/>
                          <a:ea typeface="+mn-ea"/>
                          <a:cs typeface="+mn-cs"/>
                        </a:rPr>
                        <a:t>hh</a:t>
                      </a:r>
                      <a:r>
                        <a:rPr lang="it-IT" sz="1500" b="1" kern="1200" dirty="0">
                          <a:solidFill>
                            <a:schemeClr val="tx1"/>
                          </a:solidFill>
                          <a:latin typeface="+mn-lt"/>
                          <a:ea typeface="+mn-ea"/>
                          <a:cs typeface="+mn-cs"/>
                        </a:rPr>
                        <a:t>-mm-</a:t>
                      </a:r>
                      <a:r>
                        <a:rPr lang="it-IT" sz="1500" b="1" kern="1200" dirty="0" err="1">
                          <a:solidFill>
                            <a:schemeClr val="tx1"/>
                          </a:solidFill>
                          <a:latin typeface="+mn-lt"/>
                          <a:ea typeface="+mn-ea"/>
                          <a:cs typeface="+mn-cs"/>
                        </a:rPr>
                        <a:t>ss</a:t>
                      </a:r>
                      <a:r>
                        <a:rPr lang="it-IT" sz="1500" b="1" kern="1200" dirty="0">
                          <a:solidFill>
                            <a:schemeClr val="tx1"/>
                          </a:solidFill>
                          <a:latin typeface="+mn-lt"/>
                          <a:ea typeface="+mn-ea"/>
                          <a:cs typeface="+mn-cs"/>
                        </a:rPr>
                        <a:t>]</a:t>
                      </a:r>
                    </a:p>
                  </a:txBody>
                  <a:tcPr marL="80248" marR="80248" marT="40124" marB="40124">
                    <a:lnL>
                      <a:noFill/>
                    </a:lnL>
                    <a:lnR>
                      <a:noFill/>
                    </a:lnR>
                    <a:lnT>
                      <a:noFill/>
                    </a:lnT>
                    <a:lnB w="19050">
                      <a:solidFill>
                        <a:schemeClr val="accent1"/>
                      </a:solidFill>
                    </a:lnB>
                    <a:noFill/>
                  </a:tcPr>
                </a:tc>
                <a:tc>
                  <a:txBody>
                    <a:bodyPr/>
                    <a:lstStyle/>
                    <a:p>
                      <a:r>
                        <a:rPr lang="it-IT" sz="1500" b="1" kern="1200">
                          <a:solidFill>
                            <a:schemeClr val="tx1"/>
                          </a:solidFill>
                          <a:latin typeface="+mn-lt"/>
                          <a:ea typeface="+mn-ea"/>
                          <a:cs typeface="+mn-cs"/>
                        </a:rPr>
                        <a:t>Costo [€]</a:t>
                      </a:r>
                    </a:p>
                  </a:txBody>
                  <a:tcPr marL="80248" marR="80248" marT="40124" marB="40124">
                    <a:lnL>
                      <a:noFill/>
                    </a:lnL>
                    <a:lnR>
                      <a:noFill/>
                    </a:lnR>
                    <a:lnT>
                      <a:noFill/>
                    </a:lnT>
                    <a:lnB w="19050">
                      <a:solidFill>
                        <a:schemeClr val="accent1"/>
                      </a:solidFill>
                    </a:lnB>
                    <a:noFill/>
                  </a:tcPr>
                </a:tc>
                <a:tc>
                  <a:txBody>
                    <a:bodyPr/>
                    <a:lstStyle/>
                    <a:p>
                      <a:r>
                        <a:rPr lang="it-IT" sz="1500" b="1" kern="1200">
                          <a:solidFill>
                            <a:schemeClr val="tx1"/>
                          </a:solidFill>
                          <a:latin typeface="+mn-lt"/>
                          <a:ea typeface="+mn-ea"/>
                          <a:cs typeface="+mn-cs"/>
                        </a:rPr>
                        <a:t>Tempo di esecuzione [s]</a:t>
                      </a:r>
                    </a:p>
                  </a:txBody>
                  <a:tcPr marL="80248" marR="80248" marT="40124" marB="40124">
                    <a:lnL>
                      <a:noFill/>
                    </a:lnL>
                    <a:lnR>
                      <a:noFill/>
                    </a:lnR>
                    <a:lnT>
                      <a:noFill/>
                    </a:lnT>
                    <a:lnB w="19050">
                      <a:solidFill>
                        <a:schemeClr val="accent1"/>
                      </a:solidFill>
                    </a:lnB>
                    <a:noFill/>
                  </a:tcPr>
                </a:tc>
                <a:extLst>
                  <a:ext uri="{0D108BD9-81ED-4DB2-BD59-A6C34878D82A}">
                    <a16:rowId xmlns:a16="http://schemas.microsoft.com/office/drawing/2014/main" val="2712967942"/>
                  </a:ext>
                </a:extLst>
              </a:tr>
              <a:tr h="339716">
                <a:tc>
                  <a:txBody>
                    <a:bodyPr/>
                    <a:lstStyle/>
                    <a:p>
                      <a:r>
                        <a:rPr lang="it-IT" sz="1500" b="1" kern="1200" dirty="0">
                          <a:solidFill>
                            <a:schemeClr val="tx1"/>
                          </a:solidFill>
                          <a:latin typeface="+mn-lt"/>
                          <a:ea typeface="+mn-ea"/>
                          <a:cs typeface="+mn-cs"/>
                        </a:rPr>
                        <a:t>Calabria</a:t>
                      </a:r>
                    </a:p>
                  </a:txBody>
                  <a:tcPr marL="80248" marR="80248" marT="40124" marB="40124">
                    <a:lnL>
                      <a:noFill/>
                    </a:lnL>
                    <a:lnR>
                      <a:noFill/>
                    </a:lnR>
                    <a:lnT w="19050" cap="flat" cmpd="sng" algn="ctr">
                      <a:solidFill>
                        <a:schemeClr val="accent1"/>
                      </a:solidFill>
                      <a:prstDash val="solid"/>
                      <a:round/>
                      <a:headEnd type="none" w="med" len="med"/>
                      <a:tailEnd type="none" w="med" len="med"/>
                    </a:lnT>
                    <a:lnB w="12700">
                      <a:solidFill>
                        <a:schemeClr val="accent1"/>
                      </a:solidFill>
                    </a:lnB>
                    <a:noFill/>
                  </a:tcPr>
                </a:tc>
                <a:tc>
                  <a:txBody>
                    <a:bodyPr/>
                    <a:lstStyle/>
                    <a:p>
                      <a:r>
                        <a:rPr lang="it-IT" sz="1500" b="1" kern="1200" dirty="0">
                          <a:solidFill>
                            <a:schemeClr val="tx1"/>
                          </a:solidFill>
                          <a:latin typeface="+mn-lt"/>
                          <a:ea typeface="+mn-ea"/>
                          <a:cs typeface="+mn-cs"/>
                        </a:rPr>
                        <a:t>181,68</a:t>
                      </a:r>
                    </a:p>
                  </a:txBody>
                  <a:tcPr marL="80248" marR="80248" marT="40124" marB="40124">
                    <a:lnL>
                      <a:noFill/>
                    </a:lnL>
                    <a:lnR>
                      <a:noFill/>
                    </a:lnR>
                    <a:lnT w="19050" cap="flat" cmpd="sng" algn="ctr">
                      <a:solidFill>
                        <a:schemeClr val="accent1"/>
                      </a:solidFill>
                      <a:prstDash val="solid"/>
                      <a:round/>
                      <a:headEnd type="none" w="med" len="med"/>
                      <a:tailEnd type="none" w="med" len="med"/>
                    </a:lnT>
                    <a:lnB w="12700">
                      <a:solidFill>
                        <a:schemeClr val="accent1"/>
                      </a:solidFill>
                    </a:lnB>
                    <a:noFill/>
                  </a:tcPr>
                </a:tc>
                <a:tc>
                  <a:txBody>
                    <a:bodyPr/>
                    <a:lstStyle/>
                    <a:p>
                      <a:r>
                        <a:rPr lang="it-IT" sz="1500" b="1" kern="1200" dirty="0">
                          <a:solidFill>
                            <a:schemeClr val="tx1"/>
                          </a:solidFill>
                          <a:latin typeface="+mn-lt"/>
                          <a:ea typeface="+mn-ea"/>
                          <a:cs typeface="+mn-cs"/>
                        </a:rPr>
                        <a:t>1</a:t>
                      </a:r>
                    </a:p>
                  </a:txBody>
                  <a:tcPr marL="80248" marR="80248" marT="40124" marB="40124">
                    <a:lnL>
                      <a:noFill/>
                    </a:lnL>
                    <a:lnR>
                      <a:noFill/>
                    </a:lnR>
                    <a:lnT w="19050" cap="flat" cmpd="sng" algn="ctr">
                      <a:solidFill>
                        <a:schemeClr val="accent1"/>
                      </a:solidFill>
                      <a:prstDash val="solid"/>
                      <a:round/>
                      <a:headEnd type="none" w="med" len="med"/>
                      <a:tailEnd type="none" w="med" len="med"/>
                    </a:lnT>
                    <a:lnB w="12700">
                      <a:solidFill>
                        <a:schemeClr val="accent1"/>
                      </a:solidFill>
                    </a:lnB>
                    <a:noFill/>
                  </a:tcPr>
                </a:tc>
                <a:tc>
                  <a:txBody>
                    <a:bodyPr/>
                    <a:lstStyle/>
                    <a:p>
                      <a:r>
                        <a:rPr lang="it-IT" sz="1500" b="1" kern="1200" dirty="0">
                          <a:solidFill>
                            <a:schemeClr val="tx1"/>
                          </a:solidFill>
                          <a:latin typeface="+mn-lt"/>
                          <a:ea typeface="+mn-ea"/>
                          <a:cs typeface="+mn-cs"/>
                        </a:rPr>
                        <a:t>2h 23min 46s</a:t>
                      </a:r>
                    </a:p>
                  </a:txBody>
                  <a:tcPr marL="80248" marR="80248" marT="40124" marB="40124">
                    <a:lnL>
                      <a:noFill/>
                    </a:lnL>
                    <a:lnR>
                      <a:noFill/>
                    </a:lnR>
                    <a:lnT w="19050" cap="flat" cmpd="sng" algn="ctr">
                      <a:solidFill>
                        <a:schemeClr val="accent1"/>
                      </a:solidFill>
                      <a:prstDash val="solid"/>
                      <a:round/>
                      <a:headEnd type="none" w="med" len="med"/>
                      <a:tailEnd type="none" w="med" len="med"/>
                    </a:lnT>
                    <a:lnB w="12700">
                      <a:solidFill>
                        <a:schemeClr val="accent1"/>
                      </a:solidFill>
                    </a:lnB>
                    <a:noFill/>
                  </a:tcPr>
                </a:tc>
                <a:tc>
                  <a:txBody>
                    <a:bodyPr/>
                    <a:lstStyle/>
                    <a:p>
                      <a:r>
                        <a:rPr lang="it-IT" sz="1500" b="1" kern="1200" dirty="0">
                          <a:solidFill>
                            <a:schemeClr val="tx1"/>
                          </a:solidFill>
                          <a:latin typeface="+mn-lt"/>
                          <a:ea typeface="+mn-ea"/>
                          <a:cs typeface="+mn-cs"/>
                        </a:rPr>
                        <a:t>17,47</a:t>
                      </a:r>
                    </a:p>
                  </a:txBody>
                  <a:tcPr marL="80248" marR="80248" marT="40124" marB="40124">
                    <a:lnL>
                      <a:noFill/>
                    </a:lnL>
                    <a:lnR>
                      <a:noFill/>
                    </a:lnR>
                    <a:lnT w="19050" cap="flat" cmpd="sng" algn="ctr">
                      <a:solidFill>
                        <a:schemeClr val="accent1"/>
                      </a:solidFill>
                      <a:prstDash val="solid"/>
                      <a:round/>
                      <a:headEnd type="none" w="med" len="med"/>
                      <a:tailEnd type="none" w="med" len="med"/>
                    </a:lnT>
                    <a:lnB w="12700">
                      <a:solidFill>
                        <a:schemeClr val="accent1"/>
                      </a:solidFill>
                    </a:lnB>
                    <a:noFill/>
                  </a:tcPr>
                </a:tc>
                <a:tc>
                  <a:txBody>
                    <a:bodyPr/>
                    <a:lstStyle/>
                    <a:p>
                      <a:r>
                        <a:rPr lang="it-IT" sz="1500" b="1" kern="1200" dirty="0">
                          <a:solidFill>
                            <a:schemeClr val="tx1"/>
                          </a:solidFill>
                          <a:latin typeface="+mn-lt"/>
                          <a:ea typeface="+mn-ea"/>
                          <a:cs typeface="+mn-cs"/>
                        </a:rPr>
                        <a:t>1704,78</a:t>
                      </a:r>
                    </a:p>
                  </a:txBody>
                  <a:tcPr marL="80248" marR="80248" marT="40124" marB="40124">
                    <a:lnL>
                      <a:noFill/>
                    </a:lnL>
                    <a:lnR>
                      <a:noFill/>
                    </a:lnR>
                    <a:lnT w="19050" cap="flat" cmpd="sng" algn="ctr">
                      <a:solidFill>
                        <a:schemeClr val="accent1"/>
                      </a:solidFill>
                      <a:prstDash val="solid"/>
                      <a:round/>
                      <a:headEnd type="none" w="med" len="med"/>
                      <a:tailEnd type="none" w="med" len="med"/>
                    </a:lnT>
                    <a:lnB w="12700">
                      <a:solidFill>
                        <a:schemeClr val="accent1"/>
                      </a:solidFill>
                    </a:lnB>
                    <a:noFill/>
                  </a:tcPr>
                </a:tc>
                <a:extLst>
                  <a:ext uri="{0D108BD9-81ED-4DB2-BD59-A6C34878D82A}">
                    <a16:rowId xmlns:a16="http://schemas.microsoft.com/office/drawing/2014/main" val="1236902863"/>
                  </a:ext>
                </a:extLst>
              </a:tr>
            </a:tbl>
          </a:graphicData>
        </a:graphic>
      </p:graphicFrame>
      <p:pic>
        <p:nvPicPr>
          <p:cNvPr id="10" name="Immagine 9" descr="Immagine che contiene mappa&#10;&#10;Descrizione generata automaticamente">
            <a:extLst>
              <a:ext uri="{FF2B5EF4-FFF2-40B4-BE49-F238E27FC236}">
                <a16:creationId xmlns:a16="http://schemas.microsoft.com/office/drawing/2014/main" id="{A5C5B8BA-74D3-31FE-D685-3EA6978A8182}"/>
              </a:ext>
            </a:extLst>
          </p:cNvPr>
          <p:cNvPicPr>
            <a:picLocks noChangeAspect="1"/>
          </p:cNvPicPr>
          <p:nvPr/>
        </p:nvPicPr>
        <p:blipFill>
          <a:blip r:embed="rId3"/>
          <a:srcRect l="23541" r="15092"/>
          <a:stretch/>
        </p:blipFill>
        <p:spPr>
          <a:xfrm>
            <a:off x="571500" y="266286"/>
            <a:ext cx="4617720" cy="7524750"/>
          </a:xfrm>
          <a:prstGeom prst="rect">
            <a:avLst/>
          </a:prstGeom>
        </p:spPr>
      </p:pic>
    </p:spTree>
    <p:extLst>
      <p:ext uri="{BB962C8B-B14F-4D97-AF65-F5344CB8AC3E}">
        <p14:creationId xmlns:p14="http://schemas.microsoft.com/office/powerpoint/2010/main" val="448271860"/>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028FC26-4180-0C09-EF9D-EF9533EDE9A9}"/>
              </a:ext>
            </a:extLst>
          </p:cNvPr>
          <p:cNvSpPr/>
          <p:nvPr/>
        </p:nvSpPr>
        <p:spPr>
          <a:xfrm>
            <a:off x="5521568" y="266286"/>
            <a:ext cx="7209694" cy="86168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100" b="1" dirty="0" err="1">
                <a:solidFill>
                  <a:srgbClr val="231971"/>
                </a:solidFill>
                <a:latin typeface="Outfit Extra Bold" pitchFamily="34" charset="0"/>
              </a:rPr>
              <a:t>Risultati</a:t>
            </a:r>
            <a:r>
              <a:rPr lang="en-US" sz="4100" b="1" dirty="0">
                <a:solidFill>
                  <a:srgbClr val="231971"/>
                </a:solidFill>
                <a:latin typeface="Outfit Extra Bold" pitchFamily="34" charset="0"/>
              </a:rPr>
              <a:t> </a:t>
            </a:r>
            <a:r>
              <a:rPr lang="en-US" sz="4100" b="1" dirty="0" err="1">
                <a:solidFill>
                  <a:srgbClr val="231971"/>
                </a:solidFill>
                <a:latin typeface="Outfit Extra Bold" pitchFamily="34" charset="0"/>
              </a:rPr>
              <a:t>regione</a:t>
            </a:r>
            <a:r>
              <a:rPr lang="en-US" sz="4100" b="1" dirty="0">
                <a:solidFill>
                  <a:srgbClr val="231971"/>
                </a:solidFill>
                <a:latin typeface="Outfit Extra Bold" pitchFamily="34" charset="0"/>
              </a:rPr>
              <a:t> </a:t>
            </a:r>
            <a:r>
              <a:rPr lang="en-US" sz="4100" b="1" dirty="0" err="1">
                <a:solidFill>
                  <a:srgbClr val="231971"/>
                </a:solidFill>
                <a:latin typeface="Outfit Extra Bold" pitchFamily="34" charset="0"/>
              </a:rPr>
              <a:t>Lombardia</a:t>
            </a:r>
            <a:endParaRPr lang="en-US" sz="4100" b="1" dirty="0">
              <a:solidFill>
                <a:srgbClr val="231971"/>
              </a:solidFill>
              <a:latin typeface="Outfit Extra Bold" pitchFamily="34" charset="0"/>
            </a:endParaRPr>
          </a:p>
        </p:txBody>
      </p:sp>
      <p:graphicFrame>
        <p:nvGraphicFramePr>
          <p:cNvPr id="3" name="Tabella 3">
            <a:extLst>
              <a:ext uri="{FF2B5EF4-FFF2-40B4-BE49-F238E27FC236}">
                <a16:creationId xmlns:a16="http://schemas.microsoft.com/office/drawing/2014/main" id="{36113E9C-4F47-8A26-175B-9D3A99EF37D5}"/>
              </a:ext>
            </a:extLst>
          </p:cNvPr>
          <p:cNvGraphicFramePr>
            <a:graphicFrameLocks noGrp="1"/>
          </p:cNvGraphicFramePr>
          <p:nvPr>
            <p:extLst>
              <p:ext uri="{D42A27DB-BD31-4B8C-83A1-F6EECF244321}">
                <p14:modId xmlns:p14="http://schemas.microsoft.com/office/powerpoint/2010/main" val="2983460754"/>
              </p:ext>
            </p:extLst>
          </p:nvPr>
        </p:nvGraphicFramePr>
        <p:xfrm>
          <a:off x="5662246" y="1569281"/>
          <a:ext cx="8217878" cy="1134168"/>
        </p:xfrm>
        <a:graphic>
          <a:graphicData uri="http://schemas.openxmlformats.org/drawingml/2006/table">
            <a:tbl>
              <a:tblPr firstRow="1" bandRow="1">
                <a:tableStyleId>{5C22544A-7EE6-4342-B048-85BDC9FD1C3A}</a:tableStyleId>
              </a:tblPr>
              <a:tblGrid>
                <a:gridCol w="1518151">
                  <a:extLst>
                    <a:ext uri="{9D8B030D-6E8A-4147-A177-3AD203B41FA5}">
                      <a16:colId xmlns:a16="http://schemas.microsoft.com/office/drawing/2014/main" val="1243077644"/>
                    </a:ext>
                  </a:extLst>
                </a:gridCol>
                <a:gridCol w="1286788">
                  <a:extLst>
                    <a:ext uri="{9D8B030D-6E8A-4147-A177-3AD203B41FA5}">
                      <a16:colId xmlns:a16="http://schemas.microsoft.com/office/drawing/2014/main" val="1843112285"/>
                    </a:ext>
                  </a:extLst>
                </a:gridCol>
                <a:gridCol w="1204353">
                  <a:extLst>
                    <a:ext uri="{9D8B030D-6E8A-4147-A177-3AD203B41FA5}">
                      <a16:colId xmlns:a16="http://schemas.microsoft.com/office/drawing/2014/main" val="1143227532"/>
                    </a:ext>
                  </a:extLst>
                </a:gridCol>
                <a:gridCol w="1635009">
                  <a:extLst>
                    <a:ext uri="{9D8B030D-6E8A-4147-A177-3AD203B41FA5}">
                      <a16:colId xmlns:a16="http://schemas.microsoft.com/office/drawing/2014/main" val="3251506326"/>
                    </a:ext>
                  </a:extLst>
                </a:gridCol>
                <a:gridCol w="989079">
                  <a:extLst>
                    <a:ext uri="{9D8B030D-6E8A-4147-A177-3AD203B41FA5}">
                      <a16:colId xmlns:a16="http://schemas.microsoft.com/office/drawing/2014/main" val="4073798000"/>
                    </a:ext>
                  </a:extLst>
                </a:gridCol>
                <a:gridCol w="1584498">
                  <a:extLst>
                    <a:ext uri="{9D8B030D-6E8A-4147-A177-3AD203B41FA5}">
                      <a16:colId xmlns:a16="http://schemas.microsoft.com/office/drawing/2014/main" val="3575705596"/>
                    </a:ext>
                  </a:extLst>
                </a:gridCol>
              </a:tblGrid>
              <a:tr h="794452">
                <a:tc>
                  <a:txBody>
                    <a:bodyPr/>
                    <a:lstStyle/>
                    <a:p>
                      <a:r>
                        <a:rPr lang="it-IT" sz="1500" b="1" kern="1200" dirty="0">
                          <a:solidFill>
                            <a:schemeClr val="tx1"/>
                          </a:solidFill>
                          <a:latin typeface="+mn-lt"/>
                          <a:ea typeface="+mn-ea"/>
                          <a:cs typeface="+mn-cs"/>
                        </a:rPr>
                        <a:t>Regione</a:t>
                      </a:r>
                    </a:p>
                  </a:txBody>
                  <a:tcPr marL="80248" marR="80248" marT="40124" marB="40124">
                    <a:lnL>
                      <a:noFill/>
                    </a:lnL>
                    <a:lnR>
                      <a:noFill/>
                    </a:lnR>
                    <a:lnT>
                      <a:noFill/>
                    </a:lnT>
                    <a:lnB w="19050">
                      <a:solidFill>
                        <a:schemeClr val="accent1"/>
                      </a:solidFill>
                    </a:lnB>
                    <a:noFill/>
                  </a:tcPr>
                </a:tc>
                <a:tc>
                  <a:txBody>
                    <a:bodyPr/>
                    <a:lstStyle/>
                    <a:p>
                      <a:r>
                        <a:rPr lang="it-IT" sz="1500" b="1" kern="1200" dirty="0">
                          <a:solidFill>
                            <a:schemeClr val="tx1"/>
                          </a:solidFill>
                          <a:latin typeface="+mn-lt"/>
                          <a:ea typeface="+mn-ea"/>
                          <a:cs typeface="+mn-cs"/>
                        </a:rPr>
                        <a:t>Distanza [km]</a:t>
                      </a:r>
                    </a:p>
                  </a:txBody>
                  <a:tcPr marL="80248" marR="80248" marT="40124" marB="40124">
                    <a:lnL>
                      <a:noFill/>
                    </a:lnL>
                    <a:lnR>
                      <a:noFill/>
                    </a:lnR>
                    <a:lnT>
                      <a:noFill/>
                    </a:lnT>
                    <a:lnB w="19050">
                      <a:solidFill>
                        <a:schemeClr val="accent1"/>
                      </a:solidFill>
                    </a:lnB>
                    <a:noFill/>
                  </a:tcPr>
                </a:tc>
                <a:tc>
                  <a:txBody>
                    <a:bodyPr/>
                    <a:lstStyle/>
                    <a:p>
                      <a:r>
                        <a:rPr lang="it-IT" sz="1500" b="1" kern="1200" dirty="0" err="1">
                          <a:solidFill>
                            <a:schemeClr val="tx1"/>
                          </a:solidFill>
                          <a:latin typeface="+mn-lt"/>
                          <a:ea typeface="+mn-ea"/>
                          <a:cs typeface="+mn-cs"/>
                        </a:rPr>
                        <a:t>N_Ricariche</a:t>
                      </a:r>
                      <a:endParaRPr lang="it-IT" sz="1500" b="1" kern="1200" dirty="0">
                        <a:solidFill>
                          <a:schemeClr val="tx1"/>
                        </a:solidFill>
                        <a:latin typeface="+mn-lt"/>
                        <a:ea typeface="+mn-ea"/>
                        <a:cs typeface="+mn-cs"/>
                      </a:endParaRPr>
                    </a:p>
                  </a:txBody>
                  <a:tcPr marL="80248" marR="80248" marT="40124" marB="40124">
                    <a:lnL>
                      <a:noFill/>
                    </a:lnL>
                    <a:lnR>
                      <a:noFill/>
                    </a:lnR>
                    <a:lnT>
                      <a:noFill/>
                    </a:lnT>
                    <a:lnB w="19050">
                      <a:solidFill>
                        <a:schemeClr val="accent1"/>
                      </a:solidFill>
                    </a:lnB>
                    <a:noFill/>
                  </a:tcPr>
                </a:tc>
                <a:tc>
                  <a:txBody>
                    <a:bodyPr/>
                    <a:lstStyle/>
                    <a:p>
                      <a:r>
                        <a:rPr lang="it-IT" sz="1500" b="1" kern="1200" dirty="0">
                          <a:solidFill>
                            <a:schemeClr val="tx1"/>
                          </a:solidFill>
                          <a:latin typeface="+mn-lt"/>
                          <a:ea typeface="+mn-ea"/>
                          <a:cs typeface="+mn-cs"/>
                        </a:rPr>
                        <a:t>Tempo di viaggio [</a:t>
                      </a:r>
                      <a:r>
                        <a:rPr lang="it-IT" sz="1500" b="1" kern="1200" dirty="0" err="1">
                          <a:solidFill>
                            <a:schemeClr val="tx1"/>
                          </a:solidFill>
                          <a:latin typeface="+mn-lt"/>
                          <a:ea typeface="+mn-ea"/>
                          <a:cs typeface="+mn-cs"/>
                        </a:rPr>
                        <a:t>hh</a:t>
                      </a:r>
                      <a:r>
                        <a:rPr lang="it-IT" sz="1500" b="1" kern="1200" dirty="0">
                          <a:solidFill>
                            <a:schemeClr val="tx1"/>
                          </a:solidFill>
                          <a:latin typeface="+mn-lt"/>
                          <a:ea typeface="+mn-ea"/>
                          <a:cs typeface="+mn-cs"/>
                        </a:rPr>
                        <a:t>-mm-</a:t>
                      </a:r>
                      <a:r>
                        <a:rPr lang="it-IT" sz="1500" b="1" kern="1200" dirty="0" err="1">
                          <a:solidFill>
                            <a:schemeClr val="tx1"/>
                          </a:solidFill>
                          <a:latin typeface="+mn-lt"/>
                          <a:ea typeface="+mn-ea"/>
                          <a:cs typeface="+mn-cs"/>
                        </a:rPr>
                        <a:t>ss</a:t>
                      </a:r>
                      <a:r>
                        <a:rPr lang="it-IT" sz="1500" b="1" kern="1200" dirty="0">
                          <a:solidFill>
                            <a:schemeClr val="tx1"/>
                          </a:solidFill>
                          <a:latin typeface="+mn-lt"/>
                          <a:ea typeface="+mn-ea"/>
                          <a:cs typeface="+mn-cs"/>
                        </a:rPr>
                        <a:t>]</a:t>
                      </a:r>
                    </a:p>
                  </a:txBody>
                  <a:tcPr marL="80248" marR="80248" marT="40124" marB="40124">
                    <a:lnL>
                      <a:noFill/>
                    </a:lnL>
                    <a:lnR>
                      <a:noFill/>
                    </a:lnR>
                    <a:lnT>
                      <a:noFill/>
                    </a:lnT>
                    <a:lnB w="19050">
                      <a:solidFill>
                        <a:schemeClr val="accent1"/>
                      </a:solidFill>
                    </a:lnB>
                    <a:noFill/>
                  </a:tcPr>
                </a:tc>
                <a:tc>
                  <a:txBody>
                    <a:bodyPr/>
                    <a:lstStyle/>
                    <a:p>
                      <a:r>
                        <a:rPr lang="it-IT" sz="1500" b="1" kern="1200">
                          <a:solidFill>
                            <a:schemeClr val="tx1"/>
                          </a:solidFill>
                          <a:latin typeface="+mn-lt"/>
                          <a:ea typeface="+mn-ea"/>
                          <a:cs typeface="+mn-cs"/>
                        </a:rPr>
                        <a:t>Costo [€]</a:t>
                      </a:r>
                    </a:p>
                  </a:txBody>
                  <a:tcPr marL="80248" marR="80248" marT="40124" marB="40124">
                    <a:lnL>
                      <a:noFill/>
                    </a:lnL>
                    <a:lnR>
                      <a:noFill/>
                    </a:lnR>
                    <a:lnT>
                      <a:noFill/>
                    </a:lnT>
                    <a:lnB w="19050">
                      <a:solidFill>
                        <a:schemeClr val="accent1"/>
                      </a:solidFill>
                    </a:lnB>
                    <a:noFill/>
                  </a:tcPr>
                </a:tc>
                <a:tc>
                  <a:txBody>
                    <a:bodyPr/>
                    <a:lstStyle/>
                    <a:p>
                      <a:r>
                        <a:rPr lang="it-IT" sz="1500" b="1" kern="1200">
                          <a:solidFill>
                            <a:schemeClr val="tx1"/>
                          </a:solidFill>
                          <a:latin typeface="+mn-lt"/>
                          <a:ea typeface="+mn-ea"/>
                          <a:cs typeface="+mn-cs"/>
                        </a:rPr>
                        <a:t>Tempo di esecuzione [s]</a:t>
                      </a:r>
                    </a:p>
                  </a:txBody>
                  <a:tcPr marL="80248" marR="80248" marT="40124" marB="40124">
                    <a:lnL>
                      <a:noFill/>
                    </a:lnL>
                    <a:lnR>
                      <a:noFill/>
                    </a:lnR>
                    <a:lnT>
                      <a:noFill/>
                    </a:lnT>
                    <a:lnB w="19050">
                      <a:solidFill>
                        <a:schemeClr val="accent1"/>
                      </a:solidFill>
                    </a:lnB>
                    <a:noFill/>
                  </a:tcPr>
                </a:tc>
                <a:extLst>
                  <a:ext uri="{0D108BD9-81ED-4DB2-BD59-A6C34878D82A}">
                    <a16:rowId xmlns:a16="http://schemas.microsoft.com/office/drawing/2014/main" val="2712967942"/>
                  </a:ext>
                </a:extLst>
              </a:tr>
              <a:tr h="339716">
                <a:tc>
                  <a:txBody>
                    <a:bodyPr/>
                    <a:lstStyle/>
                    <a:p>
                      <a:r>
                        <a:rPr lang="it-IT" sz="1500" b="1" kern="1200">
                          <a:solidFill>
                            <a:schemeClr val="tx1"/>
                          </a:solidFill>
                          <a:latin typeface="+mn-lt"/>
                          <a:ea typeface="+mn-ea"/>
                          <a:cs typeface="+mn-cs"/>
                        </a:rPr>
                        <a:t>Lombardia</a:t>
                      </a:r>
                    </a:p>
                  </a:txBody>
                  <a:tcPr marL="80248" marR="80248" marT="40124" marB="40124">
                    <a:lnL>
                      <a:noFill/>
                    </a:lnL>
                    <a:lnR>
                      <a:noFill/>
                    </a:lnR>
                    <a:lnT w="19050">
                      <a:solidFill>
                        <a:schemeClr val="accent1"/>
                      </a:solidFill>
                    </a:lnT>
                    <a:lnB w="3175">
                      <a:solidFill>
                        <a:schemeClr val="tx1"/>
                      </a:solidFill>
                    </a:lnB>
                    <a:noFill/>
                  </a:tcPr>
                </a:tc>
                <a:tc>
                  <a:txBody>
                    <a:bodyPr/>
                    <a:lstStyle/>
                    <a:p>
                      <a:r>
                        <a:rPr lang="it-IT" sz="1500" b="1" kern="1200" dirty="0">
                          <a:solidFill>
                            <a:schemeClr val="tx1"/>
                          </a:solidFill>
                          <a:latin typeface="+mn-lt"/>
                          <a:ea typeface="+mn-ea"/>
                          <a:cs typeface="+mn-cs"/>
                        </a:rPr>
                        <a:t>165,38</a:t>
                      </a:r>
                    </a:p>
                  </a:txBody>
                  <a:tcPr marL="80248" marR="80248" marT="40124" marB="40124">
                    <a:lnL>
                      <a:noFill/>
                    </a:lnL>
                    <a:lnR>
                      <a:noFill/>
                    </a:lnR>
                    <a:lnT w="19050">
                      <a:solidFill>
                        <a:schemeClr val="accent1"/>
                      </a:solidFill>
                    </a:lnT>
                    <a:lnB w="3175">
                      <a:solidFill>
                        <a:schemeClr val="tx1"/>
                      </a:solidFill>
                    </a:lnB>
                    <a:noFill/>
                  </a:tcPr>
                </a:tc>
                <a:tc>
                  <a:txBody>
                    <a:bodyPr/>
                    <a:lstStyle/>
                    <a:p>
                      <a:r>
                        <a:rPr lang="it-IT" sz="1500" b="1" kern="1200" dirty="0">
                          <a:solidFill>
                            <a:schemeClr val="tx1"/>
                          </a:solidFill>
                          <a:latin typeface="+mn-lt"/>
                          <a:ea typeface="+mn-ea"/>
                          <a:cs typeface="+mn-cs"/>
                        </a:rPr>
                        <a:t>2</a:t>
                      </a:r>
                    </a:p>
                  </a:txBody>
                  <a:tcPr marL="80248" marR="80248" marT="40124" marB="40124">
                    <a:lnL>
                      <a:noFill/>
                    </a:lnL>
                    <a:lnR>
                      <a:noFill/>
                    </a:lnR>
                    <a:lnT w="19050">
                      <a:solidFill>
                        <a:schemeClr val="accent1"/>
                      </a:solidFill>
                    </a:lnT>
                    <a:lnB w="3175">
                      <a:solidFill>
                        <a:schemeClr val="tx1"/>
                      </a:solidFill>
                    </a:lnB>
                    <a:noFill/>
                  </a:tcPr>
                </a:tc>
                <a:tc>
                  <a:txBody>
                    <a:bodyPr/>
                    <a:lstStyle/>
                    <a:p>
                      <a:r>
                        <a:rPr lang="it-IT" sz="1500" b="1" kern="1200" dirty="0">
                          <a:solidFill>
                            <a:schemeClr val="tx1"/>
                          </a:solidFill>
                          <a:latin typeface="+mn-lt"/>
                          <a:ea typeface="+mn-ea"/>
                          <a:cs typeface="+mn-cs"/>
                        </a:rPr>
                        <a:t>2h 23min 30s</a:t>
                      </a:r>
                    </a:p>
                  </a:txBody>
                  <a:tcPr marL="80248" marR="80248" marT="40124" marB="40124">
                    <a:lnL>
                      <a:noFill/>
                    </a:lnL>
                    <a:lnR>
                      <a:noFill/>
                    </a:lnR>
                    <a:lnT w="19050">
                      <a:solidFill>
                        <a:schemeClr val="accent1"/>
                      </a:solidFill>
                    </a:lnT>
                    <a:lnB w="3175">
                      <a:solidFill>
                        <a:schemeClr val="tx1"/>
                      </a:solidFill>
                    </a:lnB>
                    <a:noFill/>
                  </a:tcPr>
                </a:tc>
                <a:tc>
                  <a:txBody>
                    <a:bodyPr/>
                    <a:lstStyle/>
                    <a:p>
                      <a:r>
                        <a:rPr lang="it-IT" sz="1500" b="1" kern="1200" dirty="0">
                          <a:solidFill>
                            <a:schemeClr val="tx1"/>
                          </a:solidFill>
                          <a:latin typeface="+mn-lt"/>
                          <a:ea typeface="+mn-ea"/>
                          <a:cs typeface="+mn-cs"/>
                        </a:rPr>
                        <a:t>7,23</a:t>
                      </a:r>
                    </a:p>
                  </a:txBody>
                  <a:tcPr marL="80248" marR="80248" marT="40124" marB="40124">
                    <a:lnL>
                      <a:noFill/>
                    </a:lnL>
                    <a:lnR>
                      <a:noFill/>
                    </a:lnR>
                    <a:lnT w="19050">
                      <a:solidFill>
                        <a:schemeClr val="accent1"/>
                      </a:solidFill>
                    </a:lnT>
                    <a:lnB w="3175">
                      <a:solidFill>
                        <a:schemeClr val="tx1"/>
                      </a:solidFill>
                    </a:lnB>
                    <a:noFill/>
                  </a:tcPr>
                </a:tc>
                <a:tc>
                  <a:txBody>
                    <a:bodyPr/>
                    <a:lstStyle/>
                    <a:p>
                      <a:r>
                        <a:rPr lang="it-IT" sz="1500" b="1" kern="1200" dirty="0">
                          <a:solidFill>
                            <a:schemeClr val="tx1"/>
                          </a:solidFill>
                          <a:latin typeface="+mn-lt"/>
                          <a:ea typeface="+mn-ea"/>
                          <a:cs typeface="+mn-cs"/>
                        </a:rPr>
                        <a:t>19084,75</a:t>
                      </a:r>
                    </a:p>
                  </a:txBody>
                  <a:tcPr marL="80248" marR="80248" marT="40124" marB="40124">
                    <a:lnL>
                      <a:noFill/>
                    </a:lnL>
                    <a:lnR>
                      <a:noFill/>
                    </a:lnR>
                    <a:lnT w="19050">
                      <a:solidFill>
                        <a:schemeClr val="accent1"/>
                      </a:solidFill>
                    </a:lnT>
                    <a:lnB w="3175">
                      <a:solidFill>
                        <a:schemeClr val="tx1"/>
                      </a:solidFill>
                    </a:lnB>
                    <a:noFill/>
                  </a:tcPr>
                </a:tc>
                <a:extLst>
                  <a:ext uri="{0D108BD9-81ED-4DB2-BD59-A6C34878D82A}">
                    <a16:rowId xmlns:a16="http://schemas.microsoft.com/office/drawing/2014/main" val="2734100220"/>
                  </a:ext>
                </a:extLst>
              </a:tr>
            </a:tbl>
          </a:graphicData>
        </a:graphic>
      </p:graphicFrame>
      <p:pic>
        <p:nvPicPr>
          <p:cNvPr id="7" name="Immagine 6" descr="Immagine che contiene mappa">
            <a:extLst>
              <a:ext uri="{FF2B5EF4-FFF2-40B4-BE49-F238E27FC236}">
                <a16:creationId xmlns:a16="http://schemas.microsoft.com/office/drawing/2014/main" id="{4378D06D-8733-457D-2CBA-418E8409763A}"/>
              </a:ext>
            </a:extLst>
          </p:cNvPr>
          <p:cNvPicPr>
            <a:picLocks noChangeAspect="1"/>
          </p:cNvPicPr>
          <p:nvPr/>
        </p:nvPicPr>
        <p:blipFill>
          <a:blip r:embed="rId3"/>
          <a:srcRect l="7810" r="10548"/>
          <a:stretch/>
        </p:blipFill>
        <p:spPr>
          <a:xfrm>
            <a:off x="-225287" y="0"/>
            <a:ext cx="6718852" cy="8229600"/>
          </a:xfrm>
          <a:prstGeom prst="rect">
            <a:avLst/>
          </a:prstGeom>
        </p:spPr>
      </p:pic>
    </p:spTree>
    <p:extLst>
      <p:ext uri="{BB962C8B-B14F-4D97-AF65-F5344CB8AC3E}">
        <p14:creationId xmlns:p14="http://schemas.microsoft.com/office/powerpoint/2010/main" val="1865029292"/>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81407" y="1746079"/>
            <a:ext cx="7810948" cy="708779"/>
          </a:xfrm>
          <a:prstGeom prst="rect">
            <a:avLst/>
          </a:prstGeom>
          <a:noFill/>
          <a:ln/>
        </p:spPr>
        <p:txBody>
          <a:bodyPr wrap="none" lIns="0" tIns="0" rIns="0" bIns="0" rtlCol="0" anchor="t"/>
          <a:lstStyle/>
          <a:p>
            <a:pPr marL="0" indent="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Conclusioni e </a:t>
            </a:r>
            <a:r>
              <a:rPr lang="en-US" sz="4450" b="1" dirty="0" err="1">
                <a:solidFill>
                  <a:srgbClr val="231971"/>
                </a:solidFill>
                <a:latin typeface="Outfit Extra Bold" pitchFamily="34" charset="0"/>
                <a:ea typeface="Outfit Extra Bold" pitchFamily="34" charset="-122"/>
                <a:cs typeface="Outfit Extra Bold" pitchFamily="34" charset="-120"/>
              </a:rPr>
              <a:t>confronto</a:t>
            </a:r>
            <a:r>
              <a:rPr lang="en-US" sz="4450" b="1" dirty="0">
                <a:solidFill>
                  <a:srgbClr val="231971"/>
                </a:solidFill>
                <a:latin typeface="Outfit Extra Bold" pitchFamily="34" charset="0"/>
                <a:ea typeface="Outfit Extra Bold" pitchFamily="34" charset="-122"/>
                <a:cs typeface="Outfit Extra Bold" pitchFamily="34" charset="-120"/>
              </a:rPr>
              <a:t> </a:t>
            </a:r>
            <a:r>
              <a:rPr lang="en-US" sz="4450" b="1" dirty="0" err="1">
                <a:solidFill>
                  <a:srgbClr val="231971"/>
                </a:solidFill>
                <a:latin typeface="Outfit Extra Bold" pitchFamily="34" charset="0"/>
                <a:ea typeface="Outfit Extra Bold" pitchFamily="34" charset="-122"/>
                <a:cs typeface="Outfit Extra Bold" pitchFamily="34" charset="-120"/>
              </a:rPr>
              <a:t>risultati</a:t>
            </a:r>
            <a:endParaRPr lang="en-US" sz="4450" dirty="0"/>
          </a:p>
        </p:txBody>
      </p:sp>
      <p:graphicFrame>
        <p:nvGraphicFramePr>
          <p:cNvPr id="4" name="Tabella 3">
            <a:extLst>
              <a:ext uri="{FF2B5EF4-FFF2-40B4-BE49-F238E27FC236}">
                <a16:creationId xmlns:a16="http://schemas.microsoft.com/office/drawing/2014/main" id="{AB2E1A87-3132-F55A-5D56-95148A8F84A3}"/>
              </a:ext>
            </a:extLst>
          </p:cNvPr>
          <p:cNvGraphicFramePr>
            <a:graphicFrameLocks noGrp="1"/>
          </p:cNvGraphicFramePr>
          <p:nvPr>
            <p:extLst>
              <p:ext uri="{D42A27DB-BD31-4B8C-83A1-F6EECF244321}">
                <p14:modId xmlns:p14="http://schemas.microsoft.com/office/powerpoint/2010/main" val="3479789275"/>
              </p:ext>
            </p:extLst>
          </p:nvPr>
        </p:nvGraphicFramePr>
        <p:xfrm>
          <a:off x="6081407" y="3377858"/>
          <a:ext cx="8217878" cy="1473884"/>
        </p:xfrm>
        <a:graphic>
          <a:graphicData uri="http://schemas.openxmlformats.org/drawingml/2006/table">
            <a:tbl>
              <a:tblPr firstRow="1" bandRow="1">
                <a:tableStyleId>{5C22544A-7EE6-4342-B048-85BDC9FD1C3A}</a:tableStyleId>
              </a:tblPr>
              <a:tblGrid>
                <a:gridCol w="1518151">
                  <a:extLst>
                    <a:ext uri="{9D8B030D-6E8A-4147-A177-3AD203B41FA5}">
                      <a16:colId xmlns:a16="http://schemas.microsoft.com/office/drawing/2014/main" val="1243077644"/>
                    </a:ext>
                  </a:extLst>
                </a:gridCol>
                <a:gridCol w="1286788">
                  <a:extLst>
                    <a:ext uri="{9D8B030D-6E8A-4147-A177-3AD203B41FA5}">
                      <a16:colId xmlns:a16="http://schemas.microsoft.com/office/drawing/2014/main" val="1843112285"/>
                    </a:ext>
                  </a:extLst>
                </a:gridCol>
                <a:gridCol w="1204353">
                  <a:extLst>
                    <a:ext uri="{9D8B030D-6E8A-4147-A177-3AD203B41FA5}">
                      <a16:colId xmlns:a16="http://schemas.microsoft.com/office/drawing/2014/main" val="1143227532"/>
                    </a:ext>
                  </a:extLst>
                </a:gridCol>
                <a:gridCol w="1635009">
                  <a:extLst>
                    <a:ext uri="{9D8B030D-6E8A-4147-A177-3AD203B41FA5}">
                      <a16:colId xmlns:a16="http://schemas.microsoft.com/office/drawing/2014/main" val="3251506326"/>
                    </a:ext>
                  </a:extLst>
                </a:gridCol>
                <a:gridCol w="989079">
                  <a:extLst>
                    <a:ext uri="{9D8B030D-6E8A-4147-A177-3AD203B41FA5}">
                      <a16:colId xmlns:a16="http://schemas.microsoft.com/office/drawing/2014/main" val="4073798000"/>
                    </a:ext>
                  </a:extLst>
                </a:gridCol>
                <a:gridCol w="1584498">
                  <a:extLst>
                    <a:ext uri="{9D8B030D-6E8A-4147-A177-3AD203B41FA5}">
                      <a16:colId xmlns:a16="http://schemas.microsoft.com/office/drawing/2014/main" val="3575705596"/>
                    </a:ext>
                  </a:extLst>
                </a:gridCol>
              </a:tblGrid>
              <a:tr h="794452">
                <a:tc>
                  <a:txBody>
                    <a:bodyPr/>
                    <a:lstStyle/>
                    <a:p>
                      <a:r>
                        <a:rPr lang="it-IT" sz="1500" b="1" kern="1200" dirty="0">
                          <a:solidFill>
                            <a:schemeClr val="tx1"/>
                          </a:solidFill>
                          <a:latin typeface="+mn-lt"/>
                          <a:ea typeface="+mn-ea"/>
                          <a:cs typeface="+mn-cs"/>
                        </a:rPr>
                        <a:t>Regione</a:t>
                      </a:r>
                    </a:p>
                  </a:txBody>
                  <a:tcPr marL="80248" marR="80248" marT="40124" marB="40124">
                    <a:lnL>
                      <a:noFill/>
                    </a:lnL>
                    <a:lnR>
                      <a:noFill/>
                    </a:lnR>
                    <a:lnT>
                      <a:noFill/>
                    </a:lnT>
                    <a:lnB w="19050" cap="flat" cmpd="sng" algn="ctr">
                      <a:solidFill>
                        <a:schemeClr val="accent1"/>
                      </a:solidFill>
                      <a:prstDash val="solid"/>
                      <a:round/>
                      <a:headEnd type="none" w="med" len="med"/>
                      <a:tailEnd type="none" w="med" len="med"/>
                    </a:lnB>
                    <a:noFill/>
                  </a:tcPr>
                </a:tc>
                <a:tc>
                  <a:txBody>
                    <a:bodyPr/>
                    <a:lstStyle/>
                    <a:p>
                      <a:r>
                        <a:rPr lang="it-IT" sz="1500" b="1" kern="1200" dirty="0">
                          <a:solidFill>
                            <a:schemeClr val="tx1"/>
                          </a:solidFill>
                          <a:latin typeface="+mn-lt"/>
                          <a:ea typeface="+mn-ea"/>
                          <a:cs typeface="+mn-cs"/>
                        </a:rPr>
                        <a:t>Distanza [km]</a:t>
                      </a:r>
                    </a:p>
                  </a:txBody>
                  <a:tcPr marL="80248" marR="80248" marT="40124" marB="40124">
                    <a:lnL>
                      <a:noFill/>
                    </a:lnL>
                    <a:lnR>
                      <a:noFill/>
                    </a:lnR>
                    <a:lnT>
                      <a:noFill/>
                    </a:lnT>
                    <a:lnB w="19050" cap="flat" cmpd="sng" algn="ctr">
                      <a:solidFill>
                        <a:schemeClr val="accent1"/>
                      </a:solidFill>
                      <a:prstDash val="solid"/>
                      <a:round/>
                      <a:headEnd type="none" w="med" len="med"/>
                      <a:tailEnd type="none" w="med" len="med"/>
                    </a:lnB>
                    <a:noFill/>
                  </a:tcPr>
                </a:tc>
                <a:tc>
                  <a:txBody>
                    <a:bodyPr/>
                    <a:lstStyle/>
                    <a:p>
                      <a:r>
                        <a:rPr lang="it-IT" sz="1500" b="1" kern="1200" dirty="0" err="1">
                          <a:solidFill>
                            <a:schemeClr val="tx1"/>
                          </a:solidFill>
                          <a:latin typeface="+mn-lt"/>
                          <a:ea typeface="+mn-ea"/>
                          <a:cs typeface="+mn-cs"/>
                        </a:rPr>
                        <a:t>N_Ricariche</a:t>
                      </a:r>
                      <a:endParaRPr lang="it-IT" sz="1500" b="1" kern="1200" dirty="0">
                        <a:solidFill>
                          <a:schemeClr val="tx1"/>
                        </a:solidFill>
                        <a:latin typeface="+mn-lt"/>
                        <a:ea typeface="+mn-ea"/>
                        <a:cs typeface="+mn-cs"/>
                      </a:endParaRPr>
                    </a:p>
                  </a:txBody>
                  <a:tcPr marL="80248" marR="80248" marT="40124" marB="40124">
                    <a:lnL>
                      <a:noFill/>
                    </a:lnL>
                    <a:lnR>
                      <a:noFill/>
                    </a:lnR>
                    <a:lnT>
                      <a:noFill/>
                    </a:lnT>
                    <a:lnB w="19050" cap="flat" cmpd="sng" algn="ctr">
                      <a:solidFill>
                        <a:schemeClr val="accent1"/>
                      </a:solidFill>
                      <a:prstDash val="solid"/>
                      <a:round/>
                      <a:headEnd type="none" w="med" len="med"/>
                      <a:tailEnd type="none" w="med" len="med"/>
                    </a:lnB>
                    <a:noFill/>
                  </a:tcPr>
                </a:tc>
                <a:tc>
                  <a:txBody>
                    <a:bodyPr/>
                    <a:lstStyle/>
                    <a:p>
                      <a:r>
                        <a:rPr lang="it-IT" sz="1500" b="1" kern="1200" dirty="0">
                          <a:solidFill>
                            <a:schemeClr val="tx1"/>
                          </a:solidFill>
                          <a:latin typeface="+mn-lt"/>
                          <a:ea typeface="+mn-ea"/>
                          <a:cs typeface="+mn-cs"/>
                        </a:rPr>
                        <a:t>Tempo di viaggio [</a:t>
                      </a:r>
                      <a:r>
                        <a:rPr lang="it-IT" sz="1500" b="1" kern="1200" dirty="0" err="1">
                          <a:solidFill>
                            <a:schemeClr val="tx1"/>
                          </a:solidFill>
                          <a:latin typeface="+mn-lt"/>
                          <a:ea typeface="+mn-ea"/>
                          <a:cs typeface="+mn-cs"/>
                        </a:rPr>
                        <a:t>hh</a:t>
                      </a:r>
                      <a:r>
                        <a:rPr lang="it-IT" sz="1500" b="1" kern="1200" dirty="0">
                          <a:solidFill>
                            <a:schemeClr val="tx1"/>
                          </a:solidFill>
                          <a:latin typeface="+mn-lt"/>
                          <a:ea typeface="+mn-ea"/>
                          <a:cs typeface="+mn-cs"/>
                        </a:rPr>
                        <a:t>-mm]</a:t>
                      </a:r>
                    </a:p>
                  </a:txBody>
                  <a:tcPr marL="80248" marR="80248" marT="40124" marB="40124">
                    <a:lnL>
                      <a:noFill/>
                    </a:lnL>
                    <a:lnR>
                      <a:noFill/>
                    </a:lnR>
                    <a:lnT>
                      <a:noFill/>
                    </a:lnT>
                    <a:lnB w="19050" cap="flat" cmpd="sng" algn="ctr">
                      <a:solidFill>
                        <a:schemeClr val="accent1"/>
                      </a:solidFill>
                      <a:prstDash val="solid"/>
                      <a:round/>
                      <a:headEnd type="none" w="med" len="med"/>
                      <a:tailEnd type="none" w="med" len="med"/>
                    </a:lnB>
                    <a:noFill/>
                  </a:tcPr>
                </a:tc>
                <a:tc>
                  <a:txBody>
                    <a:bodyPr/>
                    <a:lstStyle/>
                    <a:p>
                      <a:r>
                        <a:rPr lang="it-IT" sz="1500" b="1" kern="1200">
                          <a:solidFill>
                            <a:schemeClr val="tx1"/>
                          </a:solidFill>
                          <a:latin typeface="+mn-lt"/>
                          <a:ea typeface="+mn-ea"/>
                          <a:cs typeface="+mn-cs"/>
                        </a:rPr>
                        <a:t>Costo [€]</a:t>
                      </a:r>
                    </a:p>
                  </a:txBody>
                  <a:tcPr marL="80248" marR="80248" marT="40124" marB="40124">
                    <a:lnL>
                      <a:noFill/>
                    </a:lnL>
                    <a:lnR>
                      <a:noFill/>
                    </a:lnR>
                    <a:lnT>
                      <a:noFill/>
                    </a:lnT>
                    <a:lnB w="19050" cap="flat" cmpd="sng" algn="ctr">
                      <a:solidFill>
                        <a:schemeClr val="accent1"/>
                      </a:solidFill>
                      <a:prstDash val="solid"/>
                      <a:round/>
                      <a:headEnd type="none" w="med" len="med"/>
                      <a:tailEnd type="none" w="med" len="med"/>
                    </a:lnB>
                    <a:noFill/>
                  </a:tcPr>
                </a:tc>
                <a:tc>
                  <a:txBody>
                    <a:bodyPr/>
                    <a:lstStyle/>
                    <a:p>
                      <a:r>
                        <a:rPr lang="it-IT" sz="1500" b="1" kern="1200">
                          <a:solidFill>
                            <a:schemeClr val="tx1"/>
                          </a:solidFill>
                          <a:latin typeface="+mn-lt"/>
                          <a:ea typeface="+mn-ea"/>
                          <a:cs typeface="+mn-cs"/>
                        </a:rPr>
                        <a:t>Tempo di esecuzione [s]</a:t>
                      </a:r>
                    </a:p>
                  </a:txBody>
                  <a:tcPr marL="80248" marR="80248" marT="40124" marB="40124">
                    <a:lnL>
                      <a:noFill/>
                    </a:lnL>
                    <a:lnR>
                      <a:noFill/>
                    </a:lnR>
                    <a:lnT>
                      <a:noFill/>
                    </a:lnT>
                    <a:lnB w="190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12967942"/>
                  </a:ext>
                </a:extLst>
              </a:tr>
              <a:tr h="339716">
                <a:tc>
                  <a:txBody>
                    <a:bodyPr/>
                    <a:lstStyle/>
                    <a:p>
                      <a:r>
                        <a:rPr lang="it-IT" sz="1500" b="1" kern="1200">
                          <a:solidFill>
                            <a:schemeClr val="tx1"/>
                          </a:solidFill>
                          <a:latin typeface="+mn-lt"/>
                          <a:ea typeface="+mn-ea"/>
                          <a:cs typeface="+mn-cs"/>
                        </a:rPr>
                        <a:t>Lombardia</a:t>
                      </a:r>
                    </a:p>
                  </a:txBody>
                  <a:tcPr marL="80248" marR="80248" marT="40124" marB="40124">
                    <a:lnL>
                      <a:noFill/>
                    </a:lnL>
                    <a:lnR>
                      <a:noFill/>
                    </a:lnR>
                    <a:lnT w="19050">
                      <a:solidFill>
                        <a:schemeClr val="accent1"/>
                      </a:solidFill>
                    </a:lnT>
                    <a:lnB w="19050" cap="flat" cmpd="sng" algn="ctr">
                      <a:solidFill>
                        <a:schemeClr val="accent1"/>
                      </a:solidFill>
                      <a:prstDash val="solid"/>
                      <a:round/>
                      <a:headEnd type="none" w="med" len="med"/>
                      <a:tailEnd type="none" w="med" len="med"/>
                    </a:lnB>
                    <a:noFill/>
                  </a:tcPr>
                </a:tc>
                <a:tc>
                  <a:txBody>
                    <a:bodyPr/>
                    <a:lstStyle/>
                    <a:p>
                      <a:r>
                        <a:rPr lang="it-IT" sz="1500" b="1" kern="1200" dirty="0">
                          <a:solidFill>
                            <a:schemeClr val="tx1"/>
                          </a:solidFill>
                          <a:latin typeface="+mn-lt"/>
                          <a:ea typeface="+mn-ea"/>
                          <a:cs typeface="+mn-cs"/>
                        </a:rPr>
                        <a:t>165,38</a:t>
                      </a:r>
                    </a:p>
                  </a:txBody>
                  <a:tcPr marL="80248" marR="80248" marT="40124" marB="40124">
                    <a:lnL>
                      <a:noFill/>
                    </a:lnL>
                    <a:lnR>
                      <a:noFill/>
                    </a:lnR>
                    <a:lnT w="19050">
                      <a:solidFill>
                        <a:schemeClr val="accent1"/>
                      </a:solidFill>
                    </a:lnT>
                    <a:lnB w="19050" cap="flat" cmpd="sng" algn="ctr">
                      <a:solidFill>
                        <a:schemeClr val="accent1"/>
                      </a:solidFill>
                      <a:prstDash val="solid"/>
                      <a:round/>
                      <a:headEnd type="none" w="med" len="med"/>
                      <a:tailEnd type="none" w="med" len="med"/>
                    </a:lnB>
                    <a:noFill/>
                  </a:tcPr>
                </a:tc>
                <a:tc>
                  <a:txBody>
                    <a:bodyPr/>
                    <a:lstStyle/>
                    <a:p>
                      <a:r>
                        <a:rPr lang="it-IT" sz="1500" b="1" kern="1200" dirty="0">
                          <a:solidFill>
                            <a:schemeClr val="tx1"/>
                          </a:solidFill>
                          <a:latin typeface="+mn-lt"/>
                          <a:ea typeface="+mn-ea"/>
                          <a:cs typeface="+mn-cs"/>
                        </a:rPr>
                        <a:t>2</a:t>
                      </a:r>
                    </a:p>
                  </a:txBody>
                  <a:tcPr marL="80248" marR="80248" marT="40124" marB="40124">
                    <a:lnL>
                      <a:noFill/>
                    </a:lnL>
                    <a:lnR>
                      <a:noFill/>
                    </a:lnR>
                    <a:lnT w="19050">
                      <a:solidFill>
                        <a:schemeClr val="accent1"/>
                      </a:solidFill>
                    </a:lnT>
                    <a:lnB w="19050" cap="flat" cmpd="sng" algn="ctr">
                      <a:solidFill>
                        <a:schemeClr val="accent1"/>
                      </a:solidFill>
                      <a:prstDash val="solid"/>
                      <a:round/>
                      <a:headEnd type="none" w="med" len="med"/>
                      <a:tailEnd type="none" w="med" len="med"/>
                    </a:lnB>
                    <a:noFill/>
                  </a:tcPr>
                </a:tc>
                <a:tc>
                  <a:txBody>
                    <a:bodyPr/>
                    <a:lstStyle/>
                    <a:p>
                      <a:r>
                        <a:rPr lang="it-IT" sz="1500" b="1" kern="1200" dirty="0">
                          <a:solidFill>
                            <a:schemeClr val="tx1"/>
                          </a:solidFill>
                          <a:latin typeface="+mn-lt"/>
                          <a:ea typeface="+mn-ea"/>
                          <a:cs typeface="+mn-cs"/>
                        </a:rPr>
                        <a:t>2h 23min 30s</a:t>
                      </a:r>
                    </a:p>
                  </a:txBody>
                  <a:tcPr marL="80248" marR="80248" marT="40124" marB="40124">
                    <a:lnL>
                      <a:noFill/>
                    </a:lnL>
                    <a:lnR>
                      <a:noFill/>
                    </a:lnR>
                    <a:lnT w="19050">
                      <a:solidFill>
                        <a:schemeClr val="accent1"/>
                      </a:solidFill>
                    </a:lnT>
                    <a:lnB w="19050" cap="flat" cmpd="sng" algn="ctr">
                      <a:solidFill>
                        <a:schemeClr val="accent1"/>
                      </a:solidFill>
                      <a:prstDash val="solid"/>
                      <a:round/>
                      <a:headEnd type="none" w="med" len="med"/>
                      <a:tailEnd type="none" w="med" len="med"/>
                    </a:lnB>
                    <a:noFill/>
                  </a:tcPr>
                </a:tc>
                <a:tc>
                  <a:txBody>
                    <a:bodyPr/>
                    <a:lstStyle/>
                    <a:p>
                      <a:r>
                        <a:rPr lang="it-IT" sz="1500" b="1" kern="1200" dirty="0">
                          <a:solidFill>
                            <a:schemeClr val="tx1"/>
                          </a:solidFill>
                          <a:latin typeface="+mn-lt"/>
                          <a:ea typeface="+mn-ea"/>
                          <a:cs typeface="+mn-cs"/>
                        </a:rPr>
                        <a:t>7,23</a:t>
                      </a:r>
                    </a:p>
                  </a:txBody>
                  <a:tcPr marL="80248" marR="80248" marT="40124" marB="40124">
                    <a:lnL>
                      <a:noFill/>
                    </a:lnL>
                    <a:lnR>
                      <a:noFill/>
                    </a:lnR>
                    <a:lnT w="19050">
                      <a:solidFill>
                        <a:schemeClr val="accent1"/>
                      </a:solidFill>
                    </a:lnT>
                    <a:lnB w="19050" cap="flat" cmpd="sng" algn="ctr">
                      <a:solidFill>
                        <a:schemeClr val="accent1"/>
                      </a:solidFill>
                      <a:prstDash val="solid"/>
                      <a:round/>
                      <a:headEnd type="none" w="med" len="med"/>
                      <a:tailEnd type="none" w="med" len="med"/>
                    </a:lnB>
                    <a:noFill/>
                  </a:tcPr>
                </a:tc>
                <a:tc>
                  <a:txBody>
                    <a:bodyPr/>
                    <a:lstStyle/>
                    <a:p>
                      <a:r>
                        <a:rPr lang="it-IT" sz="1500" b="1" kern="1200" dirty="0">
                          <a:solidFill>
                            <a:schemeClr val="tx1"/>
                          </a:solidFill>
                          <a:latin typeface="+mn-lt"/>
                          <a:ea typeface="+mn-ea"/>
                          <a:cs typeface="+mn-cs"/>
                        </a:rPr>
                        <a:t>19084,75</a:t>
                      </a:r>
                    </a:p>
                  </a:txBody>
                  <a:tcPr marL="80248" marR="80248" marT="40124" marB="40124">
                    <a:lnL>
                      <a:noFill/>
                    </a:lnL>
                    <a:lnR>
                      <a:noFill/>
                    </a:lnR>
                    <a:lnT w="19050">
                      <a:solidFill>
                        <a:schemeClr val="accent1"/>
                      </a:solidFill>
                    </a:lnT>
                    <a:lnB w="190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34100220"/>
                  </a:ext>
                </a:extLst>
              </a:tr>
              <a:tr h="339716">
                <a:tc>
                  <a:txBody>
                    <a:bodyPr/>
                    <a:lstStyle/>
                    <a:p>
                      <a:r>
                        <a:rPr lang="it-IT" sz="1500" b="1" kern="1200" dirty="0">
                          <a:solidFill>
                            <a:schemeClr val="tx1"/>
                          </a:solidFill>
                          <a:latin typeface="+mn-lt"/>
                          <a:ea typeface="+mn-ea"/>
                          <a:cs typeface="+mn-cs"/>
                        </a:rPr>
                        <a:t>Calabria</a:t>
                      </a:r>
                    </a:p>
                  </a:txBody>
                  <a:tcPr marL="80248" marR="80248" marT="40124" marB="40124">
                    <a:lnL>
                      <a:noFill/>
                    </a:lnL>
                    <a:lnR>
                      <a:noFill/>
                    </a:lnR>
                    <a:lnT w="19050" cap="flat" cmpd="sng" algn="ctr">
                      <a:solidFill>
                        <a:schemeClr val="accent1"/>
                      </a:solidFill>
                      <a:prstDash val="solid"/>
                      <a:round/>
                      <a:headEnd type="none" w="med" len="med"/>
                      <a:tailEnd type="none" w="med" len="med"/>
                    </a:lnT>
                    <a:lnB w="3175">
                      <a:solidFill>
                        <a:schemeClr val="tx1"/>
                      </a:solidFill>
                    </a:lnB>
                    <a:noFill/>
                  </a:tcPr>
                </a:tc>
                <a:tc>
                  <a:txBody>
                    <a:bodyPr/>
                    <a:lstStyle/>
                    <a:p>
                      <a:r>
                        <a:rPr lang="it-IT" sz="1500" b="1" kern="1200" dirty="0">
                          <a:solidFill>
                            <a:schemeClr val="tx1"/>
                          </a:solidFill>
                          <a:latin typeface="+mn-lt"/>
                          <a:ea typeface="+mn-ea"/>
                          <a:cs typeface="+mn-cs"/>
                        </a:rPr>
                        <a:t>181,68</a:t>
                      </a:r>
                    </a:p>
                  </a:txBody>
                  <a:tcPr marL="80248" marR="80248" marT="40124" marB="40124">
                    <a:lnL>
                      <a:noFill/>
                    </a:lnL>
                    <a:lnR>
                      <a:noFill/>
                    </a:lnR>
                    <a:lnT w="19050" cap="flat" cmpd="sng" algn="ctr">
                      <a:solidFill>
                        <a:schemeClr val="accent1"/>
                      </a:solidFill>
                      <a:prstDash val="solid"/>
                      <a:round/>
                      <a:headEnd type="none" w="med" len="med"/>
                      <a:tailEnd type="none" w="med" len="med"/>
                    </a:lnT>
                    <a:lnB w="3175">
                      <a:solidFill>
                        <a:schemeClr val="tx1"/>
                      </a:solidFill>
                    </a:lnB>
                    <a:noFill/>
                  </a:tcPr>
                </a:tc>
                <a:tc>
                  <a:txBody>
                    <a:bodyPr/>
                    <a:lstStyle/>
                    <a:p>
                      <a:r>
                        <a:rPr lang="it-IT" sz="1500" b="1" kern="1200" dirty="0">
                          <a:solidFill>
                            <a:schemeClr val="tx1"/>
                          </a:solidFill>
                          <a:latin typeface="+mn-lt"/>
                          <a:ea typeface="+mn-ea"/>
                          <a:cs typeface="+mn-cs"/>
                        </a:rPr>
                        <a:t>1</a:t>
                      </a:r>
                    </a:p>
                  </a:txBody>
                  <a:tcPr marL="80248" marR="80248" marT="40124" marB="40124">
                    <a:lnL>
                      <a:noFill/>
                    </a:lnL>
                    <a:lnR>
                      <a:noFill/>
                    </a:lnR>
                    <a:lnT w="19050" cap="flat" cmpd="sng" algn="ctr">
                      <a:solidFill>
                        <a:schemeClr val="accent1"/>
                      </a:solidFill>
                      <a:prstDash val="solid"/>
                      <a:round/>
                      <a:headEnd type="none" w="med" len="med"/>
                      <a:tailEnd type="none" w="med" len="med"/>
                    </a:lnT>
                    <a:lnB w="3175">
                      <a:solidFill>
                        <a:schemeClr val="tx1"/>
                      </a:solidFill>
                    </a:lnB>
                    <a:noFill/>
                  </a:tcPr>
                </a:tc>
                <a:tc>
                  <a:txBody>
                    <a:bodyPr/>
                    <a:lstStyle/>
                    <a:p>
                      <a:r>
                        <a:rPr lang="it-IT" sz="1500" b="1" kern="1200" dirty="0">
                          <a:solidFill>
                            <a:schemeClr val="tx1"/>
                          </a:solidFill>
                          <a:latin typeface="+mn-lt"/>
                          <a:ea typeface="+mn-ea"/>
                          <a:cs typeface="+mn-cs"/>
                        </a:rPr>
                        <a:t>2h 23min 46s</a:t>
                      </a:r>
                    </a:p>
                  </a:txBody>
                  <a:tcPr marL="80248" marR="80248" marT="40124" marB="40124">
                    <a:lnL>
                      <a:noFill/>
                    </a:lnL>
                    <a:lnR>
                      <a:noFill/>
                    </a:lnR>
                    <a:lnT w="19050" cap="flat" cmpd="sng" algn="ctr">
                      <a:solidFill>
                        <a:schemeClr val="accent1"/>
                      </a:solidFill>
                      <a:prstDash val="solid"/>
                      <a:round/>
                      <a:headEnd type="none" w="med" len="med"/>
                      <a:tailEnd type="none" w="med" len="med"/>
                    </a:lnT>
                    <a:lnB w="3175">
                      <a:solidFill>
                        <a:schemeClr val="tx1"/>
                      </a:solidFill>
                    </a:lnB>
                    <a:noFill/>
                  </a:tcPr>
                </a:tc>
                <a:tc>
                  <a:txBody>
                    <a:bodyPr/>
                    <a:lstStyle/>
                    <a:p>
                      <a:r>
                        <a:rPr lang="it-IT" sz="1500" b="1" kern="1200" dirty="0">
                          <a:solidFill>
                            <a:schemeClr val="tx1"/>
                          </a:solidFill>
                          <a:latin typeface="+mn-lt"/>
                          <a:ea typeface="+mn-ea"/>
                          <a:cs typeface="+mn-cs"/>
                        </a:rPr>
                        <a:t>17,47</a:t>
                      </a:r>
                    </a:p>
                  </a:txBody>
                  <a:tcPr marL="80248" marR="80248" marT="40124" marB="40124">
                    <a:lnL>
                      <a:noFill/>
                    </a:lnL>
                    <a:lnR>
                      <a:noFill/>
                    </a:lnR>
                    <a:lnT w="19050" cap="flat" cmpd="sng" algn="ctr">
                      <a:solidFill>
                        <a:schemeClr val="accent1"/>
                      </a:solidFill>
                      <a:prstDash val="solid"/>
                      <a:round/>
                      <a:headEnd type="none" w="med" len="med"/>
                      <a:tailEnd type="none" w="med" len="med"/>
                    </a:lnT>
                    <a:lnB w="3175">
                      <a:solidFill>
                        <a:schemeClr val="tx1"/>
                      </a:solidFill>
                    </a:lnB>
                    <a:noFill/>
                  </a:tcPr>
                </a:tc>
                <a:tc>
                  <a:txBody>
                    <a:bodyPr/>
                    <a:lstStyle/>
                    <a:p>
                      <a:r>
                        <a:rPr lang="it-IT" sz="1500" b="1" kern="1200" dirty="0">
                          <a:solidFill>
                            <a:schemeClr val="tx1"/>
                          </a:solidFill>
                          <a:latin typeface="+mn-lt"/>
                          <a:ea typeface="+mn-ea"/>
                          <a:cs typeface="+mn-cs"/>
                        </a:rPr>
                        <a:t>1704,78</a:t>
                      </a:r>
                    </a:p>
                  </a:txBody>
                  <a:tcPr marL="80248" marR="80248" marT="40124" marB="40124">
                    <a:lnL>
                      <a:noFill/>
                    </a:lnL>
                    <a:lnR>
                      <a:noFill/>
                    </a:lnR>
                    <a:lnT w="19050" cap="flat" cmpd="sng" algn="ctr">
                      <a:solidFill>
                        <a:schemeClr val="accent1"/>
                      </a:solidFill>
                      <a:prstDash val="solid"/>
                      <a:round/>
                      <a:headEnd type="none" w="med" len="med"/>
                      <a:tailEnd type="none" w="med" len="med"/>
                    </a:lnT>
                    <a:lnB w="3175">
                      <a:solidFill>
                        <a:schemeClr val="tx1"/>
                      </a:solidFill>
                    </a:lnB>
                    <a:noFill/>
                  </a:tcPr>
                </a:tc>
                <a:extLst>
                  <a:ext uri="{0D108BD9-81ED-4DB2-BD59-A6C34878D82A}">
                    <a16:rowId xmlns:a16="http://schemas.microsoft.com/office/drawing/2014/main" val="1831174471"/>
                  </a:ext>
                </a:extLst>
              </a:tr>
            </a:tbl>
          </a:graphicData>
        </a:graphic>
      </p:graphicFrame>
    </p:spTree>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626742"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asellaDiTesto 1">
            <a:extLst>
              <a:ext uri="{FF2B5EF4-FFF2-40B4-BE49-F238E27FC236}">
                <a16:creationId xmlns:a16="http://schemas.microsoft.com/office/drawing/2014/main" id="{CF78DD7B-BF8D-D4D0-B063-D3634308D011}"/>
              </a:ext>
            </a:extLst>
          </p:cNvPr>
          <p:cNvSpPr txBox="1"/>
          <p:nvPr/>
        </p:nvSpPr>
        <p:spPr>
          <a:xfrm>
            <a:off x="1005840" y="6429769"/>
            <a:ext cx="12618720" cy="1131197"/>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6200" b="1" kern="1200">
                <a:solidFill>
                  <a:schemeClr val="tx1"/>
                </a:solidFill>
                <a:latin typeface="+mj-lt"/>
                <a:ea typeface="+mj-ea"/>
                <a:cs typeface="+mj-cs"/>
              </a:rPr>
              <a:t>GRAZIE PER L’ATTENZIONE</a:t>
            </a:r>
          </a:p>
        </p:txBody>
      </p:sp>
      <p:pic>
        <p:nvPicPr>
          <p:cNvPr id="4" name="Immagine 3" descr="Immagine che contiene testo, clipart, Elementi grafici, grafica&#10;&#10;Descrizione generata automaticamente">
            <a:extLst>
              <a:ext uri="{FF2B5EF4-FFF2-40B4-BE49-F238E27FC236}">
                <a16:creationId xmlns:a16="http://schemas.microsoft.com/office/drawing/2014/main" id="{6F71DE09-3A36-BF7E-5B55-8F2FBBF9C493}"/>
              </a:ext>
            </a:extLst>
          </p:cNvPr>
          <p:cNvPicPr>
            <a:picLocks noChangeAspect="1"/>
          </p:cNvPicPr>
          <p:nvPr/>
        </p:nvPicPr>
        <p:blipFill>
          <a:blip r:embed="rId5"/>
          <a:srcRect l="444" r="-1" b="-1"/>
          <a:stretch/>
        </p:blipFill>
        <p:spPr>
          <a:xfrm>
            <a:off x="2377324" y="668626"/>
            <a:ext cx="9875751" cy="5555084"/>
          </a:xfrm>
          <a:prstGeom prst="rect">
            <a:avLst/>
          </a:prstGeom>
        </p:spPr>
      </p:pic>
      <p:pic>
        <p:nvPicPr>
          <p:cNvPr id="5" name="chinese social credit meme song">
            <a:hlinkClick r:id="" action="ppaction://media"/>
            <a:extLst>
              <a:ext uri="{FF2B5EF4-FFF2-40B4-BE49-F238E27FC236}">
                <a16:creationId xmlns:a16="http://schemas.microsoft.com/office/drawing/2014/main" id="{E0AEF2D4-3500-1FF2-C85B-527912CEE63A}"/>
              </a:ext>
            </a:extLst>
          </p:cNvPr>
          <p:cNvPicPr>
            <a:picLocks noChangeAspect="1"/>
          </p:cNvPicPr>
          <p:nvPr>
            <a:audioFile r:link="rId1"/>
            <p:extLst>
              <p:ext uri="{DAA4B4D4-6D71-4841-9C94-3DE7FCFB9230}">
                <p14:media xmlns:p14="http://schemas.microsoft.com/office/powerpoint/2010/main" r:embed="rId2">
                  <p14:trim st="4699"/>
                </p14:media>
              </p:ext>
            </p:extLst>
          </p:nvPr>
        </p:nvPicPr>
        <p:blipFill>
          <a:blip r:embed="rId6"/>
          <a:stretch>
            <a:fillRect/>
          </a:stretch>
        </p:blipFill>
        <p:spPr>
          <a:xfrm>
            <a:off x="294787" y="181263"/>
            <a:ext cx="487363" cy="487363"/>
          </a:xfrm>
          <a:prstGeom prst="rect">
            <a:avLst/>
          </a:prstGeom>
        </p:spPr>
      </p:pic>
    </p:spTree>
    <p:extLst>
      <p:ext uri="{BB962C8B-B14F-4D97-AF65-F5344CB8AC3E}">
        <p14:creationId xmlns:p14="http://schemas.microsoft.com/office/powerpoint/2010/main" val="255692146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250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2060</TotalTime>
  <Words>5096</Words>
  <Application>Microsoft Office PowerPoint</Application>
  <PresentationFormat>Personalizzato</PresentationFormat>
  <Paragraphs>458</Paragraphs>
  <Slides>22</Slides>
  <Notes>22</Notes>
  <HiddenSlides>0</HiddenSlides>
  <MMClips>1</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22</vt:i4>
      </vt:variant>
    </vt:vector>
  </HeadingPairs>
  <TitlesOfParts>
    <vt:vector size="31" baseType="lpstr">
      <vt:lpstr>Aptos</vt:lpstr>
      <vt:lpstr>Wingdings</vt:lpstr>
      <vt:lpstr>Arimo</vt:lpstr>
      <vt:lpstr>Calibri (Corpo)</vt:lpstr>
      <vt:lpstr>Cambria Math</vt:lpstr>
      <vt:lpstr>Outfit Extra Bold</vt:lpstr>
      <vt:lpstr>Consolas</vt:lpstr>
      <vt:lpstr>Arial</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PASQUALE RUSSO</cp:lastModifiedBy>
  <cp:revision>71</cp:revision>
  <dcterms:created xsi:type="dcterms:W3CDTF">2025-01-03T10:56:30Z</dcterms:created>
  <dcterms:modified xsi:type="dcterms:W3CDTF">2025-01-09T20:30:03Z</dcterms:modified>
</cp:coreProperties>
</file>